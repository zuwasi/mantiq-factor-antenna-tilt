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MantiQ Factor is the production line: input, conversion, understand, compute, verify, engineer, output. This deck walks the antenna-tilt challenge through all seven stages and shows the numbers that came out at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picture is the one we animated. The key property is that stages hand over files, so the workflow is reproducible and each number can be re-derived.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1 is deliberately about what arrives, in whatever format it arrives. Real data was pulled from OpenCelliD (CC BY-SA) rather than a toy grid.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Conversion is where formats stop mattering. Every later stage reads the Markdown, the CSV and the JSON, never the original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5-qubit pack looked cheaper but its Hamiltonian is dense and not scalable, and the team measured almost no quantum gain from it. The 2-qubit register gives a 2-local Ising model that Classiq synthesizes efficiently.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classical truth is cheap here on purpose. It is what lets Wolfram, Lean and Classiq be compared number by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Compute means the numbers are known before any SDK is opened. The Classiq run then becomes a test of the engineering, not an exploration.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27x at p=1 and about 40x at p=2. The shots table is the operational meaning of that 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Verify does not prove the whole QAOA algorithm. It proves the parts that engineering can get wrong silently: encoding, the classical optimum, and that the phase layer is unitary and diagonal.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Engineer is the only stage that touches the SDK. Everything it needs, the cost, the angles, the expected numbers, arrives as files from the earlier stages.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Differences are within shot noise at 4096 shots. The best sampled plan is exactly the plan Lean proved optimal.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any row disagreed, the pipeline would tell you which stage to reopen: a proof failure means the model, a Wolfram mismatch means the Hamiltonian, a Classiq mismatch means the circuit.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keeps the team contribution visible: the hierarchy is theirs, the verified leaf is ours, and they compose. The 1000-qubit numbers come from the hackathon deck (slide 13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row is a folder in the repo. The notebook is the classiq-library contribution; the rest is the evidence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point that the workflow, not the 12-qubit result, is what transfers to the next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B1C"/>
        </a:solidFill>
      </p:bgPr>
    </p:bg>
    <p:spTree>
      <p:nvGrpSpPr>
        <p:cNvPr id="1" name=""/>
        <p:cNvGrpSpPr/>
        <p:nvPr/>
      </p:nvGrpSpPr>
      <p:grpSpPr>
        <a:xfrm>
          <a:off x="0" y="0"/>
          <a:ext cx="0" cy="0"/>
          <a:chOff x="0" y="0"/>
          <a:chExt cx="0" cy="0"/>
        </a:xfrm>
      </p:grpSpPr>
      <p:sp>
        <p:nvSpPr>
          <p:cNvPr id="2" name="Shape 0"/>
          <p:cNvSpPr/>
          <p:nvPr/>
        </p:nvSpPr>
        <p:spPr>
          <a:xfrm>
            <a:off x="10378440" y="6035040"/>
            <a:ext cx="1600200" cy="640080"/>
          </a:xfrm>
          <a:prstGeom prst="roundRect">
            <a:avLst>
              <a:gd name="adj" fmla="val 14286"/>
            </a:avLst>
          </a:prstGeom>
          <a:solidFill>
            <a:srgbClr val="F2B632"/>
          </a:solidFill>
          <a:ln w="12700">
            <a:solidFill>
              <a:srgbClr val="F2B632"/>
            </a:solidFill>
            <a:prstDash val="solid"/>
          </a:ln>
        </p:spPr>
      </p:sp>
      <p:sp>
        <p:nvSpPr>
          <p:cNvPr id="3" name="Text 1"/>
          <p:cNvSpPr/>
          <p:nvPr/>
        </p:nvSpPr>
        <p:spPr>
          <a:xfrm>
            <a:off x="10378440" y="6035040"/>
            <a:ext cx="1600200" cy="640080"/>
          </a:xfrm>
          <a:prstGeom prst="rect">
            <a:avLst/>
          </a:prstGeom>
          <a:noFill/>
          <a:ln/>
        </p:spPr>
        <p:txBody>
          <a:bodyPr wrap="square" lIns="0" tIns="0" rIns="0" bIns="0" rtlCol="0" anchor="ctr"/>
          <a:lstStyle/>
          <a:p>
            <a:pPr algn="ctr" indent="0" marL="0">
              <a:buNone/>
            </a:pPr>
            <a:r>
              <a:rPr lang="en-US" sz="2800" b="1" dirty="0">
                <a:solidFill>
                  <a:srgbClr val="070B1C"/>
                </a:solidFill>
                <a:latin typeface="Calibri" pitchFamily="34" charset="0"/>
                <a:ea typeface="Calibri" pitchFamily="34" charset="-122"/>
                <a:cs typeface="Calibri" pitchFamily="34" charset="-120"/>
              </a:rPr>
              <a:t>1 / 16</a:t>
            </a:r>
            <a:endParaRPr lang="en-US" sz="2800" dirty="0"/>
          </a:p>
        </p:txBody>
      </p:sp>
      <p:sp>
        <p:nvSpPr>
          <p:cNvPr id="4" name="Shape 2"/>
          <p:cNvSpPr/>
          <p:nvPr/>
        </p:nvSpPr>
        <p:spPr>
          <a:xfrm>
            <a:off x="0" y="0"/>
            <a:ext cx="12188952" cy="228600"/>
          </a:xfrm>
          <a:prstGeom prst="rect">
            <a:avLst/>
          </a:prstGeom>
          <a:solidFill>
            <a:srgbClr val="F2B632"/>
          </a:solidFill>
          <a:ln/>
        </p:spPr>
      </p:sp>
      <p:sp>
        <p:nvSpPr>
          <p:cNvPr id="5" name="Text 3"/>
          <p:cNvSpPr/>
          <p:nvPr/>
        </p:nvSpPr>
        <p:spPr>
          <a:xfrm>
            <a:off x="731520" y="1188720"/>
            <a:ext cx="10515600" cy="365760"/>
          </a:xfrm>
          <a:prstGeom prst="rect">
            <a:avLst/>
          </a:prstGeom>
          <a:noFill/>
          <a:ln/>
        </p:spPr>
        <p:txBody>
          <a:bodyPr wrap="square" lIns="0" tIns="0" rIns="0" bIns="0" rtlCol="0" anchor="ctr"/>
          <a:lstStyle/>
          <a:p>
            <a:pPr indent="0" marL="0">
              <a:buNone/>
            </a:pPr>
            <a:r>
              <a:rPr lang="en-US" sz="1400" b="1" spc="300" kern="0" dirty="0">
                <a:solidFill>
                  <a:srgbClr val="2FD4D4"/>
                </a:solidFill>
                <a:latin typeface="Calibri" pitchFamily="34" charset="0"/>
                <a:ea typeface="Calibri" pitchFamily="34" charset="-122"/>
                <a:cs typeface="Calibri" pitchFamily="34" charset="-120"/>
              </a:rPr>
              <a:t>MANTIQ FACTOR  |  CASE STUDY</a:t>
            </a:r>
            <a:endParaRPr lang="en-US" sz="1400" dirty="0"/>
          </a:p>
        </p:txBody>
      </p:sp>
      <p:sp>
        <p:nvSpPr>
          <p:cNvPr id="6" name="Text 4"/>
          <p:cNvSpPr/>
          <p:nvPr/>
        </p:nvSpPr>
        <p:spPr>
          <a:xfrm>
            <a:off x="731520" y="1554480"/>
            <a:ext cx="10789920" cy="1463040"/>
          </a:xfrm>
          <a:prstGeom prst="rect">
            <a:avLst/>
          </a:prstGeom>
          <a:noFill/>
          <a:ln/>
        </p:spPr>
        <p:txBody>
          <a:bodyPr wrap="square" lIns="0" tIns="0" rIns="0" bIns="0" rtlCol="0" anchor="ctr"/>
          <a:lstStyle/>
          <a:p>
            <a:pPr indent="0" marL="0">
              <a:buNone/>
            </a:pPr>
            <a:r>
              <a:rPr lang="en-US" sz="4400" b="1" dirty="0">
                <a:solidFill>
                  <a:srgbClr val="F4F6FB"/>
                </a:solidFill>
                <a:latin typeface="Calibri" pitchFamily="34" charset="0"/>
                <a:ea typeface="Calibri" pitchFamily="34" charset="-122"/>
                <a:cs typeface="Calibri" pitchFamily="34" charset="-120"/>
              </a:rPr>
              <a:t>From a PDF brief to a verified quantum program</a:t>
            </a:r>
            <a:endParaRPr lang="en-US" sz="4400" dirty="0"/>
          </a:p>
        </p:txBody>
      </p:sp>
      <p:sp>
        <p:nvSpPr>
          <p:cNvPr id="7" name="Text 5"/>
          <p:cNvSpPr/>
          <p:nvPr/>
        </p:nvSpPr>
        <p:spPr>
          <a:xfrm>
            <a:off x="731520" y="3063240"/>
            <a:ext cx="6035040" cy="1097280"/>
          </a:xfrm>
          <a:prstGeom prst="rect">
            <a:avLst/>
          </a:prstGeom>
          <a:noFill/>
          <a:ln/>
        </p:spPr>
        <p:txBody>
          <a:bodyPr wrap="square" lIns="0" tIns="0" rIns="0" bIns="0" rtlCol="0" anchor="ctr"/>
          <a:lstStyle/>
          <a:p>
            <a:pPr indent="0" marL="0">
              <a:buNone/>
            </a:pPr>
            <a:r>
              <a:rPr lang="en-US" sz="1800" dirty="0">
                <a:solidFill>
                  <a:srgbClr val="9AA3BD"/>
                </a:solidFill>
                <a:latin typeface="Calibri" pitchFamily="34" charset="0"/>
                <a:ea typeface="Calibri" pitchFamily="34" charset="-122"/>
                <a:cs typeface="Calibri" pitchFamily="34" charset="-120"/>
              </a:rPr>
              <a:t>Antenna tilt optimization with QAOA on real Tel Aviv cell-tower data, computed in Wolfram, proved in Lean 4, engineered and run on Classiq</a:t>
            </a:r>
            <a:endParaRPr lang="en-US" sz="1800" dirty="0"/>
          </a:p>
        </p:txBody>
      </p:sp>
      <p:pic>
        <p:nvPicPr>
          <p:cNvPr id="8" name="Image 0" descr="C:\Projects\mantiq-factor-antenna-tilt\docs\MantiQ-v2.png">    </p:cNvPr>
          <p:cNvPicPr>
            <a:picLocks noChangeAspect="1"/>
          </p:cNvPicPr>
          <p:nvPr/>
        </p:nvPicPr>
        <p:blipFill>
          <a:blip r:embed="rId1"/>
          <a:stretch>
            <a:fillRect/>
          </a:stretch>
        </p:blipFill>
        <p:spPr>
          <a:xfrm>
            <a:off x="6949440" y="3017520"/>
            <a:ext cx="4389120" cy="2926080"/>
          </a:xfrm>
          <a:prstGeom prst="rect">
            <a:avLst/>
          </a:prstGeom>
        </p:spPr>
      </p:pic>
      <p:sp>
        <p:nvSpPr>
          <p:cNvPr id="9" name="Text 6"/>
          <p:cNvSpPr/>
          <p:nvPr/>
        </p:nvSpPr>
        <p:spPr>
          <a:xfrm>
            <a:off x="731520" y="4754880"/>
            <a:ext cx="5486400" cy="457200"/>
          </a:xfrm>
          <a:prstGeom prst="rect">
            <a:avLst/>
          </a:prstGeom>
          <a:noFill/>
          <a:ln/>
        </p:spPr>
        <p:txBody>
          <a:bodyPr wrap="square" lIns="0" tIns="0" rIns="0" bIns="0" rtlCol="0" anchor="ctr"/>
          <a:lstStyle/>
          <a:p>
            <a:pPr indent="0" marL="0">
              <a:buNone/>
            </a:pPr>
            <a:r>
              <a:rPr lang="en-US" sz="2000" b="1" dirty="0">
                <a:solidFill>
                  <a:srgbClr val="F4F6FB"/>
                </a:solidFill>
                <a:latin typeface="Calibri" pitchFamily="34" charset="0"/>
                <a:ea typeface="Calibri" pitchFamily="34" charset="-122"/>
                <a:cs typeface="Calibri" pitchFamily="34" charset="-120"/>
              </a:rPr>
              <a:t>Daniel Liezrowice</a:t>
            </a:r>
            <a:endParaRPr lang="en-US" sz="2000" dirty="0"/>
          </a:p>
        </p:txBody>
      </p:sp>
      <p:sp>
        <p:nvSpPr>
          <p:cNvPr id="10" name="Text 7"/>
          <p:cNvSpPr/>
          <p:nvPr/>
        </p:nvSpPr>
        <p:spPr>
          <a:xfrm>
            <a:off x="731520" y="5166360"/>
            <a:ext cx="5852160" cy="365760"/>
          </a:xfrm>
          <a:prstGeom prst="rect">
            <a:avLst/>
          </a:prstGeom>
          <a:noFill/>
          <a:ln/>
        </p:spPr>
        <p:txBody>
          <a:bodyPr wrap="square" lIns="0" tIns="0" rIns="0" bIns="0" rtlCol="0" anchor="ctr"/>
          <a:lstStyle/>
          <a:p>
            <a:pPr indent="0" marL="0">
              <a:buNone/>
            </a:pPr>
            <a:r>
              <a:rPr lang="en-US" sz="1400" dirty="0">
                <a:solidFill>
                  <a:srgbClr val="9AA3BD"/>
                </a:solidFill>
                <a:latin typeface="Calibri" pitchFamily="34" charset="0"/>
                <a:ea typeface="Calibri" pitchFamily="34" charset="-122"/>
                <a:cs typeface="Calibri" pitchFamily="34" charset="-120"/>
              </a:rPr>
              <a:t>Team Quantum Headache, QUBIT 2026 hackathon  |  September 2026</a:t>
            </a:r>
            <a:endParaRPr lang="en-US" sz="1400" dirty="0"/>
          </a:p>
        </p:txBody>
      </p:sp>
      <p:sp>
        <p:nvSpPr>
          <p:cNvPr id="11" name="Text 8"/>
          <p:cNvSpPr/>
          <p:nvPr/>
        </p:nvSpPr>
        <p:spPr>
          <a:xfrm>
            <a:off x="731520" y="5577840"/>
            <a:ext cx="5852160" cy="365760"/>
          </a:xfrm>
          <a:prstGeom prst="rect">
            <a:avLst/>
          </a:prstGeom>
          <a:noFill/>
          <a:ln/>
        </p:spPr>
        <p:txBody>
          <a:bodyPr wrap="square" lIns="0" tIns="0" rIns="0" bIns="0" rtlCol="0" anchor="ctr"/>
          <a:lstStyle/>
          <a:p>
            <a:pPr indent="0" marL="0">
              <a:buNone/>
            </a:pPr>
            <a:r>
              <a:rPr lang="en-US" sz="1300" dirty="0">
                <a:solidFill>
                  <a:srgbClr val="2FD4D4"/>
                </a:solidFill>
                <a:latin typeface="Calibri" pitchFamily="34" charset="0"/>
                <a:ea typeface="Calibri" pitchFamily="34" charset="-122"/>
                <a:cs typeface="Calibri" pitchFamily="34" charset="-120"/>
              </a:rPr>
              <a:t>github.com/zuwasi/mantiq-factor-antenna-tilt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0B1C"/>
        </a:solidFill>
      </p:bgPr>
    </p:bg>
    <p:spTree>
      <p:nvGrpSpPr>
        <p:cNvPr id="1" name=""/>
        <p:cNvGrpSpPr/>
        <p:nvPr/>
      </p:nvGrpSpPr>
      <p:grpSpPr>
        <a:xfrm>
          <a:off x="0" y="0"/>
          <a:ext cx="0" cy="0"/>
          <a:chOff x="0" y="0"/>
          <a:chExt cx="0" cy="0"/>
        </a:xfrm>
      </p:grpSpPr>
      <p:sp>
        <p:nvSpPr>
          <p:cNvPr id="2" name="Shape 0"/>
          <p:cNvSpPr/>
          <p:nvPr/>
        </p:nvSpPr>
        <p:spPr>
          <a:xfrm>
            <a:off x="10378440" y="6035040"/>
            <a:ext cx="1600200" cy="640080"/>
          </a:xfrm>
          <a:prstGeom prst="roundRect">
            <a:avLst>
              <a:gd name="adj" fmla="val 14286"/>
            </a:avLst>
          </a:prstGeom>
          <a:solidFill>
            <a:srgbClr val="F2B632"/>
          </a:solidFill>
          <a:ln w="12700">
            <a:solidFill>
              <a:srgbClr val="F2B632"/>
            </a:solidFill>
            <a:prstDash val="solid"/>
          </a:ln>
        </p:spPr>
      </p:sp>
      <p:sp>
        <p:nvSpPr>
          <p:cNvPr id="3" name="Text 1"/>
          <p:cNvSpPr/>
          <p:nvPr/>
        </p:nvSpPr>
        <p:spPr>
          <a:xfrm>
            <a:off x="10378440" y="6035040"/>
            <a:ext cx="1600200" cy="640080"/>
          </a:xfrm>
          <a:prstGeom prst="rect">
            <a:avLst/>
          </a:prstGeom>
          <a:noFill/>
          <a:ln/>
        </p:spPr>
        <p:txBody>
          <a:bodyPr wrap="square" lIns="0" tIns="0" rIns="0" bIns="0" rtlCol="0" anchor="ctr"/>
          <a:lstStyle/>
          <a:p>
            <a:pPr algn="ctr" indent="0" marL="0">
              <a:buNone/>
            </a:pPr>
            <a:r>
              <a:rPr lang="en-US" sz="2800" b="1" dirty="0">
                <a:solidFill>
                  <a:srgbClr val="070B1C"/>
                </a:solidFill>
                <a:latin typeface="Calibri" pitchFamily="34" charset="0"/>
                <a:ea typeface="Calibri" pitchFamily="34" charset="-122"/>
                <a:cs typeface="Calibri" pitchFamily="34" charset="-120"/>
              </a:rPr>
              <a:t>2 / 16</a:t>
            </a:r>
            <a:endParaRPr lang="en-US" sz="2800" dirty="0"/>
          </a:p>
        </p:txBody>
      </p:sp>
      <p:sp>
        <p:nvSpPr>
          <p:cNvPr id="4" name="Shape 2"/>
          <p:cNvSpPr/>
          <p:nvPr/>
        </p:nvSpPr>
        <p:spPr>
          <a:xfrm>
            <a:off x="0" y="0"/>
            <a:ext cx="164592" cy="6858000"/>
          </a:xfrm>
          <a:prstGeom prst="rect">
            <a:avLst/>
          </a:prstGeom>
          <a:solidFill>
            <a:srgbClr val="F2B632"/>
          </a:solidFill>
          <a:ln/>
        </p:spPr>
      </p:sp>
      <p:sp>
        <p:nvSpPr>
          <p:cNvPr id="5" name="Text 3"/>
          <p:cNvSpPr/>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FD4D4"/>
                </a:solidFill>
                <a:latin typeface="Calibri" pitchFamily="34" charset="0"/>
                <a:ea typeface="Calibri" pitchFamily="34" charset="-122"/>
                <a:cs typeface="Calibri" pitchFamily="34" charset="-120"/>
              </a:rPr>
              <a:t>SLIDE 2 / 16   |   WHAT IT IS</a:t>
            </a:r>
            <a:endParaRPr lang="en-US" sz="1100" dirty="0"/>
          </a:p>
        </p:txBody>
      </p:sp>
      <p:sp>
        <p:nvSpPr>
          <p:cNvPr id="6" name="Text 4"/>
          <p:cNvSpPr/>
          <p:nvPr/>
        </p:nvSpPr>
        <p:spPr>
          <a:xfrm>
            <a:off x="548640" y="594360"/>
            <a:ext cx="11064240" cy="685800"/>
          </a:xfrm>
          <a:prstGeom prst="rect">
            <a:avLst/>
          </a:prstGeom>
          <a:noFill/>
          <a:ln/>
        </p:spPr>
        <p:txBody>
          <a:bodyPr wrap="square" lIns="0" tIns="0" rIns="0" bIns="0" rtlCol="0" anchor="ctr"/>
          <a:lstStyle/>
          <a:p>
            <a:pPr indent="0" marL="0">
              <a:buNone/>
            </a:pPr>
            <a:r>
              <a:rPr lang="en-US" sz="3000" b="1" dirty="0">
                <a:solidFill>
                  <a:srgbClr val="F4F6FB"/>
                </a:solidFill>
                <a:latin typeface="Calibri" pitchFamily="34" charset="0"/>
                <a:ea typeface="Calibri" pitchFamily="34" charset="-122"/>
                <a:cs typeface="Calibri" pitchFamily="34" charset="-120"/>
              </a:rPr>
              <a:t>MantiQ Factor: a seven-stage production line</a:t>
            </a:r>
            <a:endParaRPr lang="en-US" sz="3000" dirty="0"/>
          </a:p>
        </p:txBody>
      </p:sp>
      <p:sp>
        <p:nvSpPr>
          <p:cNvPr id="7" name="Text 5"/>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9AA3BD"/>
                </a:solidFill>
                <a:latin typeface="Calibri" pitchFamily="34" charset="0"/>
                <a:ea typeface="Calibri" pitchFamily="34" charset="-122"/>
                <a:cs typeface="Calibri" pitchFamily="34" charset="-120"/>
              </a:rPr>
              <a:t>MantiQ Factor  |  Antenna tilt with QAOA  |  QUBIT 2026 case study</a:t>
            </a:r>
            <a:endParaRPr lang="en-US" sz="1000" dirty="0"/>
          </a:p>
        </p:txBody>
      </p:sp>
      <p:pic>
        <p:nvPicPr>
          <p:cNvPr id="8" name="Image 0" descr="C:\Projects\mantiq-factor-antenna-tilt\docs\MantiQ-v2.png">    </p:cNvPr>
          <p:cNvPicPr>
            <a:picLocks noChangeAspect="1"/>
          </p:cNvPicPr>
          <p:nvPr/>
        </p:nvPicPr>
        <p:blipFill>
          <a:blip r:embed="rId1"/>
          <a:stretch>
            <a:fillRect/>
          </a:stretch>
        </p:blipFill>
        <p:spPr>
          <a:xfrm>
            <a:off x="548640" y="1371600"/>
            <a:ext cx="6583680" cy="4389120"/>
          </a:xfrm>
          <a:prstGeom prst="rect">
            <a:avLst/>
          </a:prstGeom>
        </p:spPr>
      </p:pic>
      <p:sp>
        <p:nvSpPr>
          <p:cNvPr id="9" name="Text 6"/>
          <p:cNvSpPr/>
          <p:nvPr/>
        </p:nvSpPr>
        <p:spPr>
          <a:xfrm>
            <a:off x="548640" y="5806440"/>
            <a:ext cx="6766560" cy="365760"/>
          </a:xfrm>
          <a:prstGeom prst="rect">
            <a:avLst/>
          </a:prstGeom>
          <a:noFill/>
          <a:ln/>
        </p:spPr>
        <p:txBody>
          <a:bodyPr wrap="square" lIns="0" tIns="0" rIns="0" bIns="0" rtlCol="0" anchor="ctr"/>
          <a:lstStyle/>
          <a:p>
            <a:pPr indent="0" marL="0">
              <a:buNone/>
            </a:pPr>
            <a:r>
              <a:rPr lang="en-US" sz="1050" i="1" dirty="0">
                <a:solidFill>
                  <a:srgbClr val="9AA3BD"/>
                </a:solidFill>
                <a:latin typeface="Calibri" pitchFamily="34" charset="0"/>
                <a:ea typeface="Calibri" pitchFamily="34" charset="-122"/>
                <a:cs typeface="Calibri" pitchFamily="34" charset="-120"/>
              </a:rPr>
              <a:t>The pipeline: Input, Conversion, Understand, Compute, Verify, Engineer, Output. Tools: Amp (agentic orchestration), Wolfram Mathematica, Lean 4, converters, skills, knowledge bases.</a:t>
            </a:r>
            <a:endParaRPr lang="en-US" sz="1050" dirty="0"/>
          </a:p>
        </p:txBody>
      </p:sp>
      <p:sp>
        <p:nvSpPr>
          <p:cNvPr id="10" name="Text 7"/>
          <p:cNvSpPr/>
          <p:nvPr/>
        </p:nvSpPr>
        <p:spPr>
          <a:xfrm>
            <a:off x="7406640" y="1417320"/>
            <a:ext cx="4389120" cy="4480560"/>
          </a:xfrm>
          <a:prstGeom prst="rect">
            <a:avLst/>
          </a:prstGeom>
          <a:noFill/>
          <a:ln/>
        </p:spPr>
        <p:txBody>
          <a:bodyPr wrap="square" lIns="635" tIns="635" rIns="635" bIns="635" rtlCol="0" anchor="t"/>
          <a:lstStyle/>
          <a:p>
            <a:pPr marL="342900" indent="-342900">
              <a:spcAft>
                <a:spcPts val="600"/>
              </a:spcAft>
              <a:buSzPct val="100000"/>
              <a:buChar char="▸"/>
            </a:pPr>
            <a:r>
              <a:rPr lang="en-US" sz="1400" dirty="0">
                <a:solidFill>
                  <a:srgbClr val="F4F6FB"/>
                </a:solidFill>
                <a:latin typeface="Calibri" pitchFamily="34" charset="0"/>
                <a:ea typeface="Calibri" pitchFamily="34" charset="-122"/>
                <a:cs typeface="Calibri" pitchFamily="34" charset="-120"/>
              </a:rPr>
              <a:t>Every stage leaves an artifact on disk (Markdown, JSON, .nb, .lean, .qmod) so the next stage consumes a file, not a memory</a:t>
            </a:r>
            <a:endParaRPr lang="en-US" sz="1400" dirty="0"/>
          </a:p>
          <a:p>
            <a:pPr marL="342900" indent="-342900">
              <a:spcAft>
                <a:spcPts val="600"/>
              </a:spcAft>
              <a:buSzPct val="100000"/>
              <a:buChar char="▸"/>
            </a:pPr>
            <a:r>
              <a:rPr lang="en-US" sz="1400" dirty="0">
                <a:solidFill>
                  <a:srgbClr val="F4F6FB"/>
                </a:solidFill>
                <a:latin typeface="Calibri" pitchFamily="34" charset="0"/>
                <a:ea typeface="Calibri" pitchFamily="34" charset="-122"/>
                <a:cs typeface="Calibri" pitchFamily="34" charset="-120"/>
              </a:rPr>
              <a:t>Compute and Engineer are separated: the exact simulation picks the angles, the SDK builds the circuit</a:t>
            </a:r>
            <a:endParaRPr lang="en-US" sz="1400" dirty="0"/>
          </a:p>
          <a:p>
            <a:pPr marL="342900" indent="-342900">
              <a:spcAft>
                <a:spcPts val="600"/>
              </a:spcAft>
              <a:buSzPct val="100000"/>
              <a:buChar char="▸"/>
            </a:pPr>
            <a:r>
              <a:rPr lang="en-US" sz="1400" dirty="0">
                <a:solidFill>
                  <a:srgbClr val="F4F6FB"/>
                </a:solidFill>
                <a:latin typeface="Calibri" pitchFamily="34" charset="0"/>
                <a:ea typeface="Calibri" pitchFamily="34" charset="-122"/>
                <a:cs typeface="Calibri" pitchFamily="34" charset="-120"/>
              </a:rPr>
              <a:t>Verify is a formal step, not a code review: Lean 4 theorems about the cost function and the circuit</a:t>
            </a:r>
            <a:endParaRPr lang="en-US" sz="1400" dirty="0"/>
          </a:p>
          <a:p>
            <a:pPr marL="342900" indent="-342900">
              <a:spcAft>
                <a:spcPts val="600"/>
              </a:spcAft>
              <a:buSzPct val="100000"/>
              <a:buChar char="▸"/>
            </a:pPr>
            <a:r>
              <a:rPr lang="en-US" sz="1400" dirty="0">
                <a:solidFill>
                  <a:srgbClr val="F4F6FB"/>
                </a:solidFill>
                <a:latin typeface="Calibri" pitchFamily="34" charset="0"/>
                <a:ea typeface="Calibri" pitchFamily="34" charset="-122"/>
                <a:cs typeface="Calibri" pitchFamily="34" charset="-120"/>
              </a:rPr>
              <a:t>One agent (Amp) drives the tools; humans decide the model and read the numbers</a:t>
            </a:r>
            <a:endParaRPr lang="en-US" sz="1400" dirty="0"/>
          </a:p>
          <a:p>
            <a:pPr marL="342900" indent="-342900">
              <a:spcAft>
                <a:spcPts val="600"/>
              </a:spcAft>
              <a:buSzPct val="100000"/>
              <a:buChar char="▸"/>
            </a:pPr>
            <a:r>
              <a:rPr lang="en-US" sz="1400" dirty="0">
                <a:solidFill>
                  <a:srgbClr val="F4F6FB"/>
                </a:solidFill>
                <a:latin typeface="Calibri" pitchFamily="34" charset="0"/>
                <a:ea typeface="Calibri" pitchFamily="34" charset="-122"/>
                <a:cs typeface="Calibri" pitchFamily="34" charset="-120"/>
              </a:rPr>
              <a:t>Result: every claim in the final program traces back to a proof, a simulation or a dataset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0B1C"/>
        </a:solidFill>
      </p:bgPr>
    </p:bg>
    <p:spTree>
      <p:nvGrpSpPr>
        <p:cNvPr id="1" name=""/>
        <p:cNvGrpSpPr/>
        <p:nvPr/>
      </p:nvGrpSpPr>
      <p:grpSpPr>
        <a:xfrm>
          <a:off x="0" y="0"/>
          <a:ext cx="0" cy="0"/>
          <a:chOff x="0" y="0"/>
          <a:chExt cx="0" cy="0"/>
        </a:xfrm>
      </p:grpSpPr>
      <p:sp>
        <p:nvSpPr>
          <p:cNvPr id="2" name="Shape 0"/>
          <p:cNvSpPr/>
          <p:nvPr/>
        </p:nvSpPr>
        <p:spPr>
          <a:xfrm>
            <a:off x="10378440" y="6035040"/>
            <a:ext cx="1600200" cy="640080"/>
          </a:xfrm>
          <a:prstGeom prst="roundRect">
            <a:avLst>
              <a:gd name="adj" fmla="val 14286"/>
            </a:avLst>
          </a:prstGeom>
          <a:solidFill>
            <a:srgbClr val="F2B632"/>
          </a:solidFill>
          <a:ln w="12700">
            <a:solidFill>
              <a:srgbClr val="F2B632"/>
            </a:solidFill>
            <a:prstDash val="solid"/>
          </a:ln>
        </p:spPr>
      </p:sp>
      <p:sp>
        <p:nvSpPr>
          <p:cNvPr id="3" name="Text 1"/>
          <p:cNvSpPr/>
          <p:nvPr/>
        </p:nvSpPr>
        <p:spPr>
          <a:xfrm>
            <a:off x="10378440" y="6035040"/>
            <a:ext cx="1600200" cy="640080"/>
          </a:xfrm>
          <a:prstGeom prst="rect">
            <a:avLst/>
          </a:prstGeom>
          <a:noFill/>
          <a:ln/>
        </p:spPr>
        <p:txBody>
          <a:bodyPr wrap="square" lIns="0" tIns="0" rIns="0" bIns="0" rtlCol="0" anchor="ctr"/>
          <a:lstStyle/>
          <a:p>
            <a:pPr algn="ctr" indent="0" marL="0">
              <a:buNone/>
            </a:pPr>
            <a:r>
              <a:rPr lang="en-US" sz="2800" b="1" dirty="0">
                <a:solidFill>
                  <a:srgbClr val="070B1C"/>
                </a:solidFill>
                <a:latin typeface="Calibri" pitchFamily="34" charset="0"/>
                <a:ea typeface="Calibri" pitchFamily="34" charset="-122"/>
                <a:cs typeface="Calibri" pitchFamily="34" charset="-120"/>
              </a:rPr>
              <a:t>3 / 16</a:t>
            </a:r>
            <a:endParaRPr lang="en-US" sz="2800" dirty="0"/>
          </a:p>
        </p:txBody>
      </p:sp>
      <p:sp>
        <p:nvSpPr>
          <p:cNvPr id="4" name="Shape 2"/>
          <p:cNvSpPr/>
          <p:nvPr/>
        </p:nvSpPr>
        <p:spPr>
          <a:xfrm>
            <a:off x="0" y="0"/>
            <a:ext cx="164592" cy="6858000"/>
          </a:xfrm>
          <a:prstGeom prst="rect">
            <a:avLst/>
          </a:prstGeom>
          <a:solidFill>
            <a:srgbClr val="F2B632"/>
          </a:solidFill>
          <a:ln/>
        </p:spPr>
      </p:sp>
      <p:sp>
        <p:nvSpPr>
          <p:cNvPr id="5" name="Text 3"/>
          <p:cNvSpPr/>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FD4D4"/>
                </a:solidFill>
                <a:latin typeface="Calibri" pitchFamily="34" charset="0"/>
                <a:ea typeface="Calibri" pitchFamily="34" charset="-122"/>
                <a:cs typeface="Calibri" pitchFamily="34" charset="-120"/>
              </a:rPr>
              <a:t>SLIDE 3 / 16   |   INPUT</a:t>
            </a:r>
            <a:endParaRPr lang="en-US" sz="1100" dirty="0"/>
          </a:p>
        </p:txBody>
      </p:sp>
      <p:sp>
        <p:nvSpPr>
          <p:cNvPr id="6" name="Text 4"/>
          <p:cNvSpPr/>
          <p:nvPr/>
        </p:nvSpPr>
        <p:spPr>
          <a:xfrm>
            <a:off x="548640" y="594360"/>
            <a:ext cx="11064240" cy="685800"/>
          </a:xfrm>
          <a:prstGeom prst="rect">
            <a:avLst/>
          </a:prstGeom>
          <a:noFill/>
          <a:ln/>
        </p:spPr>
        <p:txBody>
          <a:bodyPr wrap="square" lIns="0" tIns="0" rIns="0" bIns="0" rtlCol="0" anchor="ctr"/>
          <a:lstStyle/>
          <a:p>
            <a:pPr indent="0" marL="0">
              <a:buNone/>
            </a:pPr>
            <a:r>
              <a:rPr lang="en-US" sz="3000" b="1" dirty="0">
                <a:solidFill>
                  <a:srgbClr val="F4F6FB"/>
                </a:solidFill>
                <a:latin typeface="Calibri" pitchFamily="34" charset="0"/>
                <a:ea typeface="Calibri" pitchFamily="34" charset="-122"/>
                <a:cs typeface="Calibri" pitchFamily="34" charset="-120"/>
              </a:rPr>
              <a:t>Stage 1, Input: the challenge and what the team handed over</a:t>
            </a:r>
            <a:endParaRPr lang="en-US" sz="3000" dirty="0"/>
          </a:p>
        </p:txBody>
      </p:sp>
      <p:sp>
        <p:nvSpPr>
          <p:cNvPr id="7" name="Text 5"/>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9AA3BD"/>
                </a:solidFill>
                <a:latin typeface="Calibri" pitchFamily="34" charset="0"/>
                <a:ea typeface="Calibri" pitchFamily="34" charset="-122"/>
                <a:cs typeface="Calibri" pitchFamily="34" charset="-120"/>
              </a:rPr>
              <a:t>MantiQ Factor  |  Antenna tilt with QAOA  |  QUBIT 2026 case study</a:t>
            </a:r>
            <a:endParaRPr lang="en-US" sz="1000" dirty="0"/>
          </a:p>
        </p:txBody>
      </p:sp>
      <p:sp>
        <p:nvSpPr>
          <p:cNvPr id="8" name="Shape 6"/>
          <p:cNvSpPr/>
          <p:nvPr/>
        </p:nvSpPr>
        <p:spPr>
          <a:xfrm>
            <a:off x="8001000" y="6108192"/>
            <a:ext cx="2240280" cy="502920"/>
          </a:xfrm>
          <a:prstGeom prst="roundRect">
            <a:avLst>
              <a:gd name="adj" fmla="val 18182"/>
            </a:avLst>
          </a:prstGeom>
          <a:solidFill>
            <a:srgbClr val="131A3D"/>
          </a:solidFill>
          <a:ln w="12700">
            <a:solidFill>
              <a:srgbClr val="F2B632"/>
            </a:solidFill>
            <a:prstDash val="solid"/>
          </a:ln>
        </p:spPr>
      </p:sp>
      <p:sp>
        <p:nvSpPr>
          <p:cNvPr id="9" name="Text 7"/>
          <p:cNvSpPr/>
          <p:nvPr/>
        </p:nvSpPr>
        <p:spPr>
          <a:xfrm>
            <a:off x="8001000" y="6108192"/>
            <a:ext cx="2240280" cy="502920"/>
          </a:xfrm>
          <a:prstGeom prst="rect">
            <a:avLst/>
          </a:prstGeom>
          <a:noFill/>
          <a:ln/>
        </p:spPr>
        <p:txBody>
          <a:bodyPr wrap="square" lIns="0" tIns="0" rIns="0" bIns="0" rtlCol="0" anchor="ctr"/>
          <a:lstStyle/>
          <a:p>
            <a:pPr algn="ctr" indent="0" marL="0">
              <a:buNone/>
            </a:pPr>
            <a:r>
              <a:rPr lang="en-US" sz="1300" b="1" dirty="0">
                <a:solidFill>
                  <a:srgbClr val="F2B632"/>
                </a:solidFill>
                <a:latin typeface="Calibri" pitchFamily="34" charset="0"/>
                <a:ea typeface="Calibri" pitchFamily="34" charset="-122"/>
                <a:cs typeface="Calibri" pitchFamily="34" charset="-120"/>
              </a:rPr>
              <a:t>STAGE 1  </a:t>
            </a:r>
            <a:pPr algn="ctr" indent="0" marL="0">
              <a:buNone/>
            </a:pPr>
            <a:r>
              <a:rPr lang="en-US" sz="1300" dirty="0">
                <a:solidFill>
                  <a:srgbClr val="F4F6FB"/>
                </a:solidFill>
                <a:latin typeface="Calibri" pitchFamily="34" charset="0"/>
                <a:ea typeface="Calibri" pitchFamily="34" charset="-122"/>
                <a:cs typeface="Calibri" pitchFamily="34" charset="-120"/>
              </a:rPr>
              <a:t>Input</a:t>
            </a:r>
            <a:endParaRPr lang="en-US" sz="1300" dirty="0"/>
          </a:p>
        </p:txBody>
      </p:sp>
      <p:pic>
        <p:nvPicPr>
          <p:cNvPr id="10" name="Image 0" descr="C:\Projects\mantiq-factor-antenna-tilt\charts\map_small.jpg">    </p:cNvPr>
          <p:cNvPicPr>
            <a:picLocks noChangeAspect="1"/>
          </p:cNvPicPr>
          <p:nvPr/>
        </p:nvPicPr>
        <p:blipFill>
          <a:blip r:embed="rId1"/>
          <a:stretch>
            <a:fillRect/>
          </a:stretch>
        </p:blipFill>
        <p:spPr>
          <a:xfrm>
            <a:off x="548640" y="1417320"/>
            <a:ext cx="4754880" cy="3291840"/>
          </a:xfrm>
          <a:prstGeom prst="rect">
            <a:avLst/>
          </a:prstGeom>
        </p:spPr>
      </p:pic>
      <p:sp>
        <p:nvSpPr>
          <p:cNvPr id="11" name="Text 8"/>
          <p:cNvSpPr/>
          <p:nvPr/>
        </p:nvSpPr>
        <p:spPr>
          <a:xfrm>
            <a:off x="548640" y="4754880"/>
            <a:ext cx="4846320" cy="365760"/>
          </a:xfrm>
          <a:prstGeom prst="rect">
            <a:avLst/>
          </a:prstGeom>
          <a:noFill/>
          <a:ln/>
        </p:spPr>
        <p:txBody>
          <a:bodyPr wrap="square" lIns="0" tIns="0" rIns="0" bIns="0" rtlCol="0" anchor="ctr"/>
          <a:lstStyle/>
          <a:p>
            <a:pPr indent="0" marL="0">
              <a:buNone/>
            </a:pPr>
            <a:r>
              <a:rPr lang="en-US" sz="1050" i="1" dirty="0">
                <a:solidFill>
                  <a:srgbClr val="9AA3BD"/>
                </a:solidFill>
                <a:latin typeface="Calibri" pitchFamily="34" charset="0"/>
                <a:ea typeface="Calibri" pitchFamily="34" charset="-122"/>
                <a:cs typeface="Calibri" pitchFamily="34" charset="-120"/>
              </a:rPr>
              <a:t>Six real sector antennas from OpenCelliD, Tel Aviv (data/opencellid_il2.csv). Interference matrix from pairwise distances and azimuths.</a:t>
            </a:r>
            <a:endParaRPr lang="en-US" sz="1050" dirty="0"/>
          </a:p>
        </p:txBody>
      </p:sp>
      <p:sp>
        <p:nvSpPr>
          <p:cNvPr id="12" name="Text 9"/>
          <p:cNvSpPr/>
          <p:nvPr/>
        </p:nvSpPr>
        <p:spPr>
          <a:xfrm>
            <a:off x="5577840" y="1417320"/>
            <a:ext cx="6217920" cy="4480560"/>
          </a:xfrm>
          <a:prstGeom prst="rect">
            <a:avLst/>
          </a:prstGeom>
          <a:noFill/>
          <a:ln/>
        </p:spPr>
        <p:txBody>
          <a:bodyPr wrap="square" lIns="635" tIns="635" rIns="635" bIns="635" rtlCol="0" anchor="t"/>
          <a:lstStyle/>
          <a:p>
            <a:pPr marL="342900" indent="-342900">
              <a:spcAft>
                <a:spcPts val="600"/>
              </a:spcAft>
              <a:buSzPct val="100000"/>
              <a:buChar char="▸"/>
            </a:pPr>
            <a:r>
              <a:rPr lang="en-US" sz="1400" dirty="0">
                <a:solidFill>
                  <a:srgbClr val="F4F6FB"/>
                </a:solidFill>
                <a:latin typeface="Calibri" pitchFamily="34" charset="0"/>
                <a:ea typeface="Calibri" pitchFamily="34" charset="-122"/>
                <a:cs typeface="Calibri" pitchFamily="34" charset="-120"/>
              </a:rPr>
              <a:t>Challenge (QUBIT 2026): choose the electrical down-tilt of every sector antenna. Tilting down cuts interference on neighbours but shrinks coverage</a:t>
            </a:r>
            <a:endParaRPr lang="en-US" sz="1400" dirty="0"/>
          </a:p>
          <a:p>
            <a:pPr marL="342900" indent="-342900">
              <a:spcAft>
                <a:spcPts val="600"/>
              </a:spcAft>
              <a:buSzPct val="100000"/>
              <a:buChar char="▸"/>
            </a:pPr>
            <a:r>
              <a:rPr lang="en-US" sz="1400" dirty="0">
                <a:solidFill>
                  <a:srgbClr val="F4F6FB"/>
                </a:solidFill>
                <a:latin typeface="Calibri" pitchFamily="34" charset="0"/>
                <a:ea typeface="Calibri" pitchFamily="34" charset="-122"/>
                <a:cs typeface="Calibri" pitchFamily="34" charset="-120"/>
              </a:rPr>
              <a:t>Inputs received as documents, not code: the challenge brief (PDF), the team Hamiltonian note (Markdown with LaTeX), the k-means hierarchy concept (PDF), the group deck (Google Slides)</a:t>
            </a:r>
            <a:endParaRPr lang="en-US" sz="1400" dirty="0"/>
          </a:p>
          <a:p>
            <a:pPr marL="342900" indent="-342900">
              <a:spcAft>
                <a:spcPts val="600"/>
              </a:spcAft>
              <a:buSzPct val="100000"/>
              <a:buChar char="▸"/>
            </a:pPr>
            <a:r>
              <a:rPr lang="en-US" sz="1400" dirty="0">
                <a:solidFill>
                  <a:srgbClr val="F4F6FB"/>
                </a:solidFill>
                <a:latin typeface="Calibri" pitchFamily="34" charset="0"/>
                <a:ea typeface="Calibri" pitchFamily="34" charset="-122"/>
                <a:cs typeface="Calibri" pitchFamily="34" charset="-120"/>
              </a:rPr>
              <a:t>Team utility: U(t) = alpha Q(t) - beta I(t) - gamma D(t); quality, interference, unmet demand</a:t>
            </a:r>
            <a:endParaRPr lang="en-US" sz="1400" dirty="0"/>
          </a:p>
          <a:p>
            <a:pPr marL="342900" indent="-342900">
              <a:spcAft>
                <a:spcPts val="600"/>
              </a:spcAft>
              <a:buSzPct val="100000"/>
              <a:buChar char="▸"/>
            </a:pPr>
            <a:r>
              <a:rPr lang="en-US" sz="1400" dirty="0">
                <a:solidFill>
                  <a:srgbClr val="F4F6FB"/>
                </a:solidFill>
                <a:latin typeface="Calibri" pitchFamily="34" charset="0"/>
                <a:ea typeface="Calibri" pitchFamily="34" charset="-122"/>
                <a:cs typeface="Calibri" pitchFamily="34" charset="-120"/>
              </a:rPr>
              <a:t>Team proposal: 27 three-sector configurations packed into 5 qubits, groups by k-means with k = 5</a:t>
            </a:r>
            <a:endParaRPr lang="en-US" sz="1400" dirty="0"/>
          </a:p>
          <a:p>
            <a:pPr marL="342900" indent="-342900">
              <a:spcAft>
                <a:spcPts val="600"/>
              </a:spcAft>
              <a:buSzPct val="100000"/>
              <a:buChar char="▸"/>
            </a:pPr>
            <a:r>
              <a:rPr lang="en-US" sz="1400" dirty="0">
                <a:solidFill>
                  <a:srgbClr val="F4F6FB"/>
                </a:solidFill>
                <a:latin typeface="Calibri" pitchFamily="34" charset="0"/>
                <a:ea typeface="Calibri" pitchFamily="34" charset="-122"/>
                <a:cs typeface="Calibri" pitchFamily="34" charset="-120"/>
              </a:rPr>
              <a:t>Constraint: Classiq student edition, 15 parallel jobs, simulator only</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0B1C"/>
        </a:solidFill>
      </p:bgPr>
    </p:bg>
    <p:spTree>
      <p:nvGrpSpPr>
        <p:cNvPr id="1" name=""/>
        <p:cNvGrpSpPr/>
        <p:nvPr/>
      </p:nvGrpSpPr>
      <p:grpSpPr>
        <a:xfrm>
          <a:off x="0" y="0"/>
          <a:ext cx="0" cy="0"/>
          <a:chOff x="0" y="0"/>
          <a:chExt cx="0" cy="0"/>
        </a:xfrm>
      </p:grpSpPr>
      <p:sp>
        <p:nvSpPr>
          <p:cNvPr id="2" name="Shape 0"/>
          <p:cNvSpPr/>
          <p:nvPr/>
        </p:nvSpPr>
        <p:spPr>
          <a:xfrm>
            <a:off x="10378440" y="6035040"/>
            <a:ext cx="1600200" cy="640080"/>
          </a:xfrm>
          <a:prstGeom prst="roundRect">
            <a:avLst>
              <a:gd name="adj" fmla="val 14286"/>
            </a:avLst>
          </a:prstGeom>
          <a:solidFill>
            <a:srgbClr val="F2B632"/>
          </a:solidFill>
          <a:ln w="12700">
            <a:solidFill>
              <a:srgbClr val="F2B632"/>
            </a:solidFill>
            <a:prstDash val="solid"/>
          </a:ln>
        </p:spPr>
      </p:sp>
      <p:sp>
        <p:nvSpPr>
          <p:cNvPr id="3" name="Text 1"/>
          <p:cNvSpPr/>
          <p:nvPr/>
        </p:nvSpPr>
        <p:spPr>
          <a:xfrm>
            <a:off x="10378440" y="6035040"/>
            <a:ext cx="1600200" cy="640080"/>
          </a:xfrm>
          <a:prstGeom prst="rect">
            <a:avLst/>
          </a:prstGeom>
          <a:noFill/>
          <a:ln/>
        </p:spPr>
        <p:txBody>
          <a:bodyPr wrap="square" lIns="0" tIns="0" rIns="0" bIns="0" rtlCol="0" anchor="ctr"/>
          <a:lstStyle/>
          <a:p>
            <a:pPr algn="ctr" indent="0" marL="0">
              <a:buNone/>
            </a:pPr>
            <a:r>
              <a:rPr lang="en-US" sz="2800" b="1" dirty="0">
                <a:solidFill>
                  <a:srgbClr val="070B1C"/>
                </a:solidFill>
                <a:latin typeface="Calibri" pitchFamily="34" charset="0"/>
                <a:ea typeface="Calibri" pitchFamily="34" charset="-122"/>
                <a:cs typeface="Calibri" pitchFamily="34" charset="-120"/>
              </a:rPr>
              <a:t>4 / 16</a:t>
            </a:r>
            <a:endParaRPr lang="en-US" sz="2800" dirty="0"/>
          </a:p>
        </p:txBody>
      </p:sp>
      <p:sp>
        <p:nvSpPr>
          <p:cNvPr id="4" name="Shape 2"/>
          <p:cNvSpPr/>
          <p:nvPr/>
        </p:nvSpPr>
        <p:spPr>
          <a:xfrm>
            <a:off x="0" y="0"/>
            <a:ext cx="164592" cy="6858000"/>
          </a:xfrm>
          <a:prstGeom prst="rect">
            <a:avLst/>
          </a:prstGeom>
          <a:solidFill>
            <a:srgbClr val="F2B632"/>
          </a:solidFill>
          <a:ln/>
        </p:spPr>
      </p:sp>
      <p:sp>
        <p:nvSpPr>
          <p:cNvPr id="5" name="Text 3"/>
          <p:cNvSpPr/>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FD4D4"/>
                </a:solidFill>
                <a:latin typeface="Calibri" pitchFamily="34" charset="0"/>
                <a:ea typeface="Calibri" pitchFamily="34" charset="-122"/>
                <a:cs typeface="Calibri" pitchFamily="34" charset="-120"/>
              </a:rPr>
              <a:t>SLIDE 4 / 16   |   CONVERSION</a:t>
            </a:r>
            <a:endParaRPr lang="en-US" sz="1100" dirty="0"/>
          </a:p>
        </p:txBody>
      </p:sp>
      <p:sp>
        <p:nvSpPr>
          <p:cNvPr id="6" name="Text 4"/>
          <p:cNvSpPr/>
          <p:nvPr/>
        </p:nvSpPr>
        <p:spPr>
          <a:xfrm>
            <a:off x="548640" y="594360"/>
            <a:ext cx="11064240" cy="685800"/>
          </a:xfrm>
          <a:prstGeom prst="rect">
            <a:avLst/>
          </a:prstGeom>
          <a:noFill/>
          <a:ln/>
        </p:spPr>
        <p:txBody>
          <a:bodyPr wrap="square" lIns="0" tIns="0" rIns="0" bIns="0" rtlCol="0" anchor="ctr"/>
          <a:lstStyle/>
          <a:p>
            <a:pPr indent="0" marL="0">
              <a:buNone/>
            </a:pPr>
            <a:r>
              <a:rPr lang="en-US" sz="3000" b="1" dirty="0">
                <a:solidFill>
                  <a:srgbClr val="F4F6FB"/>
                </a:solidFill>
                <a:latin typeface="Calibri" pitchFamily="34" charset="0"/>
                <a:ea typeface="Calibri" pitchFamily="34" charset="-122"/>
                <a:cs typeface="Calibri" pitchFamily="34" charset="-120"/>
              </a:rPr>
              <a:t>Stage 2, Conversion: documents become machine-readable facts</a:t>
            </a:r>
            <a:endParaRPr lang="en-US" sz="3000" dirty="0"/>
          </a:p>
        </p:txBody>
      </p:sp>
      <p:sp>
        <p:nvSpPr>
          <p:cNvPr id="7" name="Text 5"/>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9AA3BD"/>
                </a:solidFill>
                <a:latin typeface="Calibri" pitchFamily="34" charset="0"/>
                <a:ea typeface="Calibri" pitchFamily="34" charset="-122"/>
                <a:cs typeface="Calibri" pitchFamily="34" charset="-120"/>
              </a:rPr>
              <a:t>MantiQ Factor  |  Antenna tilt with QAOA  |  QUBIT 2026 case study</a:t>
            </a:r>
            <a:endParaRPr lang="en-US" sz="1000" dirty="0"/>
          </a:p>
        </p:txBody>
      </p:sp>
      <p:sp>
        <p:nvSpPr>
          <p:cNvPr id="8" name="Shape 6"/>
          <p:cNvSpPr/>
          <p:nvPr/>
        </p:nvSpPr>
        <p:spPr>
          <a:xfrm>
            <a:off x="8001000" y="6108192"/>
            <a:ext cx="2240280" cy="502920"/>
          </a:xfrm>
          <a:prstGeom prst="roundRect">
            <a:avLst>
              <a:gd name="adj" fmla="val 18182"/>
            </a:avLst>
          </a:prstGeom>
          <a:solidFill>
            <a:srgbClr val="131A3D"/>
          </a:solidFill>
          <a:ln w="12700">
            <a:solidFill>
              <a:srgbClr val="F2B632"/>
            </a:solidFill>
            <a:prstDash val="solid"/>
          </a:ln>
        </p:spPr>
      </p:sp>
      <p:sp>
        <p:nvSpPr>
          <p:cNvPr id="9" name="Text 7"/>
          <p:cNvSpPr/>
          <p:nvPr/>
        </p:nvSpPr>
        <p:spPr>
          <a:xfrm>
            <a:off x="8001000" y="6108192"/>
            <a:ext cx="2240280" cy="502920"/>
          </a:xfrm>
          <a:prstGeom prst="rect">
            <a:avLst/>
          </a:prstGeom>
          <a:noFill/>
          <a:ln/>
        </p:spPr>
        <p:txBody>
          <a:bodyPr wrap="square" lIns="0" tIns="0" rIns="0" bIns="0" rtlCol="0" anchor="ctr"/>
          <a:lstStyle/>
          <a:p>
            <a:pPr algn="ctr" indent="0" marL="0">
              <a:buNone/>
            </a:pPr>
            <a:r>
              <a:rPr lang="en-US" sz="1300" b="1" dirty="0">
                <a:solidFill>
                  <a:srgbClr val="F2B632"/>
                </a:solidFill>
                <a:latin typeface="Calibri" pitchFamily="34" charset="0"/>
                <a:ea typeface="Calibri" pitchFamily="34" charset="-122"/>
                <a:cs typeface="Calibri" pitchFamily="34" charset="-120"/>
              </a:rPr>
              <a:t>STAGE 2  </a:t>
            </a:r>
            <a:pPr algn="ctr" indent="0" marL="0">
              <a:buNone/>
            </a:pPr>
            <a:r>
              <a:rPr lang="en-US" sz="1300" dirty="0">
                <a:solidFill>
                  <a:srgbClr val="F4F6FB"/>
                </a:solidFill>
                <a:latin typeface="Calibri" pitchFamily="34" charset="0"/>
                <a:ea typeface="Calibri" pitchFamily="34" charset="-122"/>
                <a:cs typeface="Calibri" pitchFamily="34" charset="-120"/>
              </a:rPr>
              <a:t>Conversion</a:t>
            </a:r>
            <a:endParaRPr lang="en-US" sz="1300" dirty="0"/>
          </a:p>
        </p:txBody>
      </p:sp>
      <p:sp>
        <p:nvSpPr>
          <p:cNvPr id="10" name="Shape 8"/>
          <p:cNvSpPr/>
          <p:nvPr/>
        </p:nvSpPr>
        <p:spPr>
          <a:xfrm>
            <a:off x="548640" y="1463040"/>
            <a:ext cx="3566160" cy="1371600"/>
          </a:xfrm>
          <a:prstGeom prst="roundRect">
            <a:avLst>
              <a:gd name="adj" fmla="val 5333"/>
            </a:avLst>
          </a:prstGeom>
          <a:solidFill>
            <a:srgbClr val="0D1330"/>
          </a:solidFill>
          <a:ln w="12700">
            <a:solidFill>
              <a:srgbClr val="0D1330"/>
            </a:solidFill>
            <a:prstDash val="solid"/>
          </a:ln>
        </p:spPr>
      </p:sp>
      <p:sp>
        <p:nvSpPr>
          <p:cNvPr id="11" name="Text 9"/>
          <p:cNvSpPr/>
          <p:nvPr/>
        </p:nvSpPr>
        <p:spPr>
          <a:xfrm>
            <a:off x="640080" y="1463040"/>
            <a:ext cx="3383280" cy="1371600"/>
          </a:xfrm>
          <a:prstGeom prst="rect">
            <a:avLst/>
          </a:prstGeom>
          <a:noFill/>
          <a:ln/>
        </p:spPr>
        <p:txBody>
          <a:bodyPr wrap="square" lIns="381" tIns="381" rIns="381" bIns="381" rtlCol="0" anchor="ctr"/>
          <a:lstStyle/>
          <a:p>
            <a:pPr indent="0" marL="0">
              <a:buNone/>
            </a:pPr>
            <a:r>
              <a:rPr lang="en-US" sz="1300" b="1" dirty="0">
                <a:solidFill>
                  <a:srgbClr val="F2B632"/>
                </a:solidFill>
                <a:latin typeface="Calibri" pitchFamily="34" charset="0"/>
                <a:ea typeface="Calibri" pitchFamily="34" charset="-122"/>
                <a:cs typeface="Calibri" pitchFamily="34" charset="-120"/>
              </a:rPr>
              <a:t>PDF brief, team PDF</a:t>
            </a:r>
            <a:endParaRPr lang="en-US" sz="1300" dirty="0"/>
          </a:p>
          <a:p>
            <a:pPr indent="0" marL="0">
              <a:buNone/>
            </a:pPr>
            <a:r>
              <a:rPr lang="en-US" sz="1150" dirty="0">
                <a:solidFill>
                  <a:srgbClr val="F4F6FB"/>
                </a:solidFill>
                <a:latin typeface="Calibri" pitchFamily="34" charset="0"/>
                <a:ea typeface="Calibri" pitchFamily="34" charset="-122"/>
                <a:cs typeface="Calibri" pitchFamily="34" charset="-120"/>
              </a:rPr>
              <a:t>Read with a PDF converter into Markdown; formulas kept as LaTeX. Output: docs/qaoa_antenna_hamiltonian_explanation.md</a:t>
            </a:r>
            <a:endParaRPr lang="en-US" sz="1300" dirty="0"/>
          </a:p>
        </p:txBody>
      </p:sp>
      <p:sp>
        <p:nvSpPr>
          <p:cNvPr id="12" name="Shape 10"/>
          <p:cNvSpPr/>
          <p:nvPr/>
        </p:nvSpPr>
        <p:spPr>
          <a:xfrm>
            <a:off x="4297680" y="1463040"/>
            <a:ext cx="3566160" cy="1371600"/>
          </a:xfrm>
          <a:prstGeom prst="roundRect">
            <a:avLst>
              <a:gd name="adj" fmla="val 5333"/>
            </a:avLst>
          </a:prstGeom>
          <a:solidFill>
            <a:srgbClr val="0D1330"/>
          </a:solidFill>
          <a:ln w="12700">
            <a:solidFill>
              <a:srgbClr val="0D1330"/>
            </a:solidFill>
            <a:prstDash val="solid"/>
          </a:ln>
        </p:spPr>
      </p:sp>
      <p:sp>
        <p:nvSpPr>
          <p:cNvPr id="13" name="Text 11"/>
          <p:cNvSpPr/>
          <p:nvPr/>
        </p:nvSpPr>
        <p:spPr>
          <a:xfrm>
            <a:off x="4389120" y="1463040"/>
            <a:ext cx="3383280" cy="1371600"/>
          </a:xfrm>
          <a:prstGeom prst="rect">
            <a:avLst/>
          </a:prstGeom>
          <a:noFill/>
          <a:ln/>
        </p:spPr>
        <p:txBody>
          <a:bodyPr wrap="square" lIns="381" tIns="381" rIns="381" bIns="381" rtlCol="0" anchor="ctr"/>
          <a:lstStyle/>
          <a:p>
            <a:pPr indent="0" marL="0">
              <a:buNone/>
            </a:pPr>
            <a:r>
              <a:rPr lang="en-US" sz="1300" b="1" dirty="0">
                <a:solidFill>
                  <a:srgbClr val="F2B632"/>
                </a:solidFill>
                <a:latin typeface="Calibri" pitchFamily="34" charset="0"/>
                <a:ea typeface="Calibri" pitchFamily="34" charset="-122"/>
                <a:cs typeface="Calibri" pitchFamily="34" charset="-120"/>
              </a:rPr>
              <a:t>Google Slides deck</a:t>
            </a:r>
            <a:endParaRPr lang="en-US" sz="1300" dirty="0"/>
          </a:p>
          <a:p>
            <a:pPr indent="0" marL="0">
              <a:buNone/>
            </a:pPr>
            <a:r>
              <a:rPr lang="en-US" sz="1150" dirty="0">
                <a:solidFill>
                  <a:srgbClr val="F4F6FB"/>
                </a:solidFill>
                <a:latin typeface="Calibri" pitchFamily="34" charset="0"/>
                <a:ea typeface="Calibri" pitchFamily="34" charset="-122"/>
                <a:cs typeface="Calibri" pitchFamily="34" charset="-120"/>
              </a:rPr>
              <a:t>Exported to PDF, read slide by slide, merged into one PPTX built from code (build_deck.js), so the deck is reproducible too</a:t>
            </a:r>
            <a:endParaRPr lang="en-US" sz="1300" dirty="0"/>
          </a:p>
        </p:txBody>
      </p:sp>
      <p:sp>
        <p:nvSpPr>
          <p:cNvPr id="14" name="Shape 12"/>
          <p:cNvSpPr/>
          <p:nvPr/>
        </p:nvSpPr>
        <p:spPr>
          <a:xfrm>
            <a:off x="8046720" y="1463040"/>
            <a:ext cx="3749040" cy="1371600"/>
          </a:xfrm>
          <a:prstGeom prst="roundRect">
            <a:avLst>
              <a:gd name="adj" fmla="val 5333"/>
            </a:avLst>
          </a:prstGeom>
          <a:solidFill>
            <a:srgbClr val="0D1330"/>
          </a:solidFill>
          <a:ln w="12700">
            <a:solidFill>
              <a:srgbClr val="0D1330"/>
            </a:solidFill>
            <a:prstDash val="solid"/>
          </a:ln>
        </p:spPr>
      </p:sp>
      <p:sp>
        <p:nvSpPr>
          <p:cNvPr id="15" name="Text 13"/>
          <p:cNvSpPr/>
          <p:nvPr/>
        </p:nvSpPr>
        <p:spPr>
          <a:xfrm>
            <a:off x="8138160" y="1463040"/>
            <a:ext cx="3566160" cy="1371600"/>
          </a:xfrm>
          <a:prstGeom prst="rect">
            <a:avLst/>
          </a:prstGeom>
          <a:noFill/>
          <a:ln/>
        </p:spPr>
        <p:txBody>
          <a:bodyPr wrap="square" lIns="381" tIns="381" rIns="381" bIns="381" rtlCol="0" anchor="ctr"/>
          <a:lstStyle/>
          <a:p>
            <a:pPr indent="0" marL="0">
              <a:buNone/>
            </a:pPr>
            <a:r>
              <a:rPr lang="en-US" sz="1300" b="1" dirty="0">
                <a:solidFill>
                  <a:srgbClr val="F2B632"/>
                </a:solidFill>
                <a:latin typeface="Calibri" pitchFamily="34" charset="0"/>
                <a:ea typeface="Calibri" pitchFamily="34" charset="-122"/>
                <a:cs typeface="Calibri" pitchFamily="34" charset="-120"/>
              </a:rPr>
              <a:t>OpenCelliD CSV</a:t>
            </a:r>
            <a:endParaRPr lang="en-US" sz="1300" dirty="0"/>
          </a:p>
          <a:p>
            <a:pPr indent="0" marL="0">
              <a:buNone/>
            </a:pPr>
            <a:r>
              <a:rPr lang="en-US" sz="1150" dirty="0">
                <a:solidFill>
                  <a:srgbClr val="F4F6FB"/>
                </a:solidFill>
                <a:latin typeface="Calibri" pitchFamily="34" charset="0"/>
                <a:ea typeface="Calibri" pitchFamily="34" charset="-122"/>
                <a:cs typeface="Calibri" pitchFamily="34" charset="-120"/>
              </a:rPr>
              <a:t>Pipeline data/opencellid_pipeline.py: filter Tel Aviv sectors, compute distances, azimuth overlap, interference matrix I and coverage vector c</a:t>
            </a:r>
            <a:endParaRPr lang="en-US" sz="1300" dirty="0"/>
          </a:p>
        </p:txBody>
      </p:sp>
      <p:sp>
        <p:nvSpPr>
          <p:cNvPr id="16" name="Text 14"/>
          <p:cNvSpPr/>
          <p:nvPr/>
        </p:nvSpPr>
        <p:spPr>
          <a:xfrm>
            <a:off x="548640" y="3063240"/>
            <a:ext cx="10972800" cy="365760"/>
          </a:xfrm>
          <a:prstGeom prst="rect">
            <a:avLst/>
          </a:prstGeom>
          <a:noFill/>
          <a:ln/>
        </p:spPr>
        <p:txBody>
          <a:bodyPr wrap="square" lIns="0" tIns="0" rIns="0" bIns="0" rtlCol="0" anchor="ctr"/>
          <a:lstStyle/>
          <a:p>
            <a:pPr indent="0" marL="0">
              <a:buNone/>
            </a:pPr>
            <a:r>
              <a:rPr lang="en-US" sz="1500" b="1" dirty="0">
                <a:solidFill>
                  <a:srgbClr val="2FD4D4"/>
                </a:solidFill>
                <a:latin typeface="Calibri" pitchFamily="34" charset="0"/>
                <a:ea typeface="Calibri" pitchFamily="34" charset="-122"/>
                <a:cs typeface="Calibri" pitchFamily="34" charset="-120"/>
              </a:rPr>
              <a:t>What conversion decided (and recorded in the Markdown):</a:t>
            </a:r>
            <a:endParaRPr lang="en-US" sz="1500" dirty="0"/>
          </a:p>
        </p:txBody>
      </p:sp>
      <p:sp>
        <p:nvSpPr>
          <p:cNvPr id="17" name="Text 15"/>
          <p:cNvSpPr/>
          <p:nvPr/>
        </p:nvSpPr>
        <p:spPr>
          <a:xfrm>
            <a:off x="548640" y="3474720"/>
            <a:ext cx="11247120" cy="2377440"/>
          </a:xfrm>
          <a:prstGeom prst="rect">
            <a:avLst/>
          </a:prstGeom>
          <a:noFill/>
          <a:ln/>
        </p:spPr>
        <p:txBody>
          <a:bodyPr wrap="square" lIns="635" tIns="635" rIns="635" bIns="635" rtlCol="0" anchor="t"/>
          <a:lstStyle/>
          <a:p>
            <a:pPr marL="342900" indent="-342900">
              <a:spcAft>
                <a:spcPts val="600"/>
              </a:spcAft>
              <a:buSzPct val="100000"/>
              <a:buChar char="▸"/>
            </a:pPr>
            <a:r>
              <a:rPr lang="en-US" sz="1400" dirty="0">
                <a:solidFill>
                  <a:srgbClr val="F4F6FB"/>
                </a:solidFill>
                <a:latin typeface="Calibri" pitchFamily="34" charset="0"/>
                <a:ea typeface="Calibri" pitchFamily="34" charset="-122"/>
                <a:cs typeface="Calibri" pitchFamily="34" charset="-120"/>
              </a:rPr>
              <a:t>Keep the team utility form; maximize U is the same as minimize Cost = -U (later proved as theorem maximize_utility_iff_minimize_negative)</a:t>
            </a:r>
            <a:endParaRPr lang="en-US" sz="1400" dirty="0"/>
          </a:p>
          <a:p>
            <a:pPr marL="342900" indent="-342900">
              <a:spcAft>
                <a:spcPts val="600"/>
              </a:spcAft>
              <a:buSzPct val="100000"/>
              <a:buChar char="▸"/>
            </a:pPr>
            <a:r>
              <a:rPr lang="en-US" sz="1400" dirty="0">
                <a:solidFill>
                  <a:srgbClr val="F4F6FB"/>
                </a:solidFill>
                <a:latin typeface="Calibri" pitchFamily="34" charset="0"/>
                <a:ea typeface="Calibri" pitchFamily="34" charset="-122"/>
                <a:cs typeface="Calibri" pitchFamily="34" charset="-120"/>
              </a:rPr>
              <a:t>Fix the weights for the real dataset: beta = 1 (interference t^T I t), alpha = 1.5 (coverage c.t), gamma = 0.3 (tilt penalty sum t)</a:t>
            </a:r>
            <a:endParaRPr lang="en-US" sz="1400" dirty="0"/>
          </a:p>
          <a:p>
            <a:pPr marL="342900" indent="-342900">
              <a:spcAft>
                <a:spcPts val="600"/>
              </a:spcAft>
              <a:buSzPct val="100000"/>
              <a:buChar char="▸"/>
            </a:pPr>
            <a:r>
              <a:rPr lang="en-US" sz="1400" dirty="0">
                <a:solidFill>
                  <a:srgbClr val="F4F6FB"/>
                </a:solidFill>
                <a:latin typeface="Calibri" pitchFamily="34" charset="0"/>
                <a:ea typeface="Calibri" pitchFamily="34" charset="-122"/>
                <a:cs typeface="Calibri" pitchFamily="34" charset="-120"/>
              </a:rPr>
              <a:t>Four discrete tilt levels per antenna (0, 2, 4, 6 degrees) instead of continuous angles: the register is exactly 2 qubits</a:t>
            </a:r>
            <a:endParaRPr lang="en-US" sz="1400" dirty="0"/>
          </a:p>
          <a:p>
            <a:pPr marL="342900" indent="-342900">
              <a:spcAft>
                <a:spcPts val="600"/>
              </a:spcAft>
              <a:buSzPct val="100000"/>
              <a:buChar char="▸"/>
            </a:pPr>
            <a:r>
              <a:rPr lang="en-US" sz="1400" dirty="0">
                <a:solidFill>
                  <a:srgbClr val="F4F6FB"/>
                </a:solidFill>
                <a:latin typeface="Calibri" pitchFamily="34" charset="0"/>
                <a:ea typeface="Calibri" pitchFamily="34" charset="-122"/>
                <a:cs typeface="Calibri" pitchFamily="34" charset="-120"/>
              </a:rPr>
              <a:t>Six antennas give 4^6 = 4096 plans: small enough to enumerate exactly, so every quantum number can be checked against the truth</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0B1C"/>
        </a:solidFill>
      </p:bgPr>
    </p:bg>
    <p:spTree>
      <p:nvGrpSpPr>
        <p:cNvPr id="1" name=""/>
        <p:cNvGrpSpPr/>
        <p:nvPr/>
      </p:nvGrpSpPr>
      <p:grpSpPr>
        <a:xfrm>
          <a:off x="0" y="0"/>
          <a:ext cx="0" cy="0"/>
          <a:chOff x="0" y="0"/>
          <a:chExt cx="0" cy="0"/>
        </a:xfrm>
      </p:grpSpPr>
      <p:sp>
        <p:nvSpPr>
          <p:cNvPr id="2" name="Shape 0"/>
          <p:cNvSpPr/>
          <p:nvPr/>
        </p:nvSpPr>
        <p:spPr>
          <a:xfrm>
            <a:off x="10378440" y="6035040"/>
            <a:ext cx="1600200" cy="640080"/>
          </a:xfrm>
          <a:prstGeom prst="roundRect">
            <a:avLst>
              <a:gd name="adj" fmla="val 14286"/>
            </a:avLst>
          </a:prstGeom>
          <a:solidFill>
            <a:srgbClr val="F2B632"/>
          </a:solidFill>
          <a:ln w="12700">
            <a:solidFill>
              <a:srgbClr val="F2B632"/>
            </a:solidFill>
            <a:prstDash val="solid"/>
          </a:ln>
        </p:spPr>
      </p:sp>
      <p:sp>
        <p:nvSpPr>
          <p:cNvPr id="3" name="Text 1"/>
          <p:cNvSpPr/>
          <p:nvPr/>
        </p:nvSpPr>
        <p:spPr>
          <a:xfrm>
            <a:off x="10378440" y="6035040"/>
            <a:ext cx="1600200" cy="640080"/>
          </a:xfrm>
          <a:prstGeom prst="rect">
            <a:avLst/>
          </a:prstGeom>
          <a:noFill/>
          <a:ln/>
        </p:spPr>
        <p:txBody>
          <a:bodyPr wrap="square" lIns="0" tIns="0" rIns="0" bIns="0" rtlCol="0" anchor="ctr"/>
          <a:lstStyle/>
          <a:p>
            <a:pPr algn="ctr" indent="0" marL="0">
              <a:buNone/>
            </a:pPr>
            <a:r>
              <a:rPr lang="en-US" sz="2800" b="1" dirty="0">
                <a:solidFill>
                  <a:srgbClr val="070B1C"/>
                </a:solidFill>
                <a:latin typeface="Calibri" pitchFamily="34" charset="0"/>
                <a:ea typeface="Calibri" pitchFamily="34" charset="-122"/>
                <a:cs typeface="Calibri" pitchFamily="34" charset="-120"/>
              </a:rPr>
              <a:t>5 / 16</a:t>
            </a:r>
            <a:endParaRPr lang="en-US" sz="2800" dirty="0"/>
          </a:p>
        </p:txBody>
      </p:sp>
      <p:sp>
        <p:nvSpPr>
          <p:cNvPr id="4" name="Shape 2"/>
          <p:cNvSpPr/>
          <p:nvPr/>
        </p:nvSpPr>
        <p:spPr>
          <a:xfrm>
            <a:off x="0" y="0"/>
            <a:ext cx="164592" cy="6858000"/>
          </a:xfrm>
          <a:prstGeom prst="rect">
            <a:avLst/>
          </a:prstGeom>
          <a:solidFill>
            <a:srgbClr val="F2B632"/>
          </a:solidFill>
          <a:ln/>
        </p:spPr>
      </p:sp>
      <p:sp>
        <p:nvSpPr>
          <p:cNvPr id="5" name="Text 3"/>
          <p:cNvSpPr/>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FD4D4"/>
                </a:solidFill>
                <a:latin typeface="Calibri" pitchFamily="34" charset="0"/>
                <a:ea typeface="Calibri" pitchFamily="34" charset="-122"/>
                <a:cs typeface="Calibri" pitchFamily="34" charset="-120"/>
              </a:rPr>
              <a:t>SLIDE 5 / 16   |   UNDERSTAND</a:t>
            </a:r>
            <a:endParaRPr lang="en-US" sz="1100" dirty="0"/>
          </a:p>
        </p:txBody>
      </p:sp>
      <p:sp>
        <p:nvSpPr>
          <p:cNvPr id="6" name="Text 4"/>
          <p:cNvSpPr/>
          <p:nvPr/>
        </p:nvSpPr>
        <p:spPr>
          <a:xfrm>
            <a:off x="548640" y="594360"/>
            <a:ext cx="11064240" cy="685800"/>
          </a:xfrm>
          <a:prstGeom prst="rect">
            <a:avLst/>
          </a:prstGeom>
          <a:noFill/>
          <a:ln/>
        </p:spPr>
        <p:txBody>
          <a:bodyPr wrap="square" lIns="0" tIns="0" rIns="0" bIns="0" rtlCol="0" anchor="ctr"/>
          <a:lstStyle/>
          <a:p>
            <a:pPr indent="0" marL="0">
              <a:buNone/>
            </a:pPr>
            <a:r>
              <a:rPr lang="en-US" sz="3000" b="1" dirty="0">
                <a:solidFill>
                  <a:srgbClr val="F4F6FB"/>
                </a:solidFill>
                <a:latin typeface="Calibri" pitchFamily="34" charset="0"/>
                <a:ea typeface="Calibri" pitchFamily="34" charset="-122"/>
                <a:cs typeface="Calibri" pitchFamily="34" charset="-120"/>
              </a:rPr>
              <a:t>Stage 3, Understand: 2 qubits per antenna, not a 5-qubit pack</a:t>
            </a:r>
            <a:endParaRPr lang="en-US" sz="3000" dirty="0"/>
          </a:p>
        </p:txBody>
      </p:sp>
      <p:sp>
        <p:nvSpPr>
          <p:cNvPr id="7" name="Text 5"/>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9AA3BD"/>
                </a:solidFill>
                <a:latin typeface="Calibri" pitchFamily="34" charset="0"/>
                <a:ea typeface="Calibri" pitchFamily="34" charset="-122"/>
                <a:cs typeface="Calibri" pitchFamily="34" charset="-120"/>
              </a:rPr>
              <a:t>MantiQ Factor  |  Antenna tilt with QAOA  |  QUBIT 2026 case study</a:t>
            </a:r>
            <a:endParaRPr lang="en-US" sz="1000" dirty="0"/>
          </a:p>
        </p:txBody>
      </p:sp>
      <p:sp>
        <p:nvSpPr>
          <p:cNvPr id="8" name="Shape 6"/>
          <p:cNvSpPr/>
          <p:nvPr/>
        </p:nvSpPr>
        <p:spPr>
          <a:xfrm>
            <a:off x="8001000" y="6108192"/>
            <a:ext cx="2240280" cy="502920"/>
          </a:xfrm>
          <a:prstGeom prst="roundRect">
            <a:avLst>
              <a:gd name="adj" fmla="val 18182"/>
            </a:avLst>
          </a:prstGeom>
          <a:solidFill>
            <a:srgbClr val="131A3D"/>
          </a:solidFill>
          <a:ln w="12700">
            <a:solidFill>
              <a:srgbClr val="F2B632"/>
            </a:solidFill>
            <a:prstDash val="solid"/>
          </a:ln>
        </p:spPr>
      </p:sp>
      <p:sp>
        <p:nvSpPr>
          <p:cNvPr id="9" name="Text 7"/>
          <p:cNvSpPr/>
          <p:nvPr/>
        </p:nvSpPr>
        <p:spPr>
          <a:xfrm>
            <a:off x="8001000" y="6108192"/>
            <a:ext cx="2240280" cy="502920"/>
          </a:xfrm>
          <a:prstGeom prst="rect">
            <a:avLst/>
          </a:prstGeom>
          <a:noFill/>
          <a:ln/>
        </p:spPr>
        <p:txBody>
          <a:bodyPr wrap="square" lIns="0" tIns="0" rIns="0" bIns="0" rtlCol="0" anchor="ctr"/>
          <a:lstStyle/>
          <a:p>
            <a:pPr algn="ctr" indent="0" marL="0">
              <a:buNone/>
            </a:pPr>
            <a:r>
              <a:rPr lang="en-US" sz="1300" b="1" dirty="0">
                <a:solidFill>
                  <a:srgbClr val="F2B632"/>
                </a:solidFill>
                <a:latin typeface="Calibri" pitchFamily="34" charset="0"/>
                <a:ea typeface="Calibri" pitchFamily="34" charset="-122"/>
                <a:cs typeface="Calibri" pitchFamily="34" charset="-120"/>
              </a:rPr>
              <a:t>STAGE 3  </a:t>
            </a:r>
            <a:pPr algn="ctr" indent="0" marL="0">
              <a:buNone/>
            </a:pPr>
            <a:r>
              <a:rPr lang="en-US" sz="1300" dirty="0">
                <a:solidFill>
                  <a:srgbClr val="F4F6FB"/>
                </a:solidFill>
                <a:latin typeface="Calibri" pitchFamily="34" charset="0"/>
                <a:ea typeface="Calibri" pitchFamily="34" charset="-122"/>
                <a:cs typeface="Calibri" pitchFamily="34" charset="-120"/>
              </a:rPr>
              <a:t>Understand</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155680" cy="914400"/>
        </p:xfrm>
        <a:graphic>
          <a:graphicData uri="http://schemas.openxmlformats.org/drawingml/2006/table">
            <a:tbl>
              <a:tblPr/>
              <a:tblGrid>
                <a:gridCol w="2377440"/>
                <a:gridCol w="4389120"/>
                <a:gridCol w="4389120"/>
              </a:tblGrid>
              <a:tr h="438912">
                <a:tc>
                  <a:txBody>
                    <a:bodyPr/>
                    <a:lstStyle/>
                    <a:p>
                      <a:pPr indent="0" marL="0">
                        <a:buNone/>
                      </a:pP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131A3D"/>
                    </a:solidFill>
                  </a:tcPr>
                </a:tc>
                <a:tc>
                  <a:txBody>
                    <a:bodyPr/>
                    <a:lstStyle/>
                    <a:p>
                      <a:pPr indent="0" marL="0">
                        <a:buNone/>
                      </a:pPr>
                      <a:r>
                        <a:rPr lang="en-US" sz="1200" b="1" dirty="0">
                          <a:solidFill>
                            <a:srgbClr val="F2B632"/>
                          </a:solidFill>
                          <a:latin typeface="Calibri" pitchFamily="34" charset="0"/>
                          <a:ea typeface="Calibri" pitchFamily="34" charset="-122"/>
                          <a:cs typeface="Calibri" pitchFamily="34" charset="-120"/>
                        </a:rPr>
                        <a:t>Team proposal: 27 configs in 5 qubits</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131A3D"/>
                    </a:solidFill>
                  </a:tcPr>
                </a:tc>
                <a:tc>
                  <a:txBody>
                    <a:bodyPr/>
                    <a:lstStyle/>
                    <a:p>
                      <a:pPr indent="0" marL="0">
                        <a:buNone/>
                      </a:pPr>
                      <a:r>
                        <a:rPr lang="en-US" sz="1200" b="1" dirty="0">
                          <a:solidFill>
                            <a:srgbClr val="F2B632"/>
                          </a:solidFill>
                          <a:latin typeface="Calibri" pitchFamily="34" charset="0"/>
                          <a:ea typeface="Calibri" pitchFamily="34" charset="-122"/>
                          <a:cs typeface="Calibri" pitchFamily="34" charset="-120"/>
                        </a:rPr>
                        <a:t>Chosen: 2 qubits per antenna (QNum[2])</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131A3D"/>
                    </a:solidFill>
                  </a:tcPr>
                </a:tc>
              </a:tr>
              <a:tr h="438912">
                <a:tc>
                  <a:txBody>
                    <a:bodyPr/>
                    <a:lstStyle/>
                    <a:p>
                      <a:pPr indent="0" marL="0">
                        <a:buNone/>
                      </a:pPr>
                      <a:r>
                        <a:rPr lang="en-US" sz="1200" dirty="0">
                          <a:solidFill>
                            <a:srgbClr val="F4F6FB"/>
                          </a:solidFill>
                          <a:latin typeface="Calibri" pitchFamily="34" charset="0"/>
                          <a:ea typeface="Calibri" pitchFamily="34" charset="-122"/>
                          <a:cs typeface="Calibri" pitchFamily="34" charset="-120"/>
                        </a:rPr>
                        <a:t>Encoding</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c>
                  <a:txBody>
                    <a:bodyPr/>
                    <a:lstStyle/>
                    <a:p>
                      <a:pPr indent="0" marL="0">
                        <a:buNone/>
                      </a:pPr>
                      <a:r>
                        <a:rPr lang="en-US" sz="1200" dirty="0">
                          <a:solidFill>
                            <a:srgbClr val="F4F6FB"/>
                          </a:solidFill>
                          <a:latin typeface="Calibri" pitchFamily="34" charset="0"/>
                          <a:ea typeface="Calibri" pitchFamily="34" charset="-122"/>
                          <a:cs typeface="Calibri" pitchFamily="34" charset="-120"/>
                        </a:rPr>
                        <a:t>3 tilts x 3 sectors = 27 states of 32; 5 states invalid</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c>
                  <a:txBody>
                    <a:bodyPr/>
                    <a:lstStyle/>
                    <a:p>
                      <a:pPr indent="0" marL="0">
                        <a:buNone/>
                      </a:pPr>
                      <a:r>
                        <a:rPr lang="en-US" sz="1200" dirty="0">
                          <a:solidFill>
                            <a:srgbClr val="F4F6FB"/>
                          </a:solidFill>
                          <a:latin typeface="Calibri" pitchFamily="34" charset="0"/>
                          <a:ea typeface="Calibri" pitchFamily="34" charset="-122"/>
                          <a:cs typeface="Calibri" pitchFamily="34" charset="-120"/>
                        </a:rPr>
                        <a:t>4 tilts per antenna; all 4096 states valid</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r>
              <a:tr h="438912">
                <a:tc>
                  <a:txBody>
                    <a:bodyPr/>
                    <a:lstStyle/>
                    <a:p>
                      <a:pPr indent="0" marL="0">
                        <a:buNone/>
                      </a:pPr>
                      <a:r>
                        <a:rPr lang="en-US" sz="1200" dirty="0">
                          <a:solidFill>
                            <a:srgbClr val="F4F6FB"/>
                          </a:solidFill>
                          <a:latin typeface="Calibri" pitchFamily="34" charset="0"/>
                          <a:ea typeface="Calibri" pitchFamily="34" charset="-122"/>
                          <a:cs typeface="Calibri" pitchFamily="34" charset="-120"/>
                        </a:rPr>
                        <a:t>Cost Hamiltonian</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c>
                  <a:txBody>
                    <a:bodyPr/>
                    <a:lstStyle/>
                    <a:p>
                      <a:pPr indent="0" marL="0">
                        <a:buNone/>
                      </a:pPr>
                      <a:r>
                        <a:rPr lang="en-US" sz="1200" dirty="0">
                          <a:solidFill>
                            <a:srgbClr val="F4F6FB"/>
                          </a:solidFill>
                          <a:latin typeface="Calibri" pitchFamily="34" charset="0"/>
                          <a:ea typeface="Calibri" pitchFamily="34" charset="-122"/>
                          <a:cs typeface="Calibri" pitchFamily="34" charset="-120"/>
                        </a:rPr>
                        <a:t>Arbitrary 5-qubit diagonal: terms up to ZZZZZ</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c>
                  <a:txBody>
                    <a:bodyPr/>
                    <a:lstStyle/>
                    <a:p>
                      <a:pPr indent="0" marL="0">
                        <a:buNone/>
                      </a:pPr>
                      <a:r>
                        <a:rPr lang="en-US" sz="1200" dirty="0">
                          <a:solidFill>
                            <a:srgbClr val="F4F6FB"/>
                          </a:solidFill>
                          <a:latin typeface="Calibri" pitchFamily="34" charset="0"/>
                          <a:ea typeface="Calibri" pitchFamily="34" charset="-122"/>
                          <a:cs typeface="Calibri" pitchFamily="34" charset="-120"/>
                        </a:rPr>
                        <a:t>2-local Ising: 12 Z + 60 ZZ + offset (73 terms)</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r>
              <a:tr h="438912">
                <a:tc>
                  <a:txBody>
                    <a:bodyPr/>
                    <a:lstStyle/>
                    <a:p>
                      <a:pPr indent="0" marL="0">
                        <a:buNone/>
                      </a:pPr>
                      <a:r>
                        <a:rPr lang="en-US" sz="1200" dirty="0">
                          <a:solidFill>
                            <a:srgbClr val="F4F6FB"/>
                          </a:solidFill>
                          <a:latin typeface="Calibri" pitchFamily="34" charset="0"/>
                          <a:ea typeface="Calibri" pitchFamily="34" charset="-122"/>
                          <a:cs typeface="Calibri" pitchFamily="34" charset="-120"/>
                        </a:rPr>
                        <a:t>Invalid-state mass (team numbers)</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c>
                  <a:txBody>
                    <a:bodyPr/>
                    <a:lstStyle/>
                    <a:p>
                      <a:pPr indent="0" marL="0">
                        <a:buNone/>
                      </a:pPr>
                      <a:r>
                        <a:rPr lang="en-US" sz="1200" dirty="0">
                          <a:solidFill>
                            <a:srgbClr val="F4F6FB"/>
                          </a:solidFill>
                          <a:latin typeface="Calibri" pitchFamily="34" charset="0"/>
                          <a:ea typeface="Calibri" pitchFamily="34" charset="-122"/>
                          <a:cs typeface="Calibri" pitchFamily="34" charset="-120"/>
                        </a:rPr>
                        <a:t>15.6% at start, 3% after training</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c>
                  <a:txBody>
                    <a:bodyPr/>
                    <a:lstStyle/>
                    <a:p>
                      <a:pPr indent="0" marL="0">
                        <a:buNone/>
                      </a:pPr>
                      <a:r>
                        <a:rPr lang="en-US" sz="1200" dirty="0">
                          <a:solidFill>
                            <a:srgbClr val="F4F6FB"/>
                          </a:solidFill>
                          <a:latin typeface="Calibri" pitchFamily="34" charset="0"/>
                          <a:ea typeface="Calibri" pitchFamily="34" charset="-122"/>
                          <a:cs typeface="Calibri" pitchFamily="34" charset="-120"/>
                        </a:rPr>
                        <a:t>0%, by construction</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r>
              <a:tr h="438912">
                <a:tc>
                  <a:txBody>
                    <a:bodyPr/>
                    <a:lstStyle/>
                    <a:p>
                      <a:pPr indent="0" marL="0">
                        <a:buNone/>
                      </a:pPr>
                      <a:r>
                        <a:rPr lang="en-US" sz="1200" dirty="0">
                          <a:solidFill>
                            <a:srgbClr val="F4F6FB"/>
                          </a:solidFill>
                          <a:latin typeface="Calibri" pitchFamily="34" charset="0"/>
                          <a:ea typeface="Calibri" pitchFamily="34" charset="-122"/>
                          <a:cs typeface="Calibri" pitchFamily="34" charset="-120"/>
                        </a:rPr>
                        <a:t>P(optimum) / uniform (team numbers)</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c>
                  <a:txBody>
                    <a:bodyPr/>
                    <a:lstStyle/>
                    <a:p>
                      <a:pPr indent="0" marL="0">
                        <a:buNone/>
                      </a:pPr>
                      <a:r>
                        <a:rPr lang="en-US" sz="1200" dirty="0">
                          <a:solidFill>
                            <a:srgbClr val="F4F6FB"/>
                          </a:solidFill>
                          <a:latin typeface="Calibri" pitchFamily="34" charset="0"/>
                          <a:ea typeface="Calibri" pitchFamily="34" charset="-122"/>
                          <a:cs typeface="Calibri" pitchFamily="34" charset="-120"/>
                        </a:rPr>
                        <a:t>0.5x to 1.2x</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c>
                  <a:txBody>
                    <a:bodyPr/>
                    <a:lstStyle/>
                    <a:p>
                      <a:pPr indent="0" marL="0">
                        <a:buNone/>
                      </a:pPr>
                      <a:r>
                        <a:rPr lang="en-US" sz="1200" dirty="0">
                          <a:solidFill>
                            <a:srgbClr val="F4F6FB"/>
                          </a:solidFill>
                          <a:latin typeface="Calibri" pitchFamily="34" charset="0"/>
                          <a:ea typeface="Calibri" pitchFamily="34" charset="-122"/>
                          <a:cs typeface="Calibri" pitchFamily="34" charset="-120"/>
                        </a:rPr>
                        <a:t>27x (Wolfram), 27x to 29x (Classiq)</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r>
              <a:tr h="438912">
                <a:tc>
                  <a:txBody>
                    <a:bodyPr/>
                    <a:lstStyle/>
                    <a:p>
                      <a:pPr indent="0" marL="0">
                        <a:buNone/>
                      </a:pPr>
                      <a:r>
                        <a:rPr lang="en-US" sz="1200" dirty="0">
                          <a:solidFill>
                            <a:srgbClr val="F4F6FB"/>
                          </a:solidFill>
                          <a:latin typeface="Calibri" pitchFamily="34" charset="0"/>
                          <a:ea typeface="Calibri" pitchFamily="34" charset="-122"/>
                          <a:cs typeface="Calibri" pitchFamily="34" charset="-120"/>
                        </a:rPr>
                        <a:t>Scales to more antennas</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c>
                  <a:txBody>
                    <a:bodyPr/>
                    <a:lstStyle/>
                    <a:p>
                      <a:pPr indent="0" marL="0">
                        <a:buNone/>
                      </a:pPr>
                      <a:r>
                        <a:rPr lang="en-US" sz="1200" dirty="0">
                          <a:solidFill>
                            <a:srgbClr val="F4F6FB"/>
                          </a:solidFill>
                          <a:latin typeface="Calibri" pitchFamily="34" charset="0"/>
                          <a:ea typeface="Calibri" pitchFamily="34" charset="-122"/>
                          <a:cs typeface="Calibri" pitchFamily="34" charset="-120"/>
                        </a:rPr>
                        <a:t>No: 3 sectors fixed per pack</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c>
                  <a:txBody>
                    <a:bodyPr/>
                    <a:lstStyle/>
                    <a:p>
                      <a:pPr indent="0" marL="0">
                        <a:buNone/>
                      </a:pPr>
                      <a:r>
                        <a:rPr lang="en-US" sz="1200" dirty="0">
                          <a:solidFill>
                            <a:srgbClr val="F4F6FB"/>
                          </a:solidFill>
                          <a:latin typeface="Calibri" pitchFamily="34" charset="0"/>
                          <a:ea typeface="Calibri" pitchFamily="34" charset="-122"/>
                          <a:cs typeface="Calibri" pitchFamily="34" charset="-120"/>
                        </a:rPr>
                        <a:t>Yes: 2n qubits, still 2-local</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r>
              <a:tr h="438912">
                <a:tc>
                  <a:txBody>
                    <a:bodyPr/>
                    <a:lstStyle/>
                    <a:p>
                      <a:pPr indent="0" marL="0">
                        <a:buNone/>
                      </a:pPr>
                      <a:r>
                        <a:rPr lang="en-US" sz="1200" dirty="0">
                          <a:solidFill>
                            <a:srgbClr val="F4F6FB"/>
                          </a:solidFill>
                          <a:latin typeface="Calibri" pitchFamily="34" charset="0"/>
                          <a:ea typeface="Calibri" pitchFamily="34" charset="-122"/>
                          <a:cs typeface="Calibri" pitchFamily="34" charset="-120"/>
                        </a:rPr>
                        <a:t>Provable</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c>
                  <a:txBody>
                    <a:bodyPr/>
                    <a:lstStyle/>
                    <a:p>
                      <a:pPr indent="0" marL="0">
                        <a:buNone/>
                      </a:pPr>
                      <a:r>
                        <a:rPr lang="en-US" sz="1200" dirty="0">
                          <a:solidFill>
                            <a:srgbClr val="F4F6FB"/>
                          </a:solidFill>
                          <a:latin typeface="Calibri" pitchFamily="34" charset="0"/>
                          <a:ea typeface="Calibri" pitchFamily="34" charset="-122"/>
                          <a:cs typeface="Calibri" pitchFamily="34" charset="-120"/>
                        </a:rPr>
                        <a:t>Hard: decode is a lookup table</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c>
                  <a:txBody>
                    <a:bodyPr/>
                    <a:lstStyle/>
                    <a:p>
                      <a:pPr indent="0" marL="0">
                        <a:buNone/>
                      </a:pPr>
                      <a:r>
                        <a:rPr lang="en-US" sz="1200" dirty="0">
                          <a:solidFill>
                            <a:srgbClr val="F4F6FB"/>
                          </a:solidFill>
                          <a:latin typeface="Calibri" pitchFamily="34" charset="0"/>
                          <a:ea typeface="Calibri" pitchFamily="34" charset="-122"/>
                          <a:cs typeface="Calibri" pitchFamily="34" charset="-120"/>
                        </a:rPr>
                        <a:t>decodeTilt is a bijection (Lean theorem)</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r>
            </a:tbl>
          </a:graphicData>
        </a:graphic>
      </p:graphicFrame>
      <p:sp>
        <p:nvSpPr>
          <p:cNvPr id="11" name="Text 8"/>
          <p:cNvSpPr/>
          <p:nvPr/>
        </p:nvSpPr>
        <p:spPr>
          <a:xfrm>
            <a:off x="548640" y="4983480"/>
            <a:ext cx="11247120" cy="1005840"/>
          </a:xfrm>
          <a:prstGeom prst="rect">
            <a:avLst/>
          </a:prstGeom>
          <a:noFill/>
          <a:ln/>
        </p:spPr>
        <p:txBody>
          <a:bodyPr wrap="square" lIns="635" tIns="635" rIns="635" bIns="635" rtlCol="0" anchor="t"/>
          <a:lstStyle/>
          <a:p>
            <a:pPr marL="342900" indent="-342900">
              <a:spcAft>
                <a:spcPts val="600"/>
              </a:spcAft>
              <a:buSzPct val="100000"/>
              <a:buChar char="▸"/>
            </a:pPr>
            <a:r>
              <a:rPr lang="en-US" sz="1400" dirty="0">
                <a:solidFill>
                  <a:srgbClr val="F4F6FB"/>
                </a:solidFill>
                <a:latin typeface="Calibri" pitchFamily="34" charset="0"/>
                <a:ea typeface="Calibri" pitchFamily="34" charset="-122"/>
                <a:cs typeface="Calibri" pitchFamily="34" charset="-120"/>
              </a:rPr>
              <a:t>This is the decision the whole pipeline depends on. It was made here, with the exact enumeration in hand, before any circuit existed</a:t>
            </a:r>
            <a:endParaRPr lang="en-US" sz="1400" dirty="0"/>
          </a:p>
          <a:p>
            <a:pPr marL="342900" indent="-342900">
              <a:spcAft>
                <a:spcPts val="600"/>
              </a:spcAft>
              <a:buSzPct val="100000"/>
              <a:buChar char="▸"/>
            </a:pPr>
            <a:r>
              <a:rPr lang="en-US" sz="1400" dirty="0">
                <a:solidFill>
                  <a:srgbClr val="F4F6FB"/>
                </a:solidFill>
                <a:latin typeface="Calibri" pitchFamily="34" charset="0"/>
                <a:ea typeface="Calibri" pitchFamily="34" charset="-122"/>
                <a:cs typeface="Calibri" pitchFamily="34" charset="-120"/>
              </a:rPr>
              <a:t>The team hierarchy idea (k-means groups, one QAOA per group, recursive refinement) was kept: our 12-qubit problem is one leaf of that tree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0B1C"/>
        </a:solidFill>
      </p:bgPr>
    </p:bg>
    <p:spTree>
      <p:nvGrpSpPr>
        <p:cNvPr id="1" name=""/>
        <p:cNvGrpSpPr/>
        <p:nvPr/>
      </p:nvGrpSpPr>
      <p:grpSpPr>
        <a:xfrm>
          <a:off x="0" y="0"/>
          <a:ext cx="0" cy="0"/>
          <a:chOff x="0" y="0"/>
          <a:chExt cx="0" cy="0"/>
        </a:xfrm>
      </p:grpSpPr>
      <p:sp>
        <p:nvSpPr>
          <p:cNvPr id="2" name="Shape 0"/>
          <p:cNvSpPr/>
          <p:nvPr/>
        </p:nvSpPr>
        <p:spPr>
          <a:xfrm>
            <a:off x="10378440" y="6035040"/>
            <a:ext cx="1600200" cy="640080"/>
          </a:xfrm>
          <a:prstGeom prst="roundRect">
            <a:avLst>
              <a:gd name="adj" fmla="val 14286"/>
            </a:avLst>
          </a:prstGeom>
          <a:solidFill>
            <a:srgbClr val="F2B632"/>
          </a:solidFill>
          <a:ln w="12700">
            <a:solidFill>
              <a:srgbClr val="F2B632"/>
            </a:solidFill>
            <a:prstDash val="solid"/>
          </a:ln>
        </p:spPr>
      </p:sp>
      <p:sp>
        <p:nvSpPr>
          <p:cNvPr id="3" name="Text 1"/>
          <p:cNvSpPr/>
          <p:nvPr/>
        </p:nvSpPr>
        <p:spPr>
          <a:xfrm>
            <a:off x="10378440" y="6035040"/>
            <a:ext cx="1600200" cy="640080"/>
          </a:xfrm>
          <a:prstGeom prst="rect">
            <a:avLst/>
          </a:prstGeom>
          <a:noFill/>
          <a:ln/>
        </p:spPr>
        <p:txBody>
          <a:bodyPr wrap="square" lIns="0" tIns="0" rIns="0" bIns="0" rtlCol="0" anchor="ctr"/>
          <a:lstStyle/>
          <a:p>
            <a:pPr algn="ctr" indent="0" marL="0">
              <a:buNone/>
            </a:pPr>
            <a:r>
              <a:rPr lang="en-US" sz="2800" b="1" dirty="0">
                <a:solidFill>
                  <a:srgbClr val="070B1C"/>
                </a:solidFill>
                <a:latin typeface="Calibri" pitchFamily="34" charset="0"/>
                <a:ea typeface="Calibri" pitchFamily="34" charset="-122"/>
                <a:cs typeface="Calibri" pitchFamily="34" charset="-120"/>
              </a:rPr>
              <a:t>6 / 16</a:t>
            </a:r>
            <a:endParaRPr lang="en-US" sz="2800" dirty="0"/>
          </a:p>
        </p:txBody>
      </p:sp>
      <p:sp>
        <p:nvSpPr>
          <p:cNvPr id="4" name="Shape 2"/>
          <p:cNvSpPr/>
          <p:nvPr/>
        </p:nvSpPr>
        <p:spPr>
          <a:xfrm>
            <a:off x="0" y="0"/>
            <a:ext cx="164592" cy="6858000"/>
          </a:xfrm>
          <a:prstGeom prst="rect">
            <a:avLst/>
          </a:prstGeom>
          <a:solidFill>
            <a:srgbClr val="F2B632"/>
          </a:solidFill>
          <a:ln/>
        </p:spPr>
      </p:sp>
      <p:sp>
        <p:nvSpPr>
          <p:cNvPr id="5" name="Text 3"/>
          <p:cNvSpPr/>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FD4D4"/>
                </a:solidFill>
                <a:latin typeface="Calibri" pitchFamily="34" charset="0"/>
                <a:ea typeface="Calibri" pitchFamily="34" charset="-122"/>
                <a:cs typeface="Calibri" pitchFamily="34" charset="-120"/>
              </a:rPr>
              <a:t>SLIDE 6 / 16   |   UNDERSTAND</a:t>
            </a:r>
            <a:endParaRPr lang="en-US" sz="1100" dirty="0"/>
          </a:p>
        </p:txBody>
      </p:sp>
      <p:sp>
        <p:nvSpPr>
          <p:cNvPr id="6" name="Text 4"/>
          <p:cNvSpPr/>
          <p:nvPr/>
        </p:nvSpPr>
        <p:spPr>
          <a:xfrm>
            <a:off x="548640" y="594360"/>
            <a:ext cx="11064240" cy="685800"/>
          </a:xfrm>
          <a:prstGeom prst="rect">
            <a:avLst/>
          </a:prstGeom>
          <a:noFill/>
          <a:ln/>
        </p:spPr>
        <p:txBody>
          <a:bodyPr wrap="square" lIns="0" tIns="0" rIns="0" bIns="0" rtlCol="0" anchor="ctr"/>
          <a:lstStyle/>
          <a:p>
            <a:pPr indent="0" marL="0">
              <a:buNone/>
            </a:pPr>
            <a:r>
              <a:rPr lang="en-US" sz="3000" b="1" dirty="0">
                <a:solidFill>
                  <a:srgbClr val="F4F6FB"/>
                </a:solidFill>
                <a:latin typeface="Calibri" pitchFamily="34" charset="0"/>
                <a:ea typeface="Calibri" pitchFamily="34" charset="-122"/>
                <a:cs typeface="Calibri" pitchFamily="34" charset="-120"/>
              </a:rPr>
              <a:t>Stage 3, Understand: the cost function and its Pauli decomposition</a:t>
            </a:r>
            <a:endParaRPr lang="en-US" sz="3000" dirty="0"/>
          </a:p>
        </p:txBody>
      </p:sp>
      <p:sp>
        <p:nvSpPr>
          <p:cNvPr id="7" name="Text 5"/>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9AA3BD"/>
                </a:solidFill>
                <a:latin typeface="Calibri" pitchFamily="34" charset="0"/>
                <a:ea typeface="Calibri" pitchFamily="34" charset="-122"/>
                <a:cs typeface="Calibri" pitchFamily="34" charset="-120"/>
              </a:rPr>
              <a:t>MantiQ Factor  |  Antenna tilt with QAOA  |  QUBIT 2026 case study</a:t>
            </a:r>
            <a:endParaRPr lang="en-US" sz="1000" dirty="0"/>
          </a:p>
        </p:txBody>
      </p:sp>
      <p:sp>
        <p:nvSpPr>
          <p:cNvPr id="8" name="Shape 6"/>
          <p:cNvSpPr/>
          <p:nvPr/>
        </p:nvSpPr>
        <p:spPr>
          <a:xfrm>
            <a:off x="8001000" y="6108192"/>
            <a:ext cx="2240280" cy="502920"/>
          </a:xfrm>
          <a:prstGeom prst="roundRect">
            <a:avLst>
              <a:gd name="adj" fmla="val 18182"/>
            </a:avLst>
          </a:prstGeom>
          <a:solidFill>
            <a:srgbClr val="131A3D"/>
          </a:solidFill>
          <a:ln w="12700">
            <a:solidFill>
              <a:srgbClr val="F2B632"/>
            </a:solidFill>
            <a:prstDash val="solid"/>
          </a:ln>
        </p:spPr>
      </p:sp>
      <p:sp>
        <p:nvSpPr>
          <p:cNvPr id="9" name="Text 7"/>
          <p:cNvSpPr/>
          <p:nvPr/>
        </p:nvSpPr>
        <p:spPr>
          <a:xfrm>
            <a:off x="8001000" y="6108192"/>
            <a:ext cx="2240280" cy="502920"/>
          </a:xfrm>
          <a:prstGeom prst="rect">
            <a:avLst/>
          </a:prstGeom>
          <a:noFill/>
          <a:ln/>
        </p:spPr>
        <p:txBody>
          <a:bodyPr wrap="square" lIns="0" tIns="0" rIns="0" bIns="0" rtlCol="0" anchor="ctr"/>
          <a:lstStyle/>
          <a:p>
            <a:pPr algn="ctr" indent="0" marL="0">
              <a:buNone/>
            </a:pPr>
            <a:r>
              <a:rPr lang="en-US" sz="1300" b="1" dirty="0">
                <a:solidFill>
                  <a:srgbClr val="F2B632"/>
                </a:solidFill>
                <a:latin typeface="Calibri" pitchFamily="34" charset="0"/>
                <a:ea typeface="Calibri" pitchFamily="34" charset="-122"/>
                <a:cs typeface="Calibri" pitchFamily="34" charset="-120"/>
              </a:rPr>
              <a:t>STAGE 3  </a:t>
            </a:r>
            <a:pPr algn="ctr" indent="0" marL="0">
              <a:buNone/>
            </a:pPr>
            <a:r>
              <a:rPr lang="en-US" sz="1300" dirty="0">
                <a:solidFill>
                  <a:srgbClr val="F4F6FB"/>
                </a:solidFill>
                <a:latin typeface="Calibri" pitchFamily="34" charset="0"/>
                <a:ea typeface="Calibri" pitchFamily="34" charset="-122"/>
                <a:cs typeface="Calibri" pitchFamily="34" charset="-120"/>
              </a:rPr>
              <a:t>Understand</a:t>
            </a:r>
            <a:endParaRPr lang="en-US" sz="1300" dirty="0"/>
          </a:p>
        </p:txBody>
      </p:sp>
      <p:sp>
        <p:nvSpPr>
          <p:cNvPr id="10" name="Shape 8"/>
          <p:cNvSpPr/>
          <p:nvPr/>
        </p:nvSpPr>
        <p:spPr>
          <a:xfrm>
            <a:off x="548640" y="1463040"/>
            <a:ext cx="5760720" cy="1554480"/>
          </a:xfrm>
          <a:prstGeom prst="roundRect">
            <a:avLst>
              <a:gd name="adj" fmla="val 4706"/>
            </a:avLst>
          </a:prstGeom>
          <a:solidFill>
            <a:srgbClr val="0D1330"/>
          </a:solidFill>
          <a:ln w="12700">
            <a:solidFill>
              <a:srgbClr val="0D1330"/>
            </a:solidFill>
            <a:prstDash val="solid"/>
          </a:ln>
        </p:spPr>
      </p:sp>
      <p:sp>
        <p:nvSpPr>
          <p:cNvPr id="11" name="Text 9"/>
          <p:cNvSpPr/>
          <p:nvPr/>
        </p:nvSpPr>
        <p:spPr>
          <a:xfrm>
            <a:off x="685800" y="1508760"/>
            <a:ext cx="5486400" cy="1463040"/>
          </a:xfrm>
          <a:prstGeom prst="rect">
            <a:avLst/>
          </a:prstGeom>
          <a:noFill/>
          <a:ln/>
        </p:spPr>
        <p:txBody>
          <a:bodyPr wrap="square" lIns="635" tIns="635" rIns="635" bIns="635" rtlCol="0" anchor="ctr"/>
          <a:lstStyle/>
          <a:p>
            <a:pPr indent="0" marL="0">
              <a:buNone/>
            </a:pPr>
            <a:r>
              <a:rPr lang="en-US" sz="2200" b="1" dirty="0">
                <a:solidFill>
                  <a:srgbClr val="2FD4D4"/>
                </a:solidFill>
                <a:latin typeface="Calibri" pitchFamily="34" charset="0"/>
                <a:ea typeface="Calibri" pitchFamily="34" charset="-122"/>
                <a:cs typeface="Calibri" pitchFamily="34" charset="-120"/>
              </a:rPr>
              <a:t>Cost(t) = t^T I t  -  1.5 c . t  +  0.3 sum(t)</a:t>
            </a:r>
            <a:endParaRPr lang="en-US" sz="2200" dirty="0"/>
          </a:p>
          <a:p>
            <a:pPr indent="0" marL="0">
              <a:buNone/>
            </a:pPr>
            <a:r>
              <a:rPr lang="en-US" sz="1250" dirty="0">
                <a:solidFill>
                  <a:srgbClr val="F4F6FB"/>
                </a:solidFill>
                <a:latin typeface="Calibri" pitchFamily="34" charset="0"/>
                <a:ea typeface="Calibri" pitchFamily="34" charset="-122"/>
                <a:cs typeface="Calibri" pitchFamily="34" charset="-120"/>
              </a:rPr>
              <a:t>t in {0,1,2,3}^6 (tilt levels), I = 6x6 interference matrix from the map, c = coverage per antenna</a:t>
            </a:r>
            <a:endParaRPr lang="en-US" sz="2200" dirty="0"/>
          </a:p>
          <a:p>
            <a:pPr indent="0" marL="0">
              <a:buNone/>
            </a:pPr>
            <a:r>
              <a:rPr lang="en-US" sz="1250" dirty="0">
                <a:solidFill>
                  <a:srgbClr val="9AA3BD"/>
                </a:solidFill>
                <a:latin typeface="Calibri" pitchFamily="34" charset="0"/>
                <a:ea typeface="Calibri" pitchFamily="34" charset="-122"/>
                <a:cs typeface="Calibri" pitchFamily="34" charset="-120"/>
              </a:rPr>
              <a:t>tilt_i = 2 q_{2i} + q_{2i+1}, so t_i is linear in its two qubits and t_i t_j gives only ZZ terms</a:t>
            </a:r>
            <a:endParaRPr lang="en-US" sz="2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3200400"/>
          <a:ext cx="5760720" cy="914400"/>
        </p:xfrm>
        <a:graphic>
          <a:graphicData uri="http://schemas.openxmlformats.org/drawingml/2006/table">
            <a:tbl>
              <a:tblPr/>
              <a:tblGrid>
                <a:gridCol w="1280160"/>
                <a:gridCol w="822960"/>
                <a:gridCol w="3657600"/>
              </a:tblGrid>
              <a:tr h="384048">
                <a:tc>
                  <a:txBody>
                    <a:bodyPr/>
                    <a:lstStyle/>
                    <a:p>
                      <a:pPr indent="0" marL="0">
                        <a:buNone/>
                      </a:pPr>
                      <a:r>
                        <a:rPr lang="en-US" sz="1200" b="1" dirty="0">
                          <a:solidFill>
                            <a:srgbClr val="F2B632"/>
                          </a:solidFill>
                          <a:latin typeface="Calibri" pitchFamily="34" charset="0"/>
                          <a:ea typeface="Calibri" pitchFamily="34" charset="-122"/>
                          <a:cs typeface="Calibri" pitchFamily="34" charset="-120"/>
                        </a:rPr>
                        <a:t>Pauli weight</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131A3D"/>
                    </a:solidFill>
                  </a:tcPr>
                </a:tc>
                <a:tc>
                  <a:txBody>
                    <a:bodyPr/>
                    <a:lstStyle/>
                    <a:p>
                      <a:pPr indent="0" marL="0">
                        <a:buNone/>
                      </a:pPr>
                      <a:r>
                        <a:rPr lang="en-US" sz="1200" b="1" dirty="0">
                          <a:solidFill>
                            <a:srgbClr val="F2B632"/>
                          </a:solidFill>
                          <a:latin typeface="Calibri" pitchFamily="34" charset="0"/>
                          <a:ea typeface="Calibri" pitchFamily="34" charset="-122"/>
                          <a:cs typeface="Calibri" pitchFamily="34" charset="-120"/>
                        </a:rPr>
                        <a:t>terms</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131A3D"/>
                    </a:solidFill>
                  </a:tcPr>
                </a:tc>
                <a:tc>
                  <a:txBody>
                    <a:bodyPr/>
                    <a:lstStyle/>
                    <a:p>
                      <a:pPr indent="0" marL="0">
                        <a:buNone/>
                      </a:pPr>
                      <a:r>
                        <a:rPr lang="en-US" sz="1200" b="1" dirty="0">
                          <a:solidFill>
                            <a:srgbClr val="F2B632"/>
                          </a:solidFill>
                          <a:latin typeface="Calibri" pitchFamily="34" charset="0"/>
                          <a:ea typeface="Calibri" pitchFamily="34" charset="-122"/>
                          <a:cs typeface="Calibri" pitchFamily="34" charset="-120"/>
                        </a:rPr>
                        <a:t>meaning</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131A3D"/>
                    </a:solidFill>
                  </a:tcPr>
                </a:tc>
              </a:tr>
              <a:tr h="384048">
                <a:tc>
                  <a:txBody>
                    <a:bodyPr/>
                    <a:lstStyle/>
                    <a:p>
                      <a:pPr indent="0" marL="0">
                        <a:buNone/>
                      </a:pPr>
                      <a:r>
                        <a:rPr lang="en-US" sz="1200" dirty="0">
                          <a:solidFill>
                            <a:srgbClr val="F4F6FB"/>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c>
                  <a:txBody>
                    <a:bodyPr/>
                    <a:lstStyle/>
                    <a:p>
                      <a:pPr indent="0" marL="0">
                        <a:buNone/>
                      </a:pPr>
                      <a:r>
                        <a:rPr lang="en-US" sz="1200" dirty="0">
                          <a:solidFill>
                            <a:srgbClr val="F4F6FB"/>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c>
                  <a:txBody>
                    <a:bodyPr/>
                    <a:lstStyle/>
                    <a:p>
                      <a:pPr indent="0" marL="0">
                        <a:buNone/>
                      </a:pPr>
                      <a:r>
                        <a:rPr lang="en-US" sz="1200" dirty="0">
                          <a:solidFill>
                            <a:srgbClr val="F4F6FB"/>
                          </a:solidFill>
                          <a:latin typeface="Calibri" pitchFamily="34" charset="0"/>
                          <a:ea typeface="Calibri" pitchFamily="34" charset="-122"/>
                          <a:cs typeface="Calibri" pitchFamily="34" charset="-120"/>
                        </a:rPr>
                        <a:t>offset 35.499 (global phase, dropped)</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r>
              <a:tr h="384048">
                <a:tc>
                  <a:txBody>
                    <a:bodyPr/>
                    <a:lstStyle/>
                    <a:p>
                      <a:pPr indent="0" marL="0">
                        <a:buNone/>
                      </a:pPr>
                      <a:r>
                        <a:rPr lang="en-US" sz="1200" dirty="0">
                          <a:solidFill>
                            <a:srgbClr val="F4F6FB"/>
                          </a:solidFill>
                          <a:latin typeface="Calibri" pitchFamily="34" charset="0"/>
                          <a:ea typeface="Calibri" pitchFamily="34" charset="-122"/>
                          <a:cs typeface="Calibri" pitchFamily="34" charset="-120"/>
                        </a:rPr>
                        <a:t>1 (Z)</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c>
                  <a:txBody>
                    <a:bodyPr/>
                    <a:lstStyle/>
                    <a:p>
                      <a:pPr indent="0" marL="0">
                        <a:buNone/>
                      </a:pPr>
                      <a:r>
                        <a:rPr lang="en-US" sz="1200" dirty="0">
                          <a:solidFill>
                            <a:srgbClr val="F4F6FB"/>
                          </a:solidFill>
                          <a:latin typeface="Calibri" pitchFamily="34" charset="0"/>
                          <a:ea typeface="Calibri" pitchFamily="34" charset="-122"/>
                          <a:cs typeface="Calibri" pitchFamily="34" charset="-120"/>
                        </a:rPr>
                        <a:t>12</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c>
                  <a:txBody>
                    <a:bodyPr/>
                    <a:lstStyle/>
                    <a:p>
                      <a:pPr indent="0" marL="0">
                        <a:buNone/>
                      </a:pPr>
                      <a:r>
                        <a:rPr lang="en-US" sz="1200" dirty="0">
                          <a:solidFill>
                            <a:srgbClr val="F4F6FB"/>
                          </a:solidFill>
                          <a:latin typeface="Calibri" pitchFamily="34" charset="0"/>
                          <a:ea typeface="Calibri" pitchFamily="34" charset="-122"/>
                          <a:cs typeface="Calibri" pitchFamily="34" charset="-120"/>
                        </a:rPr>
                        <a:t>coverage gain and tilt penalty, 2 per antenna</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r>
              <a:tr h="384048">
                <a:tc>
                  <a:txBody>
                    <a:bodyPr/>
                    <a:lstStyle/>
                    <a:p>
                      <a:pPr indent="0" marL="0">
                        <a:buNone/>
                      </a:pPr>
                      <a:r>
                        <a:rPr lang="en-US" sz="1200" dirty="0">
                          <a:solidFill>
                            <a:srgbClr val="F4F6FB"/>
                          </a:solidFill>
                          <a:latin typeface="Calibri" pitchFamily="34" charset="0"/>
                          <a:ea typeface="Calibri" pitchFamily="34" charset="-122"/>
                          <a:cs typeface="Calibri" pitchFamily="34" charset="-120"/>
                        </a:rPr>
                        <a:t>2 (ZZ)</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c>
                  <a:txBody>
                    <a:bodyPr/>
                    <a:lstStyle/>
                    <a:p>
                      <a:pPr indent="0" marL="0">
                        <a:buNone/>
                      </a:pPr>
                      <a:r>
                        <a:rPr lang="en-US" sz="1200" dirty="0">
                          <a:solidFill>
                            <a:srgbClr val="F4F6FB"/>
                          </a:solidFill>
                          <a:latin typeface="Calibri" pitchFamily="34" charset="0"/>
                          <a:ea typeface="Calibri" pitchFamily="34" charset="-122"/>
                          <a:cs typeface="Calibri" pitchFamily="34" charset="-120"/>
                        </a:rPr>
                        <a:t>60</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c>
                  <a:txBody>
                    <a:bodyPr/>
                    <a:lstStyle/>
                    <a:p>
                      <a:pPr indent="0" marL="0">
                        <a:buNone/>
                      </a:pPr>
                      <a:r>
                        <a:rPr lang="en-US" sz="1200" dirty="0">
                          <a:solidFill>
                            <a:srgbClr val="F4F6FB"/>
                          </a:solidFill>
                          <a:latin typeface="Calibri" pitchFamily="34" charset="0"/>
                          <a:ea typeface="Calibri" pitchFamily="34" charset="-122"/>
                          <a:cs typeface="Calibri" pitchFamily="34" charset="-120"/>
                        </a:rPr>
                        <a:t>15 interfering pairs x 4 qubit pairs</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r>
              <a:tr h="384048">
                <a:tc>
                  <a:txBody>
                    <a:bodyPr/>
                    <a:lstStyle/>
                    <a:p>
                      <a:pPr indent="0" marL="0">
                        <a:buNone/>
                      </a:pPr>
                      <a:r>
                        <a:rPr lang="en-US" sz="1200" dirty="0">
                          <a:solidFill>
                            <a:srgbClr val="F4F6FB"/>
                          </a:solidFill>
                          <a:latin typeface="Calibri" pitchFamily="34" charset="0"/>
                          <a:ea typeface="Calibri" pitchFamily="34" charset="-122"/>
                          <a:cs typeface="Calibri" pitchFamily="34" charset="-120"/>
                        </a:rPr>
                        <a:t>3, 4, 5</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c>
                  <a:txBody>
                    <a:bodyPr/>
                    <a:lstStyle/>
                    <a:p>
                      <a:pPr indent="0" marL="0">
                        <a:buNone/>
                      </a:pPr>
                      <a:r>
                        <a:rPr lang="en-US" sz="1200" dirty="0">
                          <a:solidFill>
                            <a:srgbClr val="F4F6FB"/>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c>
                  <a:txBody>
                    <a:bodyPr/>
                    <a:lstStyle/>
                    <a:p>
                      <a:pPr indent="0" marL="0">
                        <a:buNone/>
                      </a:pPr>
                      <a:r>
                        <a:rPr lang="en-US" sz="1200" dirty="0">
                          <a:solidFill>
                            <a:srgbClr val="F4F6FB"/>
                          </a:solidFill>
                          <a:latin typeface="Calibri" pitchFamily="34" charset="0"/>
                          <a:ea typeface="Calibri" pitchFamily="34" charset="-122"/>
                          <a:cs typeface="Calibri" pitchFamily="34" charset="-120"/>
                        </a:rPr>
                        <a:t>none: the model is 2-local</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r>
            </a:tbl>
          </a:graphicData>
        </a:graphic>
      </p:graphicFrame>
      <p:sp>
        <p:nvSpPr>
          <p:cNvPr id="13" name="Text 10"/>
          <p:cNvSpPr/>
          <p:nvPr/>
        </p:nvSpPr>
        <p:spPr>
          <a:xfrm>
            <a:off x="548640" y="5212080"/>
            <a:ext cx="5760720" cy="365760"/>
          </a:xfrm>
          <a:prstGeom prst="rect">
            <a:avLst/>
          </a:prstGeom>
          <a:noFill/>
          <a:ln/>
        </p:spPr>
        <p:txBody>
          <a:bodyPr wrap="square" lIns="0" tIns="0" rIns="0" bIns="0" rtlCol="0" anchor="ctr"/>
          <a:lstStyle/>
          <a:p>
            <a:pPr indent="0" marL="0">
              <a:buNone/>
            </a:pPr>
            <a:r>
              <a:rPr lang="en-US" sz="1050" i="1" dirty="0">
                <a:solidFill>
                  <a:srgbClr val="9AA3BD"/>
                </a:solidFill>
                <a:latin typeface="Calibri" pitchFamily="34" charset="0"/>
                <a:ea typeface="Calibri" pitchFamily="34" charset="-122"/>
                <a:cs typeface="Calibri" pitchFamily="34" charset="-120"/>
              </a:rPr>
              <a:t>gates/pauli_terms.json: Walsh-Hadamard transform of the 4096-entry cost table, checked to 1e-9 against every entry.</a:t>
            </a:r>
            <a:endParaRPr lang="en-US" sz="1050" dirty="0"/>
          </a:p>
        </p:txBody>
      </p:sp>
      <p:sp>
        <p:nvSpPr>
          <p:cNvPr id="14" name="Shape 11"/>
          <p:cNvSpPr/>
          <p:nvPr/>
        </p:nvSpPr>
        <p:spPr>
          <a:xfrm>
            <a:off x="6583680" y="1463040"/>
            <a:ext cx="2514600" cy="1234440"/>
          </a:xfrm>
          <a:prstGeom prst="roundRect">
            <a:avLst>
              <a:gd name="adj" fmla="val 5926"/>
            </a:avLst>
          </a:prstGeom>
          <a:solidFill>
            <a:srgbClr val="0D1330"/>
          </a:solidFill>
          <a:ln w="12700">
            <a:solidFill>
              <a:srgbClr val="0D1330"/>
            </a:solidFill>
            <a:prstDash val="solid"/>
          </a:ln>
        </p:spPr>
      </p:sp>
      <p:sp>
        <p:nvSpPr>
          <p:cNvPr id="15" name="Text 12"/>
          <p:cNvSpPr/>
          <p:nvPr/>
        </p:nvSpPr>
        <p:spPr>
          <a:xfrm>
            <a:off x="6583680" y="1572768"/>
            <a:ext cx="2514600" cy="640080"/>
          </a:xfrm>
          <a:prstGeom prst="rect">
            <a:avLst/>
          </a:prstGeom>
          <a:noFill/>
          <a:ln/>
        </p:spPr>
        <p:txBody>
          <a:bodyPr wrap="square" lIns="0" tIns="0" rIns="0" bIns="0" rtlCol="0" anchor="ctr"/>
          <a:lstStyle/>
          <a:p>
            <a:pPr algn="ctr" indent="0" marL="0">
              <a:buNone/>
            </a:pPr>
            <a:r>
              <a:rPr lang="en-US" sz="2800" b="1" dirty="0">
                <a:solidFill>
                  <a:srgbClr val="F2B632"/>
                </a:solidFill>
                <a:latin typeface="Calibri" pitchFamily="34" charset="0"/>
                <a:ea typeface="Calibri" pitchFamily="34" charset="-122"/>
                <a:cs typeface="Calibri" pitchFamily="34" charset="-120"/>
              </a:rPr>
              <a:t>4096</a:t>
            </a:r>
            <a:endParaRPr lang="en-US" sz="2800" dirty="0"/>
          </a:p>
        </p:txBody>
      </p:sp>
      <p:sp>
        <p:nvSpPr>
          <p:cNvPr id="16" name="Text 13"/>
          <p:cNvSpPr/>
          <p:nvPr/>
        </p:nvSpPr>
        <p:spPr>
          <a:xfrm>
            <a:off x="6675120" y="2194560"/>
            <a:ext cx="2331720" cy="457200"/>
          </a:xfrm>
          <a:prstGeom prst="rect">
            <a:avLst/>
          </a:prstGeom>
          <a:noFill/>
          <a:ln/>
        </p:spPr>
        <p:txBody>
          <a:bodyPr wrap="square" lIns="0" tIns="0" rIns="0" bIns="0" rtlCol="0" anchor="ctr"/>
          <a:lstStyle/>
          <a:p>
            <a:pPr algn="ctr" indent="0" marL="0">
              <a:buNone/>
            </a:pPr>
            <a:r>
              <a:rPr lang="en-US" sz="1100" dirty="0">
                <a:solidFill>
                  <a:srgbClr val="9AA3BD"/>
                </a:solidFill>
                <a:latin typeface="Calibri" pitchFamily="34" charset="0"/>
                <a:ea typeface="Calibri" pitchFamily="34" charset="-122"/>
                <a:cs typeface="Calibri" pitchFamily="34" charset="-120"/>
              </a:rPr>
              <a:t>plans enumerated exactly</a:t>
            </a:r>
            <a:endParaRPr lang="en-US" sz="1100" dirty="0"/>
          </a:p>
        </p:txBody>
      </p:sp>
      <p:sp>
        <p:nvSpPr>
          <p:cNvPr id="17" name="Shape 14"/>
          <p:cNvSpPr/>
          <p:nvPr/>
        </p:nvSpPr>
        <p:spPr>
          <a:xfrm>
            <a:off x="9281160" y="1463040"/>
            <a:ext cx="2514600" cy="1234440"/>
          </a:xfrm>
          <a:prstGeom prst="roundRect">
            <a:avLst>
              <a:gd name="adj" fmla="val 5926"/>
            </a:avLst>
          </a:prstGeom>
          <a:solidFill>
            <a:srgbClr val="0D1330"/>
          </a:solidFill>
          <a:ln w="12700">
            <a:solidFill>
              <a:srgbClr val="0D1330"/>
            </a:solidFill>
            <a:prstDash val="solid"/>
          </a:ln>
        </p:spPr>
      </p:sp>
      <p:sp>
        <p:nvSpPr>
          <p:cNvPr id="18" name="Text 15"/>
          <p:cNvSpPr/>
          <p:nvPr/>
        </p:nvSpPr>
        <p:spPr>
          <a:xfrm>
            <a:off x="9281160" y="1572768"/>
            <a:ext cx="2514600" cy="640080"/>
          </a:xfrm>
          <a:prstGeom prst="rect">
            <a:avLst/>
          </a:prstGeom>
          <a:noFill/>
          <a:ln/>
        </p:spPr>
        <p:txBody>
          <a:bodyPr wrap="square" lIns="0" tIns="0" rIns="0" bIns="0" rtlCol="0" anchor="ctr"/>
          <a:lstStyle/>
          <a:p>
            <a:pPr algn="ctr" indent="0" marL="0">
              <a:buNone/>
            </a:pPr>
            <a:r>
              <a:rPr lang="en-US" sz="2800" b="1" dirty="0">
                <a:solidFill>
                  <a:srgbClr val="F2B632"/>
                </a:solidFill>
                <a:latin typeface="Calibri" pitchFamily="34" charset="0"/>
                <a:ea typeface="Calibri" pitchFamily="34" charset="-122"/>
                <a:cs typeface="Calibri" pitchFamily="34" charset="-120"/>
              </a:rPr>
              <a:t>-2.844</a:t>
            </a:r>
            <a:endParaRPr lang="en-US" sz="2800" dirty="0"/>
          </a:p>
        </p:txBody>
      </p:sp>
      <p:sp>
        <p:nvSpPr>
          <p:cNvPr id="19" name="Text 16"/>
          <p:cNvSpPr/>
          <p:nvPr/>
        </p:nvSpPr>
        <p:spPr>
          <a:xfrm>
            <a:off x="9372600" y="2194560"/>
            <a:ext cx="2331720" cy="457200"/>
          </a:xfrm>
          <a:prstGeom prst="rect">
            <a:avLst/>
          </a:prstGeom>
          <a:noFill/>
          <a:ln/>
        </p:spPr>
        <p:txBody>
          <a:bodyPr wrap="square" lIns="0" tIns="0" rIns="0" bIns="0" rtlCol="0" anchor="ctr"/>
          <a:lstStyle/>
          <a:p>
            <a:pPr algn="ctr" indent="0" marL="0">
              <a:buNone/>
            </a:pPr>
            <a:r>
              <a:rPr lang="en-US" sz="1100" dirty="0">
                <a:solidFill>
                  <a:srgbClr val="9AA3BD"/>
                </a:solidFill>
                <a:latin typeface="Calibri" pitchFamily="34" charset="0"/>
                <a:ea typeface="Calibri" pitchFamily="34" charset="-122"/>
                <a:cs typeface="Calibri" pitchFamily="34" charset="-120"/>
              </a:rPr>
              <a:t>unique minimum at (0,3,0,0,0,0)</a:t>
            </a:r>
            <a:endParaRPr lang="en-US" sz="1100" dirty="0"/>
          </a:p>
        </p:txBody>
      </p:sp>
      <p:sp>
        <p:nvSpPr>
          <p:cNvPr id="20" name="Shape 17"/>
          <p:cNvSpPr/>
          <p:nvPr/>
        </p:nvSpPr>
        <p:spPr>
          <a:xfrm>
            <a:off x="6583680" y="2834640"/>
            <a:ext cx="2514600" cy="1234440"/>
          </a:xfrm>
          <a:prstGeom prst="roundRect">
            <a:avLst>
              <a:gd name="adj" fmla="val 5926"/>
            </a:avLst>
          </a:prstGeom>
          <a:solidFill>
            <a:srgbClr val="0D1330"/>
          </a:solidFill>
          <a:ln w="12700">
            <a:solidFill>
              <a:srgbClr val="0D1330"/>
            </a:solidFill>
            <a:prstDash val="solid"/>
          </a:ln>
        </p:spPr>
      </p:sp>
      <p:sp>
        <p:nvSpPr>
          <p:cNvPr id="21" name="Text 18"/>
          <p:cNvSpPr/>
          <p:nvPr/>
        </p:nvSpPr>
        <p:spPr>
          <a:xfrm>
            <a:off x="6583680" y="2944368"/>
            <a:ext cx="2514600" cy="640080"/>
          </a:xfrm>
          <a:prstGeom prst="rect">
            <a:avLst/>
          </a:prstGeom>
          <a:noFill/>
          <a:ln/>
        </p:spPr>
        <p:txBody>
          <a:bodyPr wrap="square" lIns="0" tIns="0" rIns="0" bIns="0" rtlCol="0" anchor="ctr"/>
          <a:lstStyle/>
          <a:p>
            <a:pPr algn="ctr" indent="0" marL="0">
              <a:buNone/>
            </a:pPr>
            <a:r>
              <a:rPr lang="en-US" sz="2800" b="1" dirty="0">
                <a:solidFill>
                  <a:srgbClr val="2FD4D4"/>
                </a:solidFill>
                <a:latin typeface="Calibri" pitchFamily="34" charset="0"/>
                <a:ea typeface="Calibri" pitchFamily="34" charset="-122"/>
                <a:cs typeface="Calibri" pitchFamily="34" charset="-120"/>
              </a:rPr>
              <a:t>73</a:t>
            </a:r>
            <a:endParaRPr lang="en-US" sz="2800" dirty="0"/>
          </a:p>
        </p:txBody>
      </p:sp>
      <p:sp>
        <p:nvSpPr>
          <p:cNvPr id="22" name="Text 19"/>
          <p:cNvSpPr/>
          <p:nvPr/>
        </p:nvSpPr>
        <p:spPr>
          <a:xfrm>
            <a:off x="6675120" y="3566160"/>
            <a:ext cx="2331720" cy="457200"/>
          </a:xfrm>
          <a:prstGeom prst="rect">
            <a:avLst/>
          </a:prstGeom>
          <a:noFill/>
          <a:ln/>
        </p:spPr>
        <p:txBody>
          <a:bodyPr wrap="square" lIns="0" tIns="0" rIns="0" bIns="0" rtlCol="0" anchor="ctr"/>
          <a:lstStyle/>
          <a:p>
            <a:pPr algn="ctr" indent="0" marL="0">
              <a:buNone/>
            </a:pPr>
            <a:r>
              <a:rPr lang="en-US" sz="1100" dirty="0">
                <a:solidFill>
                  <a:srgbClr val="9AA3BD"/>
                </a:solidFill>
                <a:latin typeface="Calibri" pitchFamily="34" charset="0"/>
                <a:ea typeface="Calibri" pitchFamily="34" charset="-122"/>
                <a:cs typeface="Calibri" pitchFamily="34" charset="-120"/>
              </a:rPr>
              <a:t>Pauli terms, all weight &lt;= 2</a:t>
            </a:r>
            <a:endParaRPr lang="en-US" sz="1100" dirty="0"/>
          </a:p>
        </p:txBody>
      </p:sp>
      <p:sp>
        <p:nvSpPr>
          <p:cNvPr id="23" name="Shape 20"/>
          <p:cNvSpPr/>
          <p:nvPr/>
        </p:nvSpPr>
        <p:spPr>
          <a:xfrm>
            <a:off x="9281160" y="2834640"/>
            <a:ext cx="2514600" cy="1234440"/>
          </a:xfrm>
          <a:prstGeom prst="roundRect">
            <a:avLst>
              <a:gd name="adj" fmla="val 5926"/>
            </a:avLst>
          </a:prstGeom>
          <a:solidFill>
            <a:srgbClr val="0D1330"/>
          </a:solidFill>
          <a:ln w="12700">
            <a:solidFill>
              <a:srgbClr val="0D1330"/>
            </a:solidFill>
            <a:prstDash val="solid"/>
          </a:ln>
        </p:spPr>
      </p:sp>
      <p:sp>
        <p:nvSpPr>
          <p:cNvPr id="24" name="Text 21"/>
          <p:cNvSpPr/>
          <p:nvPr/>
        </p:nvSpPr>
        <p:spPr>
          <a:xfrm>
            <a:off x="9281160" y="2944368"/>
            <a:ext cx="2514600" cy="640080"/>
          </a:xfrm>
          <a:prstGeom prst="rect">
            <a:avLst/>
          </a:prstGeom>
          <a:noFill/>
          <a:ln/>
        </p:spPr>
        <p:txBody>
          <a:bodyPr wrap="square" lIns="0" tIns="0" rIns="0" bIns="0" rtlCol="0" anchor="ctr"/>
          <a:lstStyle/>
          <a:p>
            <a:pPr algn="ctr" indent="0" marL="0">
              <a:buNone/>
            </a:pPr>
            <a:r>
              <a:rPr lang="en-US" sz="2800" b="1" dirty="0">
                <a:solidFill>
                  <a:srgbClr val="2FD4D4"/>
                </a:solidFill>
                <a:latin typeface="Calibri" pitchFamily="34" charset="0"/>
                <a:ea typeface="Calibri" pitchFamily="34" charset="-122"/>
                <a:cs typeface="Calibri" pitchFamily="34" charset="-120"/>
              </a:rPr>
              <a:t>12</a:t>
            </a:r>
            <a:endParaRPr lang="en-US" sz="2800" dirty="0"/>
          </a:p>
        </p:txBody>
      </p:sp>
      <p:sp>
        <p:nvSpPr>
          <p:cNvPr id="25" name="Text 22"/>
          <p:cNvSpPr/>
          <p:nvPr/>
        </p:nvSpPr>
        <p:spPr>
          <a:xfrm>
            <a:off x="9372600" y="3566160"/>
            <a:ext cx="2331720" cy="457200"/>
          </a:xfrm>
          <a:prstGeom prst="rect">
            <a:avLst/>
          </a:prstGeom>
          <a:noFill/>
          <a:ln/>
        </p:spPr>
        <p:txBody>
          <a:bodyPr wrap="square" lIns="0" tIns="0" rIns="0" bIns="0" rtlCol="0" anchor="ctr"/>
          <a:lstStyle/>
          <a:p>
            <a:pPr algn="ctr" indent="0" marL="0">
              <a:buNone/>
            </a:pPr>
            <a:r>
              <a:rPr lang="en-US" sz="1100" dirty="0">
                <a:solidFill>
                  <a:srgbClr val="9AA3BD"/>
                </a:solidFill>
                <a:latin typeface="Calibri" pitchFamily="34" charset="0"/>
                <a:ea typeface="Calibri" pitchFamily="34" charset="-122"/>
                <a:cs typeface="Calibri" pitchFamily="34" charset="-120"/>
              </a:rPr>
              <a:t>qubits: 6 antennas x QNum[2]</a:t>
            </a:r>
            <a:endParaRPr lang="en-US" sz="1100" dirty="0"/>
          </a:p>
        </p:txBody>
      </p:sp>
      <p:sp>
        <p:nvSpPr>
          <p:cNvPr id="26" name="Text 23"/>
          <p:cNvSpPr/>
          <p:nvPr/>
        </p:nvSpPr>
        <p:spPr>
          <a:xfrm>
            <a:off x="6583680" y="4251960"/>
            <a:ext cx="5212080" cy="1645920"/>
          </a:xfrm>
          <a:prstGeom prst="rect">
            <a:avLst/>
          </a:prstGeom>
          <a:noFill/>
          <a:ln/>
        </p:spPr>
        <p:txBody>
          <a:bodyPr wrap="square" lIns="635" tIns="635" rIns="635" bIns="635" rtlCol="0" anchor="t"/>
          <a:lstStyle/>
          <a:p>
            <a:pPr marL="342900" indent="-342900">
              <a:spcAft>
                <a:spcPts val="600"/>
              </a:spcAft>
              <a:buSzPct val="100000"/>
              <a:buChar char="▸"/>
            </a:pPr>
            <a:r>
              <a:rPr lang="en-US" sz="1350" dirty="0">
                <a:solidFill>
                  <a:srgbClr val="F4F6FB"/>
                </a:solidFill>
                <a:latin typeface="Calibri" pitchFamily="34" charset="0"/>
                <a:ea typeface="Calibri" pitchFamily="34" charset="-122"/>
                <a:cs typeface="Calibri" pitchFamily="34" charset="-120"/>
              </a:rPr>
              <a:t>Only antenna 1 tilts (level 3); the other five stay flat. That is physically sensible: it is the antenna with the most overlap</a:t>
            </a:r>
            <a:endParaRPr lang="en-US" sz="1350" dirty="0"/>
          </a:p>
          <a:p>
            <a:pPr marL="342900" indent="-342900">
              <a:spcAft>
                <a:spcPts val="600"/>
              </a:spcAft>
              <a:buSzPct val="100000"/>
              <a:buChar char="▸"/>
            </a:pPr>
            <a:r>
              <a:rPr lang="en-US" sz="1350" dirty="0">
                <a:solidFill>
                  <a:srgbClr val="F4F6FB"/>
                </a:solidFill>
                <a:latin typeface="Calibri" pitchFamily="34" charset="0"/>
                <a:ea typeface="Calibri" pitchFamily="34" charset="-122"/>
                <a:cs typeface="Calibri" pitchFamily="34" charset="-120"/>
              </a:rPr>
              <a:t>Naive layer cost: 72 RZ + 120 CX; Classiq synthesis merges parity ladders down to 92 CX</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0B1C"/>
        </a:solidFill>
      </p:bgPr>
    </p:bg>
    <p:spTree>
      <p:nvGrpSpPr>
        <p:cNvPr id="1" name=""/>
        <p:cNvGrpSpPr/>
        <p:nvPr/>
      </p:nvGrpSpPr>
      <p:grpSpPr>
        <a:xfrm>
          <a:off x="0" y="0"/>
          <a:ext cx="0" cy="0"/>
          <a:chOff x="0" y="0"/>
          <a:chExt cx="0" cy="0"/>
        </a:xfrm>
      </p:grpSpPr>
      <p:sp>
        <p:nvSpPr>
          <p:cNvPr id="2" name="Shape 0"/>
          <p:cNvSpPr/>
          <p:nvPr/>
        </p:nvSpPr>
        <p:spPr>
          <a:xfrm>
            <a:off x="10378440" y="6035040"/>
            <a:ext cx="1600200" cy="640080"/>
          </a:xfrm>
          <a:prstGeom prst="roundRect">
            <a:avLst>
              <a:gd name="adj" fmla="val 14286"/>
            </a:avLst>
          </a:prstGeom>
          <a:solidFill>
            <a:srgbClr val="F2B632"/>
          </a:solidFill>
          <a:ln w="12700">
            <a:solidFill>
              <a:srgbClr val="F2B632"/>
            </a:solidFill>
            <a:prstDash val="solid"/>
          </a:ln>
        </p:spPr>
      </p:sp>
      <p:sp>
        <p:nvSpPr>
          <p:cNvPr id="3" name="Text 1"/>
          <p:cNvSpPr/>
          <p:nvPr/>
        </p:nvSpPr>
        <p:spPr>
          <a:xfrm>
            <a:off x="10378440" y="6035040"/>
            <a:ext cx="1600200" cy="640080"/>
          </a:xfrm>
          <a:prstGeom prst="rect">
            <a:avLst/>
          </a:prstGeom>
          <a:noFill/>
          <a:ln/>
        </p:spPr>
        <p:txBody>
          <a:bodyPr wrap="square" lIns="0" tIns="0" rIns="0" bIns="0" rtlCol="0" anchor="ctr"/>
          <a:lstStyle/>
          <a:p>
            <a:pPr algn="ctr" indent="0" marL="0">
              <a:buNone/>
            </a:pPr>
            <a:r>
              <a:rPr lang="en-US" sz="2800" b="1" dirty="0">
                <a:solidFill>
                  <a:srgbClr val="070B1C"/>
                </a:solidFill>
                <a:latin typeface="Calibri" pitchFamily="34" charset="0"/>
                <a:ea typeface="Calibri" pitchFamily="34" charset="-122"/>
                <a:cs typeface="Calibri" pitchFamily="34" charset="-120"/>
              </a:rPr>
              <a:t>7 / 16</a:t>
            </a:r>
            <a:endParaRPr lang="en-US" sz="2800" dirty="0"/>
          </a:p>
        </p:txBody>
      </p:sp>
      <p:sp>
        <p:nvSpPr>
          <p:cNvPr id="4" name="Shape 2"/>
          <p:cNvSpPr/>
          <p:nvPr/>
        </p:nvSpPr>
        <p:spPr>
          <a:xfrm>
            <a:off x="0" y="0"/>
            <a:ext cx="164592" cy="6858000"/>
          </a:xfrm>
          <a:prstGeom prst="rect">
            <a:avLst/>
          </a:prstGeom>
          <a:solidFill>
            <a:srgbClr val="F2B632"/>
          </a:solidFill>
          <a:ln/>
        </p:spPr>
      </p:sp>
      <p:sp>
        <p:nvSpPr>
          <p:cNvPr id="5" name="Text 3"/>
          <p:cNvSpPr/>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FD4D4"/>
                </a:solidFill>
                <a:latin typeface="Calibri" pitchFamily="34" charset="0"/>
                <a:ea typeface="Calibri" pitchFamily="34" charset="-122"/>
                <a:cs typeface="Calibri" pitchFamily="34" charset="-120"/>
              </a:rPr>
              <a:t>SLIDE 7 / 16   |   COMPUTE</a:t>
            </a:r>
            <a:endParaRPr lang="en-US" sz="1100" dirty="0"/>
          </a:p>
        </p:txBody>
      </p:sp>
      <p:sp>
        <p:nvSpPr>
          <p:cNvPr id="6" name="Text 4"/>
          <p:cNvSpPr/>
          <p:nvPr/>
        </p:nvSpPr>
        <p:spPr>
          <a:xfrm>
            <a:off x="548640" y="594360"/>
            <a:ext cx="11064240" cy="685800"/>
          </a:xfrm>
          <a:prstGeom prst="rect">
            <a:avLst/>
          </a:prstGeom>
          <a:noFill/>
          <a:ln/>
        </p:spPr>
        <p:txBody>
          <a:bodyPr wrap="square" lIns="0" tIns="0" rIns="0" bIns="0" rtlCol="0" anchor="ctr"/>
          <a:lstStyle/>
          <a:p>
            <a:pPr indent="0" marL="0">
              <a:buNone/>
            </a:pPr>
            <a:r>
              <a:rPr lang="en-US" sz="3000" b="1" dirty="0">
                <a:solidFill>
                  <a:srgbClr val="F4F6FB"/>
                </a:solidFill>
                <a:latin typeface="Calibri" pitchFamily="34" charset="0"/>
                <a:ea typeface="Calibri" pitchFamily="34" charset="-122"/>
                <a:cs typeface="Calibri" pitchFamily="34" charset="-120"/>
              </a:rPr>
              <a:t>Stage 4, Compute: Wolfram exact simulation picks the angles</a:t>
            </a:r>
            <a:endParaRPr lang="en-US" sz="3000" dirty="0"/>
          </a:p>
        </p:txBody>
      </p:sp>
      <p:sp>
        <p:nvSpPr>
          <p:cNvPr id="7" name="Text 5"/>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9AA3BD"/>
                </a:solidFill>
                <a:latin typeface="Calibri" pitchFamily="34" charset="0"/>
                <a:ea typeface="Calibri" pitchFamily="34" charset="-122"/>
                <a:cs typeface="Calibri" pitchFamily="34" charset="-120"/>
              </a:rPr>
              <a:t>MantiQ Factor  |  Antenna tilt with QAOA  |  QUBIT 2026 case study</a:t>
            </a:r>
            <a:endParaRPr lang="en-US" sz="1000" dirty="0"/>
          </a:p>
        </p:txBody>
      </p:sp>
      <p:sp>
        <p:nvSpPr>
          <p:cNvPr id="8" name="Shape 6"/>
          <p:cNvSpPr/>
          <p:nvPr/>
        </p:nvSpPr>
        <p:spPr>
          <a:xfrm>
            <a:off x="8001000" y="6108192"/>
            <a:ext cx="2240280" cy="502920"/>
          </a:xfrm>
          <a:prstGeom prst="roundRect">
            <a:avLst>
              <a:gd name="adj" fmla="val 18182"/>
            </a:avLst>
          </a:prstGeom>
          <a:solidFill>
            <a:srgbClr val="131A3D"/>
          </a:solidFill>
          <a:ln w="12700">
            <a:solidFill>
              <a:srgbClr val="F2B632"/>
            </a:solidFill>
            <a:prstDash val="solid"/>
          </a:ln>
        </p:spPr>
      </p:sp>
      <p:sp>
        <p:nvSpPr>
          <p:cNvPr id="9" name="Text 7"/>
          <p:cNvSpPr/>
          <p:nvPr/>
        </p:nvSpPr>
        <p:spPr>
          <a:xfrm>
            <a:off x="8001000" y="6108192"/>
            <a:ext cx="2240280" cy="502920"/>
          </a:xfrm>
          <a:prstGeom prst="rect">
            <a:avLst/>
          </a:prstGeom>
          <a:noFill/>
          <a:ln/>
        </p:spPr>
        <p:txBody>
          <a:bodyPr wrap="square" lIns="0" tIns="0" rIns="0" bIns="0" rtlCol="0" anchor="ctr"/>
          <a:lstStyle/>
          <a:p>
            <a:pPr algn="ctr" indent="0" marL="0">
              <a:buNone/>
            </a:pPr>
            <a:r>
              <a:rPr lang="en-US" sz="1300" b="1" dirty="0">
                <a:solidFill>
                  <a:srgbClr val="F2B632"/>
                </a:solidFill>
                <a:latin typeface="Calibri" pitchFamily="34" charset="0"/>
                <a:ea typeface="Calibri" pitchFamily="34" charset="-122"/>
                <a:cs typeface="Calibri" pitchFamily="34" charset="-120"/>
              </a:rPr>
              <a:t>STAGE 4  </a:t>
            </a:r>
            <a:pPr algn="ctr" indent="0" marL="0">
              <a:buNone/>
            </a:pPr>
            <a:r>
              <a:rPr lang="en-US" sz="1300" dirty="0">
                <a:solidFill>
                  <a:srgbClr val="F4F6FB"/>
                </a:solidFill>
                <a:latin typeface="Calibri" pitchFamily="34" charset="0"/>
                <a:ea typeface="Calibri" pitchFamily="34" charset="-122"/>
                <a:cs typeface="Calibri" pitchFamily="34" charset="-120"/>
              </a:rPr>
              <a:t>Compute</a:t>
            </a:r>
            <a:endParaRPr lang="en-US" sz="1300" dirty="0"/>
          </a:p>
        </p:txBody>
      </p:sp>
      <p:pic>
        <p:nvPicPr>
          <p:cNvPr id="10" name="Image 0" descr="C:\Projects\mantiq-factor-antenna-tilt\wolfram\img\landscape.png">    </p:cNvPr>
          <p:cNvPicPr>
            <a:picLocks noChangeAspect="1"/>
          </p:cNvPicPr>
          <p:nvPr/>
        </p:nvPicPr>
        <p:blipFill>
          <a:blip r:embed="rId1"/>
          <a:stretch>
            <a:fillRect/>
          </a:stretch>
        </p:blipFill>
        <p:spPr>
          <a:xfrm>
            <a:off x="548640" y="1417320"/>
            <a:ext cx="4206240" cy="4023360"/>
          </a:xfrm>
          <a:prstGeom prst="rect">
            <a:avLst/>
          </a:prstGeom>
        </p:spPr>
      </p:pic>
      <p:sp>
        <p:nvSpPr>
          <p:cNvPr id="11" name="Text 8"/>
          <p:cNvSpPr/>
          <p:nvPr/>
        </p:nvSpPr>
        <p:spPr>
          <a:xfrm>
            <a:off x="548640" y="5486400"/>
            <a:ext cx="4297680" cy="365760"/>
          </a:xfrm>
          <a:prstGeom prst="rect">
            <a:avLst/>
          </a:prstGeom>
          <a:noFill/>
          <a:ln/>
        </p:spPr>
        <p:txBody>
          <a:bodyPr wrap="square" lIns="0" tIns="0" rIns="0" bIns="0" rtlCol="0" anchor="ctr"/>
          <a:lstStyle/>
          <a:p>
            <a:pPr indent="0" marL="0">
              <a:buNone/>
            </a:pPr>
            <a:r>
              <a:rPr lang="en-US" sz="1050" i="1" dirty="0">
                <a:solidFill>
                  <a:srgbClr val="9AA3BD"/>
                </a:solidFill>
                <a:latin typeface="Calibri" pitchFamily="34" charset="0"/>
                <a:ea typeface="Calibri" pitchFamily="34" charset="-122"/>
                <a:cs typeface="Calibri" pitchFamily="34" charset="-120"/>
              </a:rPr>
              <a:t>Expected cost over (gamma, beta) for p = 1, evaluated exactly on the 4096-dimensional state. Minimum marked.</a:t>
            </a:r>
            <a:endParaRPr lang="en-US" sz="1050" dirty="0"/>
          </a:p>
        </p:txBody>
      </p:sp>
      <p:sp>
        <p:nvSpPr>
          <p:cNvPr id="12" name="Text 9"/>
          <p:cNvSpPr/>
          <p:nvPr/>
        </p:nvSpPr>
        <p:spPr>
          <a:xfrm>
            <a:off x="5029200" y="1417320"/>
            <a:ext cx="6766560" cy="3108960"/>
          </a:xfrm>
          <a:prstGeom prst="rect">
            <a:avLst/>
          </a:prstGeom>
          <a:noFill/>
          <a:ln/>
        </p:spPr>
        <p:txBody>
          <a:bodyPr wrap="square" lIns="635" tIns="635" rIns="635" bIns="635" rtlCol="0" anchor="t"/>
          <a:lstStyle/>
          <a:p>
            <a:pPr marL="342900" indent="-342900">
              <a:spcAft>
                <a:spcPts val="600"/>
              </a:spcAft>
              <a:buSzPct val="100000"/>
              <a:buChar char="▸"/>
            </a:pPr>
            <a:r>
              <a:rPr lang="en-US" sz="1400" dirty="0">
                <a:solidFill>
                  <a:srgbClr val="F4F6FB"/>
                </a:solidFill>
                <a:latin typeface="Calibri" pitchFamily="34" charset="0"/>
                <a:ea typeface="Calibri" pitchFamily="34" charset="-122"/>
                <a:cs typeface="Calibri" pitchFamily="34" charset="-120"/>
              </a:rPr>
              <a:t>wolfram/wolfram_realdataset_algorithms.wl builds H_C from the same JSON, applies exp(-i gamma H_C) and the RX mixer as dense matrices, no sampling noise</a:t>
            </a:r>
            <a:endParaRPr lang="en-US" sz="1400" dirty="0"/>
          </a:p>
          <a:p>
            <a:pPr marL="342900" indent="-342900">
              <a:spcAft>
                <a:spcPts val="600"/>
              </a:spcAft>
              <a:buSzPct val="100000"/>
              <a:buChar char="▸"/>
            </a:pPr>
            <a:r>
              <a:rPr lang="en-US" sz="1400" dirty="0">
                <a:solidFill>
                  <a:srgbClr val="F4F6FB"/>
                </a:solidFill>
                <a:latin typeface="Calibri" pitchFamily="34" charset="0"/>
                <a:ea typeface="Calibri" pitchFamily="34" charset="-122"/>
                <a:cs typeface="Calibri" pitchFamily="34" charset="-120"/>
              </a:rPr>
              <a:t>p = 1 optimum: gamma = 0.0654, beta = 1.1293, giving &lt;Cost&gt; = 1.9985, P(cost &lt; 0) = 0.53, P(optimum) = 0.0066 (27x uniform)</a:t>
            </a:r>
            <a:endParaRPr lang="en-US" sz="1400" dirty="0"/>
          </a:p>
          <a:p>
            <a:pPr marL="342900" indent="-342900">
              <a:spcAft>
                <a:spcPts val="600"/>
              </a:spcAft>
              <a:buSzPct val="100000"/>
              <a:buChar char="▸"/>
            </a:pPr>
            <a:r>
              <a:rPr lang="en-US" sz="1400" dirty="0">
                <a:solidFill>
                  <a:srgbClr val="F4F6FB"/>
                </a:solidFill>
                <a:latin typeface="Calibri" pitchFamily="34" charset="0"/>
                <a:ea typeface="Calibri" pitchFamily="34" charset="-122"/>
                <a:cs typeface="Calibri" pitchFamily="34" charset="-120"/>
              </a:rPr>
              <a:t>p = 2 optimum: &lt;Cost&gt; = -0.3825, P(cost &lt; 0) = 0.67</a:t>
            </a:r>
            <a:endParaRPr lang="en-US" sz="1400" dirty="0"/>
          </a:p>
          <a:p>
            <a:pPr marL="342900" indent="-342900">
              <a:spcAft>
                <a:spcPts val="600"/>
              </a:spcAft>
              <a:buSzPct val="100000"/>
              <a:buChar char="▸"/>
            </a:pPr>
            <a:r>
              <a:rPr lang="en-US" sz="1400" dirty="0">
                <a:solidFill>
                  <a:srgbClr val="F4F6FB"/>
                </a:solidFill>
                <a:latin typeface="Calibri" pitchFamily="34" charset="0"/>
                <a:ea typeface="Calibri" pitchFamily="34" charset="-122"/>
                <a:cs typeface="Calibri" pitchFamily="34" charset="-120"/>
              </a:rPr>
              <a:t>Also compared: VQE, Grover-style amplification and plain uniform sampling on the same cost table</a:t>
            </a:r>
            <a:endParaRPr lang="en-US" sz="1400" dirty="0"/>
          </a:p>
          <a:p>
            <a:pPr marL="342900" indent="-342900">
              <a:spcAft>
                <a:spcPts val="600"/>
              </a:spcAft>
              <a:buSzPct val="100000"/>
              <a:buChar char="▸"/>
            </a:pPr>
            <a:r>
              <a:rPr lang="en-US" sz="1400" dirty="0">
                <a:solidFill>
                  <a:srgbClr val="F4F6FB"/>
                </a:solidFill>
                <a:latin typeface="Calibri" pitchFamily="34" charset="0"/>
                <a:ea typeface="Calibri" pitchFamily="34" charset="-122"/>
                <a:cs typeface="Calibri" pitchFamily="34" charset="-120"/>
              </a:rPr>
              <a:t>The angles are written to wolfram_realdataset_algorithms.json: this is the hot start the Classiq circuit later uses</a:t>
            </a:r>
            <a:endParaRPr lang="en-US" sz="1400" dirty="0"/>
          </a:p>
        </p:txBody>
      </p:sp>
      <p:sp>
        <p:nvSpPr>
          <p:cNvPr id="13" name="Shape 10"/>
          <p:cNvSpPr/>
          <p:nvPr/>
        </p:nvSpPr>
        <p:spPr>
          <a:xfrm>
            <a:off x="5029200" y="4617720"/>
            <a:ext cx="2148840" cy="1234440"/>
          </a:xfrm>
          <a:prstGeom prst="roundRect">
            <a:avLst>
              <a:gd name="adj" fmla="val 5926"/>
            </a:avLst>
          </a:prstGeom>
          <a:solidFill>
            <a:srgbClr val="0D1330"/>
          </a:solidFill>
          <a:ln w="12700">
            <a:solidFill>
              <a:srgbClr val="0D1330"/>
            </a:solidFill>
            <a:prstDash val="solid"/>
          </a:ln>
        </p:spPr>
      </p:sp>
      <p:sp>
        <p:nvSpPr>
          <p:cNvPr id="14" name="Text 11"/>
          <p:cNvSpPr/>
          <p:nvPr/>
        </p:nvSpPr>
        <p:spPr>
          <a:xfrm>
            <a:off x="5029200" y="4727448"/>
            <a:ext cx="2148840" cy="640080"/>
          </a:xfrm>
          <a:prstGeom prst="rect">
            <a:avLst/>
          </a:prstGeom>
          <a:noFill/>
          <a:ln/>
        </p:spPr>
        <p:txBody>
          <a:bodyPr wrap="square" lIns="0" tIns="0" rIns="0" bIns="0" rtlCol="0" anchor="ctr"/>
          <a:lstStyle/>
          <a:p>
            <a:pPr algn="ctr" indent="0" marL="0">
              <a:buNone/>
            </a:pPr>
            <a:r>
              <a:rPr lang="en-US" sz="2800" b="1" dirty="0">
                <a:solidFill>
                  <a:srgbClr val="2FD4D4"/>
                </a:solidFill>
                <a:latin typeface="Calibri" pitchFamily="34" charset="0"/>
                <a:ea typeface="Calibri" pitchFamily="34" charset="-122"/>
                <a:cs typeface="Calibri" pitchFamily="34" charset="-120"/>
              </a:rPr>
              <a:t>1.9985</a:t>
            </a:r>
            <a:endParaRPr lang="en-US" sz="2800" dirty="0"/>
          </a:p>
        </p:txBody>
      </p:sp>
      <p:sp>
        <p:nvSpPr>
          <p:cNvPr id="15" name="Text 12"/>
          <p:cNvSpPr/>
          <p:nvPr/>
        </p:nvSpPr>
        <p:spPr>
          <a:xfrm>
            <a:off x="5120640" y="5349240"/>
            <a:ext cx="1965960" cy="457200"/>
          </a:xfrm>
          <a:prstGeom prst="rect">
            <a:avLst/>
          </a:prstGeom>
          <a:noFill/>
          <a:ln/>
        </p:spPr>
        <p:txBody>
          <a:bodyPr wrap="square" lIns="0" tIns="0" rIns="0" bIns="0" rtlCol="0" anchor="ctr"/>
          <a:lstStyle/>
          <a:p>
            <a:pPr algn="ctr" indent="0" marL="0">
              <a:buNone/>
            </a:pPr>
            <a:r>
              <a:rPr lang="en-US" sz="1100" dirty="0">
                <a:solidFill>
                  <a:srgbClr val="9AA3BD"/>
                </a:solidFill>
                <a:latin typeface="Calibri" pitchFamily="34" charset="0"/>
                <a:ea typeface="Calibri" pitchFamily="34" charset="-122"/>
                <a:cs typeface="Calibri" pitchFamily="34" charset="-120"/>
              </a:rPr>
              <a:t>predicted &lt;Cost&gt;, p=1</a:t>
            </a:r>
            <a:endParaRPr lang="en-US" sz="1100" dirty="0"/>
          </a:p>
        </p:txBody>
      </p:sp>
      <p:sp>
        <p:nvSpPr>
          <p:cNvPr id="16" name="Shape 13"/>
          <p:cNvSpPr/>
          <p:nvPr/>
        </p:nvSpPr>
        <p:spPr>
          <a:xfrm>
            <a:off x="7315200" y="4617720"/>
            <a:ext cx="2148840" cy="1234440"/>
          </a:xfrm>
          <a:prstGeom prst="roundRect">
            <a:avLst>
              <a:gd name="adj" fmla="val 5926"/>
            </a:avLst>
          </a:prstGeom>
          <a:solidFill>
            <a:srgbClr val="0D1330"/>
          </a:solidFill>
          <a:ln w="12700">
            <a:solidFill>
              <a:srgbClr val="0D1330"/>
            </a:solidFill>
            <a:prstDash val="solid"/>
          </a:ln>
        </p:spPr>
      </p:sp>
      <p:sp>
        <p:nvSpPr>
          <p:cNvPr id="17" name="Text 14"/>
          <p:cNvSpPr/>
          <p:nvPr/>
        </p:nvSpPr>
        <p:spPr>
          <a:xfrm>
            <a:off x="7315200" y="4727448"/>
            <a:ext cx="2148840" cy="640080"/>
          </a:xfrm>
          <a:prstGeom prst="rect">
            <a:avLst/>
          </a:prstGeom>
          <a:noFill/>
          <a:ln/>
        </p:spPr>
        <p:txBody>
          <a:bodyPr wrap="square" lIns="0" tIns="0" rIns="0" bIns="0" rtlCol="0" anchor="ctr"/>
          <a:lstStyle/>
          <a:p>
            <a:pPr algn="ctr" indent="0" marL="0">
              <a:buNone/>
            </a:pPr>
            <a:r>
              <a:rPr lang="en-US" sz="2800" b="1" dirty="0">
                <a:solidFill>
                  <a:srgbClr val="2FD4D4"/>
                </a:solidFill>
                <a:latin typeface="Calibri" pitchFamily="34" charset="0"/>
                <a:ea typeface="Calibri" pitchFamily="34" charset="-122"/>
                <a:cs typeface="Calibri" pitchFamily="34" charset="-120"/>
              </a:rPr>
              <a:t>0.53</a:t>
            </a:r>
            <a:endParaRPr lang="en-US" sz="2800" dirty="0"/>
          </a:p>
        </p:txBody>
      </p:sp>
      <p:sp>
        <p:nvSpPr>
          <p:cNvPr id="18" name="Text 15"/>
          <p:cNvSpPr/>
          <p:nvPr/>
        </p:nvSpPr>
        <p:spPr>
          <a:xfrm>
            <a:off x="7406640" y="5349240"/>
            <a:ext cx="1965960" cy="457200"/>
          </a:xfrm>
          <a:prstGeom prst="rect">
            <a:avLst/>
          </a:prstGeom>
          <a:noFill/>
          <a:ln/>
        </p:spPr>
        <p:txBody>
          <a:bodyPr wrap="square" lIns="0" tIns="0" rIns="0" bIns="0" rtlCol="0" anchor="ctr"/>
          <a:lstStyle/>
          <a:p>
            <a:pPr algn="ctr" indent="0" marL="0">
              <a:buNone/>
            </a:pPr>
            <a:r>
              <a:rPr lang="en-US" sz="1100" dirty="0">
                <a:solidFill>
                  <a:srgbClr val="9AA3BD"/>
                </a:solidFill>
                <a:latin typeface="Calibri" pitchFamily="34" charset="0"/>
                <a:ea typeface="Calibri" pitchFamily="34" charset="-122"/>
                <a:cs typeface="Calibri" pitchFamily="34" charset="-120"/>
              </a:rPr>
              <a:t>P(cost &lt; 0), p=1</a:t>
            </a:r>
            <a:endParaRPr lang="en-US" sz="1100" dirty="0"/>
          </a:p>
        </p:txBody>
      </p:sp>
      <p:sp>
        <p:nvSpPr>
          <p:cNvPr id="19" name="Shape 16"/>
          <p:cNvSpPr/>
          <p:nvPr/>
        </p:nvSpPr>
        <p:spPr>
          <a:xfrm>
            <a:off x="9601200" y="4617720"/>
            <a:ext cx="2194560" cy="1234440"/>
          </a:xfrm>
          <a:prstGeom prst="roundRect">
            <a:avLst>
              <a:gd name="adj" fmla="val 5926"/>
            </a:avLst>
          </a:prstGeom>
          <a:solidFill>
            <a:srgbClr val="0D1330"/>
          </a:solidFill>
          <a:ln w="12700">
            <a:solidFill>
              <a:srgbClr val="0D1330"/>
            </a:solidFill>
            <a:prstDash val="solid"/>
          </a:ln>
        </p:spPr>
      </p:sp>
      <p:sp>
        <p:nvSpPr>
          <p:cNvPr id="20" name="Text 17"/>
          <p:cNvSpPr/>
          <p:nvPr/>
        </p:nvSpPr>
        <p:spPr>
          <a:xfrm>
            <a:off x="9601200" y="4727448"/>
            <a:ext cx="2194560" cy="640080"/>
          </a:xfrm>
          <a:prstGeom prst="rect">
            <a:avLst/>
          </a:prstGeom>
          <a:noFill/>
          <a:ln/>
        </p:spPr>
        <p:txBody>
          <a:bodyPr wrap="square" lIns="0" tIns="0" rIns="0" bIns="0" rtlCol="0" anchor="ctr"/>
          <a:lstStyle/>
          <a:p>
            <a:pPr algn="ctr" indent="0" marL="0">
              <a:buNone/>
            </a:pPr>
            <a:r>
              <a:rPr lang="en-US" sz="2800" b="1" dirty="0">
                <a:solidFill>
                  <a:srgbClr val="F2B632"/>
                </a:solidFill>
                <a:latin typeface="Calibri" pitchFamily="34" charset="0"/>
                <a:ea typeface="Calibri" pitchFamily="34" charset="-122"/>
                <a:cs typeface="Calibri" pitchFamily="34" charset="-120"/>
              </a:rPr>
              <a:t>27x</a:t>
            </a:r>
            <a:endParaRPr lang="en-US" sz="2800" dirty="0"/>
          </a:p>
        </p:txBody>
      </p:sp>
      <p:sp>
        <p:nvSpPr>
          <p:cNvPr id="21" name="Text 18"/>
          <p:cNvSpPr/>
          <p:nvPr/>
        </p:nvSpPr>
        <p:spPr>
          <a:xfrm>
            <a:off x="9692640" y="5349240"/>
            <a:ext cx="2011680" cy="457200"/>
          </a:xfrm>
          <a:prstGeom prst="rect">
            <a:avLst/>
          </a:prstGeom>
          <a:noFill/>
          <a:ln/>
        </p:spPr>
        <p:txBody>
          <a:bodyPr wrap="square" lIns="0" tIns="0" rIns="0" bIns="0" rtlCol="0" anchor="ctr"/>
          <a:lstStyle/>
          <a:p>
            <a:pPr algn="ctr" indent="0" marL="0">
              <a:buNone/>
            </a:pPr>
            <a:r>
              <a:rPr lang="en-US" sz="1100" dirty="0">
                <a:solidFill>
                  <a:srgbClr val="9AA3BD"/>
                </a:solidFill>
                <a:latin typeface="Calibri" pitchFamily="34" charset="0"/>
                <a:ea typeface="Calibri" pitchFamily="34" charset="-122"/>
                <a:cs typeface="Calibri" pitchFamily="34" charset="-120"/>
              </a:rPr>
              <a:t>P(optimum) vs uniform</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0B1C"/>
        </a:solidFill>
      </p:bgPr>
    </p:bg>
    <p:spTree>
      <p:nvGrpSpPr>
        <p:cNvPr id="1" name=""/>
        <p:cNvGrpSpPr/>
        <p:nvPr/>
      </p:nvGrpSpPr>
      <p:grpSpPr>
        <a:xfrm>
          <a:off x="0" y="0"/>
          <a:ext cx="0" cy="0"/>
          <a:chOff x="0" y="0"/>
          <a:chExt cx="0" cy="0"/>
        </a:xfrm>
      </p:grpSpPr>
      <p:sp>
        <p:nvSpPr>
          <p:cNvPr id="2" name="Shape 0"/>
          <p:cNvSpPr/>
          <p:nvPr/>
        </p:nvSpPr>
        <p:spPr>
          <a:xfrm>
            <a:off x="10378440" y="6035040"/>
            <a:ext cx="1600200" cy="640080"/>
          </a:xfrm>
          <a:prstGeom prst="roundRect">
            <a:avLst>
              <a:gd name="adj" fmla="val 14286"/>
            </a:avLst>
          </a:prstGeom>
          <a:solidFill>
            <a:srgbClr val="F2B632"/>
          </a:solidFill>
          <a:ln w="12700">
            <a:solidFill>
              <a:srgbClr val="F2B632"/>
            </a:solidFill>
            <a:prstDash val="solid"/>
          </a:ln>
        </p:spPr>
      </p:sp>
      <p:sp>
        <p:nvSpPr>
          <p:cNvPr id="3" name="Text 1"/>
          <p:cNvSpPr/>
          <p:nvPr/>
        </p:nvSpPr>
        <p:spPr>
          <a:xfrm>
            <a:off x="10378440" y="6035040"/>
            <a:ext cx="1600200" cy="640080"/>
          </a:xfrm>
          <a:prstGeom prst="rect">
            <a:avLst/>
          </a:prstGeom>
          <a:noFill/>
          <a:ln/>
        </p:spPr>
        <p:txBody>
          <a:bodyPr wrap="square" lIns="0" tIns="0" rIns="0" bIns="0" rtlCol="0" anchor="ctr"/>
          <a:lstStyle/>
          <a:p>
            <a:pPr algn="ctr" indent="0" marL="0">
              <a:buNone/>
            </a:pPr>
            <a:r>
              <a:rPr lang="en-US" sz="2800" b="1" dirty="0">
                <a:solidFill>
                  <a:srgbClr val="070B1C"/>
                </a:solidFill>
                <a:latin typeface="Calibri" pitchFamily="34" charset="0"/>
                <a:ea typeface="Calibri" pitchFamily="34" charset="-122"/>
                <a:cs typeface="Calibri" pitchFamily="34" charset="-120"/>
              </a:rPr>
              <a:t>8 / 16</a:t>
            </a:r>
            <a:endParaRPr lang="en-US" sz="2800" dirty="0"/>
          </a:p>
        </p:txBody>
      </p:sp>
      <p:sp>
        <p:nvSpPr>
          <p:cNvPr id="4" name="Shape 2"/>
          <p:cNvSpPr/>
          <p:nvPr/>
        </p:nvSpPr>
        <p:spPr>
          <a:xfrm>
            <a:off x="0" y="0"/>
            <a:ext cx="164592" cy="6858000"/>
          </a:xfrm>
          <a:prstGeom prst="rect">
            <a:avLst/>
          </a:prstGeom>
          <a:solidFill>
            <a:srgbClr val="F2B632"/>
          </a:solidFill>
          <a:ln/>
        </p:spPr>
      </p:sp>
      <p:sp>
        <p:nvSpPr>
          <p:cNvPr id="5" name="Text 3"/>
          <p:cNvSpPr/>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FD4D4"/>
                </a:solidFill>
                <a:latin typeface="Calibri" pitchFamily="34" charset="0"/>
                <a:ea typeface="Calibri" pitchFamily="34" charset="-122"/>
                <a:cs typeface="Calibri" pitchFamily="34" charset="-120"/>
              </a:rPr>
              <a:t>SLIDE 8 / 16   |   COMPUTE</a:t>
            </a:r>
            <a:endParaRPr lang="en-US" sz="1100" dirty="0"/>
          </a:p>
        </p:txBody>
      </p:sp>
      <p:sp>
        <p:nvSpPr>
          <p:cNvPr id="6" name="Text 4"/>
          <p:cNvSpPr/>
          <p:nvPr/>
        </p:nvSpPr>
        <p:spPr>
          <a:xfrm>
            <a:off x="548640" y="594360"/>
            <a:ext cx="11064240" cy="685800"/>
          </a:xfrm>
          <a:prstGeom prst="rect">
            <a:avLst/>
          </a:prstGeom>
          <a:noFill/>
          <a:ln/>
        </p:spPr>
        <p:txBody>
          <a:bodyPr wrap="square" lIns="0" tIns="0" rIns="0" bIns="0" rtlCol="0" anchor="ctr"/>
          <a:lstStyle/>
          <a:p>
            <a:pPr indent="0" marL="0">
              <a:buNone/>
            </a:pPr>
            <a:r>
              <a:rPr lang="en-US" sz="3000" b="1" dirty="0">
                <a:solidFill>
                  <a:srgbClr val="F4F6FB"/>
                </a:solidFill>
                <a:latin typeface="Calibri" pitchFamily="34" charset="0"/>
                <a:ea typeface="Calibri" pitchFamily="34" charset="-122"/>
                <a:cs typeface="Calibri" pitchFamily="34" charset="-120"/>
              </a:rPr>
              <a:t>Stage 4, Compute: what the quantum gain is worth in shots</a:t>
            </a:r>
            <a:endParaRPr lang="en-US" sz="3000" dirty="0"/>
          </a:p>
        </p:txBody>
      </p:sp>
      <p:sp>
        <p:nvSpPr>
          <p:cNvPr id="7" name="Text 5"/>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9AA3BD"/>
                </a:solidFill>
                <a:latin typeface="Calibri" pitchFamily="34" charset="0"/>
                <a:ea typeface="Calibri" pitchFamily="34" charset="-122"/>
                <a:cs typeface="Calibri" pitchFamily="34" charset="-120"/>
              </a:rPr>
              <a:t>MantiQ Factor  |  Antenna tilt with QAOA  |  QUBIT 2026 case study</a:t>
            </a:r>
            <a:endParaRPr lang="en-US" sz="1000" dirty="0"/>
          </a:p>
        </p:txBody>
      </p:sp>
      <p:sp>
        <p:nvSpPr>
          <p:cNvPr id="8" name="Shape 6"/>
          <p:cNvSpPr/>
          <p:nvPr/>
        </p:nvSpPr>
        <p:spPr>
          <a:xfrm>
            <a:off x="8001000" y="6108192"/>
            <a:ext cx="2240280" cy="502920"/>
          </a:xfrm>
          <a:prstGeom prst="roundRect">
            <a:avLst>
              <a:gd name="adj" fmla="val 18182"/>
            </a:avLst>
          </a:prstGeom>
          <a:solidFill>
            <a:srgbClr val="131A3D"/>
          </a:solidFill>
          <a:ln w="12700">
            <a:solidFill>
              <a:srgbClr val="F2B632"/>
            </a:solidFill>
            <a:prstDash val="solid"/>
          </a:ln>
        </p:spPr>
      </p:sp>
      <p:sp>
        <p:nvSpPr>
          <p:cNvPr id="9" name="Text 7"/>
          <p:cNvSpPr/>
          <p:nvPr/>
        </p:nvSpPr>
        <p:spPr>
          <a:xfrm>
            <a:off x="8001000" y="6108192"/>
            <a:ext cx="2240280" cy="502920"/>
          </a:xfrm>
          <a:prstGeom prst="rect">
            <a:avLst/>
          </a:prstGeom>
          <a:noFill/>
          <a:ln/>
        </p:spPr>
        <p:txBody>
          <a:bodyPr wrap="square" lIns="0" tIns="0" rIns="0" bIns="0" rtlCol="0" anchor="ctr"/>
          <a:lstStyle/>
          <a:p>
            <a:pPr algn="ctr" indent="0" marL="0">
              <a:buNone/>
            </a:pPr>
            <a:r>
              <a:rPr lang="en-US" sz="1300" b="1" dirty="0">
                <a:solidFill>
                  <a:srgbClr val="F2B632"/>
                </a:solidFill>
                <a:latin typeface="Calibri" pitchFamily="34" charset="0"/>
                <a:ea typeface="Calibri" pitchFamily="34" charset="-122"/>
                <a:cs typeface="Calibri" pitchFamily="34" charset="-120"/>
              </a:rPr>
              <a:t>STAGE 4  </a:t>
            </a:r>
            <a:pPr algn="ctr" indent="0" marL="0">
              <a:buNone/>
            </a:pPr>
            <a:r>
              <a:rPr lang="en-US" sz="1300" dirty="0">
                <a:solidFill>
                  <a:srgbClr val="F4F6FB"/>
                </a:solidFill>
                <a:latin typeface="Calibri" pitchFamily="34" charset="0"/>
                <a:ea typeface="Calibri" pitchFamily="34" charset="-122"/>
                <a:cs typeface="Calibri" pitchFamily="34" charset="-120"/>
              </a:rPr>
              <a:t>Compute</a:t>
            </a:r>
            <a:endParaRPr lang="en-US" sz="1300" dirty="0"/>
          </a:p>
        </p:txBody>
      </p:sp>
      <p:pic>
        <p:nvPicPr>
          <p:cNvPr id="10" name="Image 0" descr="C:\Projects\mantiq-factor-antenna-tilt\charts\quantum_gain.png">    </p:cNvPr>
          <p:cNvPicPr>
            <a:picLocks noChangeAspect="1"/>
          </p:cNvPicPr>
          <p:nvPr/>
        </p:nvPicPr>
        <p:blipFill>
          <a:blip r:embed="rId1"/>
          <a:stretch>
            <a:fillRect/>
          </a:stretch>
        </p:blipFill>
        <p:spPr>
          <a:xfrm>
            <a:off x="548640" y="1417320"/>
            <a:ext cx="6035040" cy="3383280"/>
          </a:xfrm>
          <a:prstGeom prst="rect">
            <a:avLst/>
          </a:prstGeom>
        </p:spPr>
      </p:pic>
      <p:sp>
        <p:nvSpPr>
          <p:cNvPr id="11" name="Text 8"/>
          <p:cNvSpPr/>
          <p:nvPr/>
        </p:nvSpPr>
        <p:spPr>
          <a:xfrm>
            <a:off x="548640" y="4846320"/>
            <a:ext cx="6126480" cy="365760"/>
          </a:xfrm>
          <a:prstGeom prst="rect">
            <a:avLst/>
          </a:prstGeom>
          <a:noFill/>
          <a:ln/>
        </p:spPr>
        <p:txBody>
          <a:bodyPr wrap="square" lIns="0" tIns="0" rIns="0" bIns="0" rtlCol="0" anchor="ctr"/>
          <a:lstStyle/>
          <a:p>
            <a:pPr indent="0" marL="0">
              <a:buNone/>
            </a:pPr>
            <a:r>
              <a:rPr lang="en-US" sz="1050" i="1" dirty="0">
                <a:solidFill>
                  <a:srgbClr val="9AA3BD"/>
                </a:solidFill>
                <a:latin typeface="Calibri" pitchFamily="34" charset="0"/>
                <a:ea typeface="Calibri" pitchFamily="34" charset="-122"/>
                <a:cs typeface="Calibri" pitchFamily="34" charset="-120"/>
              </a:rPr>
              <a:t>charts/quantum_gain.png: probability of the optimum and of a negative-cost plan, uniform vs QAOA p=1 and p=2.</a:t>
            </a:r>
            <a:endParaRPr lang="en-US" sz="1050" dirty="0"/>
          </a:p>
        </p:txBody>
      </p:sp>
      <p:pic>
        <p:nvPicPr>
          <p:cNvPr id="12" name="Image 1" descr="C:\Projects\mantiq-factor-antenna-tilt\wolfram\img\shots.png">    </p:cNvPr>
          <p:cNvPicPr>
            <a:picLocks noChangeAspect="1"/>
          </p:cNvPicPr>
          <p:nvPr/>
        </p:nvPicPr>
        <p:blipFill>
          <a:blip r:embed="rId2"/>
          <a:stretch>
            <a:fillRect/>
          </a:stretch>
        </p:blipFill>
        <p:spPr>
          <a:xfrm>
            <a:off x="6766560" y="1417320"/>
            <a:ext cx="5029200" cy="2423160"/>
          </a:xfrm>
          <a:prstGeom prst="rect">
            <a:avLst/>
          </a:prstGeom>
        </p:spPr>
      </p:pic>
      <p:sp>
        <p:nvSpPr>
          <p:cNvPr id="13" name="Text 9"/>
          <p:cNvSpPr/>
          <p:nvPr/>
        </p:nvSpPr>
        <p:spPr>
          <a:xfrm>
            <a:off x="6766560" y="3886200"/>
            <a:ext cx="5029200" cy="365760"/>
          </a:xfrm>
          <a:prstGeom prst="rect">
            <a:avLst/>
          </a:prstGeom>
          <a:noFill/>
          <a:ln/>
        </p:spPr>
        <p:txBody>
          <a:bodyPr wrap="square" lIns="0" tIns="0" rIns="0" bIns="0" rtlCol="0" anchor="ctr"/>
          <a:lstStyle/>
          <a:p>
            <a:pPr indent="0" marL="0">
              <a:buNone/>
            </a:pPr>
            <a:r>
              <a:rPr lang="en-US" sz="1050" i="1" dirty="0">
                <a:solidFill>
                  <a:srgbClr val="9AA3BD"/>
                </a:solidFill>
                <a:latin typeface="Calibri" pitchFamily="34" charset="0"/>
                <a:ea typeface="Calibri" pitchFamily="34" charset="-122"/>
                <a:cs typeface="Calibri" pitchFamily="34" charset="-120"/>
              </a:rPr>
              <a:t>Shots needed for a 95% chance of sampling the optimum at least once.</a:t>
            </a:r>
            <a:endParaRPr lang="en-US" sz="10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766560" y="4297680"/>
          <a:ext cx="5029200" cy="914400"/>
        </p:xfrm>
        <a:graphic>
          <a:graphicData uri="http://schemas.openxmlformats.org/drawingml/2006/table">
            <a:tbl>
              <a:tblPr/>
              <a:tblGrid>
                <a:gridCol w="1920240"/>
                <a:gridCol w="1371600"/>
                <a:gridCol w="1737360"/>
              </a:tblGrid>
              <a:tr h="365760">
                <a:tc>
                  <a:txBody>
                    <a:bodyPr/>
                    <a:lstStyle/>
                    <a:p>
                      <a:pPr indent="0" marL="0">
                        <a:buNone/>
                      </a:pPr>
                      <a:r>
                        <a:rPr lang="en-US" sz="1200" b="1" dirty="0">
                          <a:solidFill>
                            <a:srgbClr val="F2B632"/>
                          </a:solidFill>
                          <a:latin typeface="Calibri" pitchFamily="34" charset="0"/>
                          <a:ea typeface="Calibri" pitchFamily="34" charset="-122"/>
                          <a:cs typeface="Calibri" pitchFamily="34" charset="-120"/>
                        </a:rPr>
                        <a:t>sampler</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131A3D"/>
                    </a:solidFill>
                  </a:tcPr>
                </a:tc>
                <a:tc>
                  <a:txBody>
                    <a:bodyPr/>
                    <a:lstStyle/>
                    <a:p>
                      <a:pPr indent="0" marL="0">
                        <a:buNone/>
                      </a:pPr>
                      <a:r>
                        <a:rPr lang="en-US" sz="1200" b="1" dirty="0">
                          <a:solidFill>
                            <a:srgbClr val="F2B632"/>
                          </a:solidFill>
                          <a:latin typeface="Calibri" pitchFamily="34" charset="0"/>
                          <a:ea typeface="Calibri" pitchFamily="34" charset="-122"/>
                          <a:cs typeface="Calibri" pitchFamily="34" charset="-120"/>
                        </a:rPr>
                        <a:t>P(opt)</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131A3D"/>
                    </a:solidFill>
                  </a:tcPr>
                </a:tc>
                <a:tc>
                  <a:txBody>
                    <a:bodyPr/>
                    <a:lstStyle/>
                    <a:p>
                      <a:pPr indent="0" marL="0">
                        <a:buNone/>
                      </a:pPr>
                      <a:r>
                        <a:rPr lang="en-US" sz="1200" b="1" dirty="0">
                          <a:solidFill>
                            <a:srgbClr val="F2B632"/>
                          </a:solidFill>
                          <a:latin typeface="Calibri" pitchFamily="34" charset="0"/>
                          <a:ea typeface="Calibri" pitchFamily="34" charset="-122"/>
                          <a:cs typeface="Calibri" pitchFamily="34" charset="-120"/>
                        </a:rPr>
                        <a:t>shots for 95%</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131A3D"/>
                    </a:solidFill>
                  </a:tcPr>
                </a:tc>
              </a:tr>
              <a:tr h="365760">
                <a:tc>
                  <a:txBody>
                    <a:bodyPr/>
                    <a:lstStyle/>
                    <a:p>
                      <a:pPr indent="0" marL="0">
                        <a:buNone/>
                      </a:pPr>
                      <a:r>
                        <a:rPr lang="en-US" sz="1200" dirty="0">
                          <a:solidFill>
                            <a:srgbClr val="F4F6FB"/>
                          </a:solidFill>
                          <a:latin typeface="Calibri" pitchFamily="34" charset="0"/>
                          <a:ea typeface="Calibri" pitchFamily="34" charset="-122"/>
                          <a:cs typeface="Calibri" pitchFamily="34" charset="-120"/>
                        </a:rPr>
                        <a:t>uniform</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c>
                  <a:txBody>
                    <a:bodyPr/>
                    <a:lstStyle/>
                    <a:p>
                      <a:pPr indent="0" marL="0">
                        <a:buNone/>
                      </a:pPr>
                      <a:r>
                        <a:rPr lang="en-US" sz="1200" dirty="0">
                          <a:solidFill>
                            <a:srgbClr val="F4F6FB"/>
                          </a:solidFill>
                          <a:latin typeface="Calibri" pitchFamily="34" charset="0"/>
                          <a:ea typeface="Calibri" pitchFamily="34" charset="-122"/>
                          <a:cs typeface="Calibri" pitchFamily="34" charset="-120"/>
                        </a:rPr>
                        <a:t>1/4096</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c>
                  <a:txBody>
                    <a:bodyPr/>
                    <a:lstStyle/>
                    <a:p>
                      <a:pPr indent="0" marL="0">
                        <a:buNone/>
                      </a:pPr>
                      <a:r>
                        <a:rPr lang="en-US" sz="1200" dirty="0">
                          <a:solidFill>
                            <a:srgbClr val="F4F6FB"/>
                          </a:solidFill>
                          <a:latin typeface="Calibri" pitchFamily="34" charset="0"/>
                          <a:ea typeface="Calibri" pitchFamily="34" charset="-122"/>
                          <a:cs typeface="Calibri" pitchFamily="34" charset="-120"/>
                        </a:rPr>
                        <a:t>12,270</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r>
              <a:tr h="365760">
                <a:tc>
                  <a:txBody>
                    <a:bodyPr/>
                    <a:lstStyle/>
                    <a:p>
                      <a:pPr indent="0" marL="0">
                        <a:buNone/>
                      </a:pPr>
                      <a:r>
                        <a:rPr lang="en-US" sz="1200" dirty="0">
                          <a:solidFill>
                            <a:srgbClr val="F4F6FB"/>
                          </a:solidFill>
                          <a:latin typeface="Calibri" pitchFamily="34" charset="0"/>
                          <a:ea typeface="Calibri" pitchFamily="34" charset="-122"/>
                          <a:cs typeface="Calibri" pitchFamily="34" charset="-120"/>
                        </a:rPr>
                        <a:t>QAOA p = 1</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c>
                  <a:txBody>
                    <a:bodyPr/>
                    <a:lstStyle/>
                    <a:p>
                      <a:pPr indent="0" marL="0">
                        <a:buNone/>
                      </a:pPr>
                      <a:r>
                        <a:rPr lang="en-US" sz="1200" dirty="0">
                          <a:solidFill>
                            <a:srgbClr val="F4F6FB"/>
                          </a:solidFill>
                          <a:latin typeface="Calibri" pitchFamily="34" charset="0"/>
                          <a:ea typeface="Calibri" pitchFamily="34" charset="-122"/>
                          <a:cs typeface="Calibri" pitchFamily="34" charset="-120"/>
                        </a:rPr>
                        <a:t>0.0066</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c>
                  <a:txBody>
                    <a:bodyPr/>
                    <a:lstStyle/>
                    <a:p>
                      <a:pPr indent="0" marL="0">
                        <a:buNone/>
                      </a:pPr>
                      <a:r>
                        <a:rPr lang="en-US" sz="1200" dirty="0">
                          <a:solidFill>
                            <a:srgbClr val="F4F6FB"/>
                          </a:solidFill>
                          <a:latin typeface="Calibri" pitchFamily="34" charset="0"/>
                          <a:ea typeface="Calibri" pitchFamily="34" charset="-122"/>
                          <a:cs typeface="Calibri" pitchFamily="34" charset="-120"/>
                        </a:rPr>
                        <a:t>about 450</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r>
              <a:tr h="365760">
                <a:tc>
                  <a:txBody>
                    <a:bodyPr/>
                    <a:lstStyle/>
                    <a:p>
                      <a:pPr indent="0" marL="0">
                        <a:buNone/>
                      </a:pPr>
                      <a:r>
                        <a:rPr lang="en-US" sz="1200" dirty="0">
                          <a:solidFill>
                            <a:srgbClr val="F4F6FB"/>
                          </a:solidFill>
                          <a:latin typeface="Calibri" pitchFamily="34" charset="0"/>
                          <a:ea typeface="Calibri" pitchFamily="34" charset="-122"/>
                          <a:cs typeface="Calibri" pitchFamily="34" charset="-120"/>
                        </a:rPr>
                        <a:t>QAOA p = 2</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c>
                  <a:txBody>
                    <a:bodyPr/>
                    <a:lstStyle/>
                    <a:p>
                      <a:pPr indent="0" marL="0">
                        <a:buNone/>
                      </a:pPr>
                      <a:r>
                        <a:rPr lang="en-US" sz="1200" dirty="0">
                          <a:solidFill>
                            <a:srgbClr val="F4F6FB"/>
                          </a:solidFill>
                          <a:latin typeface="Calibri" pitchFamily="34" charset="0"/>
                          <a:ea typeface="Calibri" pitchFamily="34" charset="-122"/>
                          <a:cs typeface="Calibri" pitchFamily="34" charset="-120"/>
                        </a:rPr>
                        <a:t>0.0098</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c>
                  <a:txBody>
                    <a:bodyPr/>
                    <a:lstStyle/>
                    <a:p>
                      <a:pPr indent="0" marL="0">
                        <a:buNone/>
                      </a:pPr>
                      <a:r>
                        <a:rPr lang="en-US" sz="1200" dirty="0">
                          <a:solidFill>
                            <a:srgbClr val="F4F6FB"/>
                          </a:solidFill>
                          <a:latin typeface="Calibri" pitchFamily="34" charset="0"/>
                          <a:ea typeface="Calibri" pitchFamily="34" charset="-122"/>
                          <a:cs typeface="Calibri" pitchFamily="34" charset="-120"/>
                        </a:rPr>
                        <a:t>about 300</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r>
            </a:tbl>
          </a:graphicData>
        </a:graphic>
      </p:graphicFrame>
      <p:sp>
        <p:nvSpPr>
          <p:cNvPr id="15" name="Text 10"/>
          <p:cNvSpPr/>
          <p:nvPr/>
        </p:nvSpPr>
        <p:spPr>
          <a:xfrm>
            <a:off x="548640" y="5257800"/>
            <a:ext cx="6126480" cy="731520"/>
          </a:xfrm>
          <a:prstGeom prst="rect">
            <a:avLst/>
          </a:prstGeom>
          <a:noFill/>
          <a:ln/>
        </p:spPr>
        <p:txBody>
          <a:bodyPr wrap="square" lIns="635" tIns="635" rIns="635" bIns="635" rtlCol="0" anchor="t"/>
          <a:lstStyle/>
          <a:p>
            <a:pPr marL="342900" indent="-342900">
              <a:spcAft>
                <a:spcPts val="600"/>
              </a:spcAft>
              <a:buSzPct val="100000"/>
              <a:buChar char="▸"/>
            </a:pPr>
            <a:r>
              <a:rPr lang="en-US" sz="1300" dirty="0">
                <a:solidFill>
                  <a:srgbClr val="F4F6FB"/>
                </a:solidFill>
                <a:latin typeface="Calibri" pitchFamily="34" charset="0"/>
                <a:ea typeface="Calibri" pitchFamily="34" charset="-122"/>
                <a:cs typeface="Calibri" pitchFamily="34" charset="-120"/>
              </a:rPr>
              <a:t>Honest framing: at 12 qubits a laptop enumerates 4096 plans instantly. The gain is a property of the algorithm we can measure exactly here and carry to sizes where enumeration stops (slide 13).</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70B1C"/>
        </a:solidFill>
      </p:bgPr>
    </p:bg>
    <p:spTree>
      <p:nvGrpSpPr>
        <p:cNvPr id="1" name=""/>
        <p:cNvGrpSpPr/>
        <p:nvPr/>
      </p:nvGrpSpPr>
      <p:grpSpPr>
        <a:xfrm>
          <a:off x="0" y="0"/>
          <a:ext cx="0" cy="0"/>
          <a:chOff x="0" y="0"/>
          <a:chExt cx="0" cy="0"/>
        </a:xfrm>
      </p:grpSpPr>
      <p:sp>
        <p:nvSpPr>
          <p:cNvPr id="2" name="Shape 0"/>
          <p:cNvSpPr/>
          <p:nvPr/>
        </p:nvSpPr>
        <p:spPr>
          <a:xfrm>
            <a:off x="10378440" y="6035040"/>
            <a:ext cx="1600200" cy="640080"/>
          </a:xfrm>
          <a:prstGeom prst="roundRect">
            <a:avLst>
              <a:gd name="adj" fmla="val 14286"/>
            </a:avLst>
          </a:prstGeom>
          <a:solidFill>
            <a:srgbClr val="F2B632"/>
          </a:solidFill>
          <a:ln w="12700">
            <a:solidFill>
              <a:srgbClr val="F2B632"/>
            </a:solidFill>
            <a:prstDash val="solid"/>
          </a:ln>
        </p:spPr>
      </p:sp>
      <p:sp>
        <p:nvSpPr>
          <p:cNvPr id="3" name="Text 1"/>
          <p:cNvSpPr/>
          <p:nvPr/>
        </p:nvSpPr>
        <p:spPr>
          <a:xfrm>
            <a:off x="10378440" y="6035040"/>
            <a:ext cx="1600200" cy="640080"/>
          </a:xfrm>
          <a:prstGeom prst="rect">
            <a:avLst/>
          </a:prstGeom>
          <a:noFill/>
          <a:ln/>
        </p:spPr>
        <p:txBody>
          <a:bodyPr wrap="square" lIns="0" tIns="0" rIns="0" bIns="0" rtlCol="0" anchor="ctr"/>
          <a:lstStyle/>
          <a:p>
            <a:pPr algn="ctr" indent="0" marL="0">
              <a:buNone/>
            </a:pPr>
            <a:r>
              <a:rPr lang="en-US" sz="2800" b="1" dirty="0">
                <a:solidFill>
                  <a:srgbClr val="070B1C"/>
                </a:solidFill>
                <a:latin typeface="Calibri" pitchFamily="34" charset="0"/>
                <a:ea typeface="Calibri" pitchFamily="34" charset="-122"/>
                <a:cs typeface="Calibri" pitchFamily="34" charset="-120"/>
              </a:rPr>
              <a:t>9 / 16</a:t>
            </a:r>
            <a:endParaRPr lang="en-US" sz="2800" dirty="0"/>
          </a:p>
        </p:txBody>
      </p:sp>
      <p:sp>
        <p:nvSpPr>
          <p:cNvPr id="4" name="Shape 2"/>
          <p:cNvSpPr/>
          <p:nvPr/>
        </p:nvSpPr>
        <p:spPr>
          <a:xfrm>
            <a:off x="0" y="0"/>
            <a:ext cx="164592" cy="6858000"/>
          </a:xfrm>
          <a:prstGeom prst="rect">
            <a:avLst/>
          </a:prstGeom>
          <a:solidFill>
            <a:srgbClr val="F2B632"/>
          </a:solidFill>
          <a:ln/>
        </p:spPr>
      </p:sp>
      <p:sp>
        <p:nvSpPr>
          <p:cNvPr id="5" name="Text 3"/>
          <p:cNvSpPr/>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FD4D4"/>
                </a:solidFill>
                <a:latin typeface="Calibri" pitchFamily="34" charset="0"/>
                <a:ea typeface="Calibri" pitchFamily="34" charset="-122"/>
                <a:cs typeface="Calibri" pitchFamily="34" charset="-120"/>
              </a:rPr>
              <a:t>SLIDE 9 / 16   |   VERIFY</a:t>
            </a:r>
            <a:endParaRPr lang="en-US" sz="1100" dirty="0"/>
          </a:p>
        </p:txBody>
      </p:sp>
      <p:sp>
        <p:nvSpPr>
          <p:cNvPr id="6" name="Text 4"/>
          <p:cNvSpPr/>
          <p:nvPr/>
        </p:nvSpPr>
        <p:spPr>
          <a:xfrm>
            <a:off x="548640" y="594360"/>
            <a:ext cx="11064240" cy="685800"/>
          </a:xfrm>
          <a:prstGeom prst="rect">
            <a:avLst/>
          </a:prstGeom>
          <a:noFill/>
          <a:ln/>
        </p:spPr>
        <p:txBody>
          <a:bodyPr wrap="square" lIns="0" tIns="0" rIns="0" bIns="0" rtlCol="0" anchor="ctr"/>
          <a:lstStyle/>
          <a:p>
            <a:pPr indent="0" marL="0">
              <a:buNone/>
            </a:pPr>
            <a:r>
              <a:rPr lang="en-US" sz="3000" b="1" dirty="0">
                <a:solidFill>
                  <a:srgbClr val="F4F6FB"/>
                </a:solidFill>
                <a:latin typeface="Calibri" pitchFamily="34" charset="0"/>
                <a:ea typeface="Calibri" pitchFamily="34" charset="-122"/>
                <a:cs typeface="Calibri" pitchFamily="34" charset="-120"/>
              </a:rPr>
              <a:t>Stage 5, Verify: Lean 4 theorems, zero sorry</a:t>
            </a:r>
            <a:endParaRPr lang="en-US" sz="3000" dirty="0"/>
          </a:p>
        </p:txBody>
      </p:sp>
      <p:sp>
        <p:nvSpPr>
          <p:cNvPr id="7" name="Text 5"/>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9AA3BD"/>
                </a:solidFill>
                <a:latin typeface="Calibri" pitchFamily="34" charset="0"/>
                <a:ea typeface="Calibri" pitchFamily="34" charset="-122"/>
                <a:cs typeface="Calibri" pitchFamily="34" charset="-120"/>
              </a:rPr>
              <a:t>MantiQ Factor  |  Antenna tilt with QAOA  |  QUBIT 2026 case study</a:t>
            </a:r>
            <a:endParaRPr lang="en-US" sz="1000" dirty="0"/>
          </a:p>
        </p:txBody>
      </p:sp>
      <p:sp>
        <p:nvSpPr>
          <p:cNvPr id="8" name="Shape 6"/>
          <p:cNvSpPr/>
          <p:nvPr/>
        </p:nvSpPr>
        <p:spPr>
          <a:xfrm>
            <a:off x="8001000" y="6108192"/>
            <a:ext cx="2240280" cy="502920"/>
          </a:xfrm>
          <a:prstGeom prst="roundRect">
            <a:avLst>
              <a:gd name="adj" fmla="val 18182"/>
            </a:avLst>
          </a:prstGeom>
          <a:solidFill>
            <a:srgbClr val="131A3D"/>
          </a:solidFill>
          <a:ln w="12700">
            <a:solidFill>
              <a:srgbClr val="F2B632"/>
            </a:solidFill>
            <a:prstDash val="solid"/>
          </a:ln>
        </p:spPr>
      </p:sp>
      <p:sp>
        <p:nvSpPr>
          <p:cNvPr id="9" name="Text 7"/>
          <p:cNvSpPr/>
          <p:nvPr/>
        </p:nvSpPr>
        <p:spPr>
          <a:xfrm>
            <a:off x="8001000" y="6108192"/>
            <a:ext cx="2240280" cy="502920"/>
          </a:xfrm>
          <a:prstGeom prst="rect">
            <a:avLst/>
          </a:prstGeom>
          <a:noFill/>
          <a:ln/>
        </p:spPr>
        <p:txBody>
          <a:bodyPr wrap="square" lIns="0" tIns="0" rIns="0" bIns="0" rtlCol="0" anchor="ctr"/>
          <a:lstStyle/>
          <a:p>
            <a:pPr algn="ctr" indent="0" marL="0">
              <a:buNone/>
            </a:pPr>
            <a:r>
              <a:rPr lang="en-US" sz="1300" b="1" dirty="0">
                <a:solidFill>
                  <a:srgbClr val="F2B632"/>
                </a:solidFill>
                <a:latin typeface="Calibri" pitchFamily="34" charset="0"/>
                <a:ea typeface="Calibri" pitchFamily="34" charset="-122"/>
                <a:cs typeface="Calibri" pitchFamily="34" charset="-120"/>
              </a:rPr>
              <a:t>STAGE 5  </a:t>
            </a:r>
            <a:pPr algn="ctr" indent="0" marL="0">
              <a:buNone/>
            </a:pPr>
            <a:r>
              <a:rPr lang="en-US" sz="1300" dirty="0">
                <a:solidFill>
                  <a:srgbClr val="F4F6FB"/>
                </a:solidFill>
                <a:latin typeface="Calibri" pitchFamily="34" charset="0"/>
                <a:ea typeface="Calibri" pitchFamily="34" charset="-122"/>
                <a:cs typeface="Calibri" pitchFamily="34" charset="-120"/>
              </a:rPr>
              <a:t>Verify</a:t>
            </a:r>
            <a:endParaRPr lang="en-US" sz="1300" dirty="0"/>
          </a:p>
        </p:txBody>
      </p:sp>
      <p:sp>
        <p:nvSpPr>
          <p:cNvPr id="10" name="Shape 8"/>
          <p:cNvSpPr/>
          <p:nvPr/>
        </p:nvSpPr>
        <p:spPr>
          <a:xfrm>
            <a:off x="548640" y="1417320"/>
            <a:ext cx="6400800" cy="4206240"/>
          </a:xfrm>
          <a:prstGeom prst="roundRect">
            <a:avLst>
              <a:gd name="adj" fmla="val 1739"/>
            </a:avLst>
          </a:prstGeom>
          <a:solidFill>
            <a:srgbClr val="05081A"/>
          </a:solidFill>
          <a:ln w="12700">
            <a:solidFill>
              <a:srgbClr val="05081A"/>
            </a:solidFill>
            <a:prstDash val="solid"/>
          </a:ln>
        </p:spPr>
      </p:sp>
      <p:sp>
        <p:nvSpPr>
          <p:cNvPr id="11" name="Text 9"/>
          <p:cNvSpPr/>
          <p:nvPr/>
        </p:nvSpPr>
        <p:spPr>
          <a:xfrm>
            <a:off x="640080" y="1490472"/>
            <a:ext cx="6217920" cy="4059936"/>
          </a:xfrm>
          <a:prstGeom prst="rect">
            <a:avLst/>
          </a:prstGeom>
          <a:noFill/>
          <a:ln/>
        </p:spPr>
        <p:txBody>
          <a:bodyPr wrap="square" lIns="254" tIns="254" rIns="254" bIns="254" rtlCol="0" anchor="t"/>
          <a:lstStyle/>
          <a:p>
            <a:pPr indent="0" marL="0">
              <a:buNone/>
            </a:pPr>
            <a:r>
              <a:rPr lang="en-US" sz="1150" dirty="0">
                <a:solidFill>
                  <a:srgbClr val="5BE39A"/>
                </a:solidFill>
                <a:latin typeface="Consolas" pitchFamily="34" charset="0"/>
                <a:ea typeface="Consolas" pitchFamily="34" charset="-122"/>
                <a:cs typeface="Consolas" pitchFamily="34" charset="-120"/>
              </a:rPr>
              <a:t>def decodeTilt (q0 q1 : Fin 2) : Fin 4 := ...</a:t>
            </a:r>
            <a:endParaRPr lang="en-US" sz="1150" dirty="0"/>
          </a:p>
          <a:p>
            <a:pPr indent="0" marL="0">
              <a:buNone/>
            </a:pPr>
            <a:r>
              <a:rPr lang="en-US" sz="1150" dirty="0">
                <a:solidFill>
                  <a:srgbClr val="5BE39A"/>
                </a:solidFill>
                <a:latin typeface="Consolas" pitchFamily="34" charset="0"/>
                <a:ea typeface="Consolas" pitchFamily="34" charset="-122"/>
                <a:cs typeface="Consolas" pitchFamily="34" charset="-120"/>
              </a:rPr>
              <a:t>theorem decodeTilt_bijective :</a:t>
            </a:r>
            <a:endParaRPr lang="en-US" sz="1150" dirty="0"/>
          </a:p>
          <a:p>
            <a:pPr indent="0" marL="0">
              <a:buNone/>
            </a:pPr>
            <a:r>
              <a:rPr lang="en-US" sz="1150" dirty="0">
                <a:solidFill>
                  <a:srgbClr val="5BE39A"/>
                </a:solidFill>
                <a:latin typeface="Consolas" pitchFamily="34" charset="0"/>
                <a:ea typeface="Consolas" pitchFamily="34" charset="-122"/>
                <a:cs typeface="Consolas" pitchFamily="34" charset="-120"/>
              </a:rPr>
              <a:t>  Function.Bijective (fun q : Fin 2 x Fin 2 =&gt; decodeTilt q.1 q.2)</a:t>
            </a:r>
            <a:endParaRPr lang="en-US" sz="1150" dirty="0"/>
          </a:p>
          <a:p>
            <a:pPr indent="0" marL="0">
              <a:buNone/>
            </a:pPr>
            <a:endParaRPr lang="en-US" sz="1150" dirty="0"/>
          </a:p>
          <a:p>
            <a:pPr indent="0" marL="0">
              <a:buNone/>
            </a:pPr>
            <a:r>
              <a:rPr lang="en-US" sz="1150" dirty="0">
                <a:solidFill>
                  <a:srgbClr val="5BE39A"/>
                </a:solidFill>
                <a:latin typeface="Consolas" pitchFamily="34" charset="0"/>
                <a:ea typeface="Consolas" pitchFamily="34" charset="-122"/>
                <a:cs typeface="Consolas" pitchFamily="34" charset="-120"/>
              </a:rPr>
              <a:t>def costS (t : Fin 6 -&gt; Fin 4) : Int := ...   -- scaled x 10^4</a:t>
            </a:r>
            <a:endParaRPr lang="en-US" sz="1150" dirty="0"/>
          </a:p>
          <a:p>
            <a:pPr indent="0" marL="0">
              <a:buNone/>
            </a:pPr>
            <a:r>
              <a:rPr lang="en-US" sz="1150" dirty="0">
                <a:solidFill>
                  <a:srgbClr val="5BE39A"/>
                </a:solidFill>
                <a:latin typeface="Consolas" pitchFamily="34" charset="0"/>
                <a:ea typeface="Consolas" pitchFamily="34" charset="-122"/>
                <a:cs typeface="Consolas" pitchFamily="34" charset="-120"/>
              </a:rPr>
              <a:t>def optTilt : Fin 6 -&gt; Fin 4 := ![0, 3, 0, 0, 0, 0]</a:t>
            </a:r>
            <a:endParaRPr lang="en-US" sz="1150" dirty="0"/>
          </a:p>
          <a:p>
            <a:pPr indent="0" marL="0">
              <a:buNone/>
            </a:pPr>
            <a:r>
              <a:rPr lang="en-US" sz="1150" dirty="0">
                <a:solidFill>
                  <a:srgbClr val="5BE39A"/>
                </a:solidFill>
                <a:latin typeface="Consolas" pitchFamily="34" charset="0"/>
                <a:ea typeface="Consolas" pitchFamily="34" charset="-122"/>
                <a:cs typeface="Consolas" pitchFamily="34" charset="-120"/>
              </a:rPr>
              <a:t>theorem costS_optTilt : costS optTilt = -28440</a:t>
            </a:r>
            <a:endParaRPr lang="en-US" sz="1150" dirty="0"/>
          </a:p>
          <a:p>
            <a:pPr indent="0" marL="0">
              <a:buNone/>
            </a:pPr>
            <a:r>
              <a:rPr lang="en-US" sz="1150" dirty="0">
                <a:solidFill>
                  <a:srgbClr val="5BE39A"/>
                </a:solidFill>
                <a:latin typeface="Consolas" pitchFamily="34" charset="0"/>
                <a:ea typeface="Consolas" pitchFamily="34" charset="-122"/>
                <a:cs typeface="Consolas" pitchFamily="34" charset="-120"/>
              </a:rPr>
              <a:t>theorem costS_lower_bound : forall t, -28440 &lt;= costS t</a:t>
            </a:r>
            <a:endParaRPr lang="en-US" sz="1150" dirty="0"/>
          </a:p>
          <a:p>
            <a:pPr indent="0" marL="0">
              <a:buNone/>
            </a:pPr>
            <a:r>
              <a:rPr lang="en-US" sz="1150" dirty="0">
                <a:solidFill>
                  <a:srgbClr val="5BE39A"/>
                </a:solidFill>
                <a:latin typeface="Consolas" pitchFamily="34" charset="0"/>
                <a:ea typeface="Consolas" pitchFamily="34" charset="-122"/>
                <a:cs typeface="Consolas" pitchFamily="34" charset="-120"/>
              </a:rPr>
              <a:t>theorem costS_unique : forall t, costS t = -28440 -&gt; t = optTilt</a:t>
            </a:r>
            <a:endParaRPr lang="en-US" sz="1150" dirty="0"/>
          </a:p>
          <a:p>
            <a:pPr indent="0" marL="0">
              <a:buNone/>
            </a:pPr>
            <a:endParaRPr lang="en-US" sz="1150" dirty="0"/>
          </a:p>
          <a:p>
            <a:pPr indent="0" marL="0">
              <a:buNone/>
            </a:pPr>
            <a:r>
              <a:rPr lang="en-US" sz="1150" dirty="0">
                <a:solidFill>
                  <a:srgbClr val="5BE39A"/>
                </a:solidFill>
                <a:latin typeface="Consolas" pitchFamily="34" charset="0"/>
                <a:ea typeface="Consolas" pitchFamily="34" charset="-122"/>
                <a:cs typeface="Consolas" pitchFamily="34" charset="-120"/>
              </a:rPr>
              <a:t>theorem cost_phase_norm : forall gamma c : Real,</a:t>
            </a:r>
            <a:endParaRPr lang="en-US" sz="1150" dirty="0"/>
          </a:p>
          <a:p>
            <a:pPr indent="0" marL="0">
              <a:buNone/>
            </a:pPr>
            <a:r>
              <a:rPr lang="en-US" sz="1150" dirty="0">
                <a:solidFill>
                  <a:srgbClr val="5BE39A"/>
                </a:solidFill>
                <a:latin typeface="Consolas" pitchFamily="34" charset="0"/>
                <a:ea typeface="Consolas" pitchFamily="34" charset="-122"/>
                <a:cs typeface="Consolas" pitchFamily="34" charset="-120"/>
              </a:rPr>
              <a:t>  norm (Complex.exp ((gamma * c : Real) * Complex.I)) = 1</a:t>
            </a:r>
            <a:endParaRPr lang="en-US" sz="1150" dirty="0"/>
          </a:p>
          <a:p>
            <a:pPr indent="0" marL="0">
              <a:buNone/>
            </a:pPr>
            <a:r>
              <a:rPr lang="en-US" sz="1150" dirty="0">
                <a:solidFill>
                  <a:srgbClr val="5BE39A"/>
                </a:solidFill>
                <a:latin typeface="Consolas" pitchFamily="34" charset="0"/>
                <a:ea typeface="Consolas" pitchFamily="34" charset="-122"/>
                <a:cs typeface="Consolas" pitchFamily="34" charset="-120"/>
              </a:rPr>
              <a:t>theorem cost_phase_preserves_probability : ...</a:t>
            </a:r>
            <a:endParaRPr lang="en-US" sz="1150" dirty="0"/>
          </a:p>
          <a:p>
            <a:pPr indent="0" marL="0">
              <a:buNone/>
            </a:pPr>
            <a:r>
              <a:rPr lang="en-US" sz="1150" dirty="0">
                <a:solidFill>
                  <a:srgbClr val="5BE39A"/>
                </a:solidFill>
                <a:latin typeface="Consolas" pitchFamily="34" charset="0"/>
                <a:ea typeface="Consolas" pitchFamily="34" charset="-122"/>
                <a:cs typeface="Consolas" pitchFamily="34" charset="-120"/>
              </a:rPr>
              <a:t>theorem two_smul_P0 : (2 : Rat) * P0 = 1 + Z   -- Z decomposition</a:t>
            </a:r>
            <a:endParaRPr lang="en-US" sz="1150" dirty="0"/>
          </a:p>
        </p:txBody>
      </p:sp>
      <p:sp>
        <p:nvSpPr>
          <p:cNvPr id="12" name="Text 10"/>
          <p:cNvSpPr/>
          <p:nvPr/>
        </p:nvSpPr>
        <p:spPr>
          <a:xfrm>
            <a:off x="548640" y="5669280"/>
            <a:ext cx="6583680" cy="365760"/>
          </a:xfrm>
          <a:prstGeom prst="rect">
            <a:avLst/>
          </a:prstGeom>
          <a:noFill/>
          <a:ln/>
        </p:spPr>
        <p:txBody>
          <a:bodyPr wrap="square" lIns="0" tIns="0" rIns="0" bIns="0" rtlCol="0" anchor="ctr"/>
          <a:lstStyle/>
          <a:p>
            <a:pPr indent="0" marL="0">
              <a:buNone/>
            </a:pPr>
            <a:r>
              <a:rPr lang="en-US" sz="1050" i="1" dirty="0">
                <a:solidFill>
                  <a:srgbClr val="9AA3BD"/>
                </a:solidFill>
                <a:latin typeface="Calibri" pitchFamily="34" charset="0"/>
                <a:ea typeface="Calibri" pitchFamily="34" charset="-122"/>
                <a:cs typeface="Calibri" pitchFamily="34" charset="-120"/>
              </a:rPr>
              <a:t>lean/TiltQAOA.lean, 109 lines, Mathlib. Build log: lean/tilt_qaoa_lean_build.log. Cost scaled by 10^4 so the theorems are over integers and decide by computation.</a:t>
            </a:r>
            <a:endParaRPr lang="en-US" sz="1050" dirty="0"/>
          </a:p>
        </p:txBody>
      </p:sp>
      <p:sp>
        <p:nvSpPr>
          <p:cNvPr id="13" name="Text 11"/>
          <p:cNvSpPr/>
          <p:nvPr/>
        </p:nvSpPr>
        <p:spPr>
          <a:xfrm>
            <a:off x="7223760" y="1417320"/>
            <a:ext cx="4572000" cy="4480560"/>
          </a:xfrm>
          <a:prstGeom prst="rect">
            <a:avLst/>
          </a:prstGeom>
          <a:noFill/>
          <a:ln/>
        </p:spPr>
        <p:txBody>
          <a:bodyPr wrap="square" lIns="635" tIns="635" rIns="635" bIns="635" rtlCol="0" anchor="t"/>
          <a:lstStyle/>
          <a:p>
            <a:pPr marL="342900" indent="-342900">
              <a:spcAft>
                <a:spcPts val="600"/>
              </a:spcAft>
              <a:buSzPct val="100000"/>
              <a:buChar char="▸"/>
            </a:pPr>
            <a:r>
              <a:rPr lang="en-US" sz="1350" dirty="0">
                <a:solidFill>
                  <a:srgbClr val="F4F6FB"/>
                </a:solidFill>
                <a:latin typeface="Calibri" pitchFamily="34" charset="0"/>
                <a:ea typeface="Calibri" pitchFamily="34" charset="-122"/>
                <a:cs typeface="Calibri" pitchFamily="34" charset="-120"/>
              </a:rPr>
              <a:t>Encoding: the 2-qubit register maps one-to-one onto the four tilt levels, so no state is invalid or double-counted</a:t>
            </a:r>
            <a:endParaRPr lang="en-US" sz="1350" dirty="0"/>
          </a:p>
          <a:p>
            <a:pPr marL="342900" indent="-342900">
              <a:spcAft>
                <a:spcPts val="600"/>
              </a:spcAft>
              <a:buSzPct val="100000"/>
              <a:buChar char="▸"/>
            </a:pPr>
            <a:r>
              <a:rPr lang="en-US" sz="1350" dirty="0">
                <a:solidFill>
                  <a:srgbClr val="F4F6FB"/>
                </a:solidFill>
                <a:latin typeface="Calibri" pitchFamily="34" charset="0"/>
                <a:ea typeface="Calibri" pitchFamily="34" charset="-122"/>
                <a:cs typeface="Calibri" pitchFamily="34" charset="-120"/>
              </a:rPr>
              <a:t>Classical truth: -2.844 is the minimum, it is attained at (0,3,0,0,0,0), and nowhere else</a:t>
            </a:r>
            <a:endParaRPr lang="en-US" sz="1350" dirty="0"/>
          </a:p>
          <a:p>
            <a:pPr marL="342900" indent="-342900">
              <a:spcAft>
                <a:spcPts val="600"/>
              </a:spcAft>
              <a:buSzPct val="100000"/>
              <a:buChar char="▸"/>
            </a:pPr>
            <a:r>
              <a:rPr lang="en-US" sz="1350" dirty="0">
                <a:solidFill>
                  <a:srgbClr val="F4F6FB"/>
                </a:solidFill>
                <a:latin typeface="Calibri" pitchFamily="34" charset="0"/>
                <a:ea typeface="Calibri" pitchFamily="34" charset="-122"/>
                <a:cs typeface="Calibri" pitchFamily="34" charset="-120"/>
              </a:rPr>
              <a:t>Circuit: the cost layer exp(i gamma Cost) has unit norm, so it changes phases only and keeps every measurement probability of a basis state</a:t>
            </a:r>
            <a:endParaRPr lang="en-US" sz="1350" dirty="0"/>
          </a:p>
          <a:p>
            <a:pPr marL="342900" indent="-342900">
              <a:spcAft>
                <a:spcPts val="600"/>
              </a:spcAft>
              <a:buSzPct val="100000"/>
              <a:buChar char="▸"/>
            </a:pPr>
            <a:r>
              <a:rPr lang="en-US" sz="1350" dirty="0">
                <a:solidFill>
                  <a:srgbClr val="F4F6FB"/>
                </a:solidFill>
                <a:latin typeface="Calibri" pitchFamily="34" charset="0"/>
                <a:ea typeface="Calibri" pitchFamily="34" charset="-122"/>
                <a:cs typeface="Calibri" pitchFamily="34" charset="-120"/>
              </a:rPr>
              <a:t>Bridge to the gate set: 2 P0 = 1 + Z and 2 P1 = 1 - Z justify the Z-only decomposition of the Hamiltonian</a:t>
            </a:r>
            <a:endParaRPr lang="en-US" sz="1350" dirty="0"/>
          </a:p>
          <a:p>
            <a:pPr marL="342900" indent="-342900">
              <a:spcAft>
                <a:spcPts val="600"/>
              </a:spcAft>
              <a:buSzPct val="100000"/>
              <a:buChar char="▸"/>
            </a:pPr>
            <a:r>
              <a:rPr lang="en-US" sz="1350" dirty="0">
                <a:solidFill>
                  <a:srgbClr val="F4F6FB"/>
                </a:solidFill>
                <a:latin typeface="Calibri" pitchFamily="34" charset="0"/>
                <a:ea typeface="Calibri" pitchFamily="34" charset="-122"/>
                <a:cs typeface="Calibri" pitchFamily="34" charset="-120"/>
              </a:rPr>
              <a:t>These are the statements the Wolfram numbers and the Classiq samples are later checked against</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70B1C"/>
        </a:solidFill>
      </p:bgPr>
    </p:bg>
    <p:spTree>
      <p:nvGrpSpPr>
        <p:cNvPr id="1" name=""/>
        <p:cNvGrpSpPr/>
        <p:nvPr/>
      </p:nvGrpSpPr>
      <p:grpSpPr>
        <a:xfrm>
          <a:off x="0" y="0"/>
          <a:ext cx="0" cy="0"/>
          <a:chOff x="0" y="0"/>
          <a:chExt cx="0" cy="0"/>
        </a:xfrm>
      </p:grpSpPr>
      <p:sp>
        <p:nvSpPr>
          <p:cNvPr id="2" name="Shape 0"/>
          <p:cNvSpPr/>
          <p:nvPr/>
        </p:nvSpPr>
        <p:spPr>
          <a:xfrm>
            <a:off x="10378440" y="6035040"/>
            <a:ext cx="1600200" cy="640080"/>
          </a:xfrm>
          <a:prstGeom prst="roundRect">
            <a:avLst>
              <a:gd name="adj" fmla="val 14286"/>
            </a:avLst>
          </a:prstGeom>
          <a:solidFill>
            <a:srgbClr val="F2B632"/>
          </a:solidFill>
          <a:ln w="12700">
            <a:solidFill>
              <a:srgbClr val="F2B632"/>
            </a:solidFill>
            <a:prstDash val="solid"/>
          </a:ln>
        </p:spPr>
      </p:sp>
      <p:sp>
        <p:nvSpPr>
          <p:cNvPr id="3" name="Text 1"/>
          <p:cNvSpPr/>
          <p:nvPr/>
        </p:nvSpPr>
        <p:spPr>
          <a:xfrm>
            <a:off x="10378440" y="6035040"/>
            <a:ext cx="1600200" cy="640080"/>
          </a:xfrm>
          <a:prstGeom prst="rect">
            <a:avLst/>
          </a:prstGeom>
          <a:noFill/>
          <a:ln/>
        </p:spPr>
        <p:txBody>
          <a:bodyPr wrap="square" lIns="0" tIns="0" rIns="0" bIns="0" rtlCol="0" anchor="ctr"/>
          <a:lstStyle/>
          <a:p>
            <a:pPr algn="ctr" indent="0" marL="0">
              <a:buNone/>
            </a:pPr>
            <a:r>
              <a:rPr lang="en-US" sz="2800" b="1" dirty="0">
                <a:solidFill>
                  <a:srgbClr val="070B1C"/>
                </a:solidFill>
                <a:latin typeface="Calibri" pitchFamily="34" charset="0"/>
                <a:ea typeface="Calibri" pitchFamily="34" charset="-122"/>
                <a:cs typeface="Calibri" pitchFamily="34" charset="-120"/>
              </a:rPr>
              <a:t>10 / 16</a:t>
            </a:r>
            <a:endParaRPr lang="en-US" sz="2800" dirty="0"/>
          </a:p>
        </p:txBody>
      </p:sp>
      <p:sp>
        <p:nvSpPr>
          <p:cNvPr id="4" name="Shape 2"/>
          <p:cNvSpPr/>
          <p:nvPr/>
        </p:nvSpPr>
        <p:spPr>
          <a:xfrm>
            <a:off x="0" y="0"/>
            <a:ext cx="164592" cy="6858000"/>
          </a:xfrm>
          <a:prstGeom prst="rect">
            <a:avLst/>
          </a:prstGeom>
          <a:solidFill>
            <a:srgbClr val="F2B632"/>
          </a:solidFill>
          <a:ln/>
        </p:spPr>
      </p:sp>
      <p:sp>
        <p:nvSpPr>
          <p:cNvPr id="5" name="Text 3"/>
          <p:cNvSpPr/>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FD4D4"/>
                </a:solidFill>
                <a:latin typeface="Calibri" pitchFamily="34" charset="0"/>
                <a:ea typeface="Calibri" pitchFamily="34" charset="-122"/>
                <a:cs typeface="Calibri" pitchFamily="34" charset="-120"/>
              </a:rPr>
              <a:t>SLIDE 10 / 16   |   ENGINEER</a:t>
            </a:r>
            <a:endParaRPr lang="en-US" sz="1100" dirty="0"/>
          </a:p>
        </p:txBody>
      </p:sp>
      <p:sp>
        <p:nvSpPr>
          <p:cNvPr id="6" name="Text 4"/>
          <p:cNvSpPr/>
          <p:nvPr/>
        </p:nvSpPr>
        <p:spPr>
          <a:xfrm>
            <a:off x="548640" y="594360"/>
            <a:ext cx="11064240" cy="685800"/>
          </a:xfrm>
          <a:prstGeom prst="rect">
            <a:avLst/>
          </a:prstGeom>
          <a:noFill/>
          <a:ln/>
        </p:spPr>
        <p:txBody>
          <a:bodyPr wrap="square" lIns="0" tIns="0" rIns="0" bIns="0" rtlCol="0" anchor="ctr"/>
          <a:lstStyle/>
          <a:p>
            <a:pPr indent="0" marL="0">
              <a:buNone/>
            </a:pPr>
            <a:r>
              <a:rPr lang="en-US" sz="3000" b="1" dirty="0">
                <a:solidFill>
                  <a:srgbClr val="F4F6FB"/>
                </a:solidFill>
                <a:latin typeface="Calibri" pitchFamily="34" charset="0"/>
                <a:ea typeface="Calibri" pitchFamily="34" charset="-122"/>
                <a:cs typeface="Calibri" pitchFamily="34" charset="-120"/>
              </a:rPr>
              <a:t>Stage 6, Engineer: the cost becomes a Qmod phase() statement</a:t>
            </a:r>
            <a:endParaRPr lang="en-US" sz="3000" dirty="0"/>
          </a:p>
        </p:txBody>
      </p:sp>
      <p:sp>
        <p:nvSpPr>
          <p:cNvPr id="7" name="Text 5"/>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9AA3BD"/>
                </a:solidFill>
                <a:latin typeface="Calibri" pitchFamily="34" charset="0"/>
                <a:ea typeface="Calibri" pitchFamily="34" charset="-122"/>
                <a:cs typeface="Calibri" pitchFamily="34" charset="-120"/>
              </a:rPr>
              <a:t>MantiQ Factor  |  Antenna tilt with QAOA  |  QUBIT 2026 case study</a:t>
            </a:r>
            <a:endParaRPr lang="en-US" sz="1000" dirty="0"/>
          </a:p>
        </p:txBody>
      </p:sp>
      <p:sp>
        <p:nvSpPr>
          <p:cNvPr id="8" name="Shape 6"/>
          <p:cNvSpPr/>
          <p:nvPr/>
        </p:nvSpPr>
        <p:spPr>
          <a:xfrm>
            <a:off x="8001000" y="6108192"/>
            <a:ext cx="2240280" cy="502920"/>
          </a:xfrm>
          <a:prstGeom prst="roundRect">
            <a:avLst>
              <a:gd name="adj" fmla="val 18182"/>
            </a:avLst>
          </a:prstGeom>
          <a:solidFill>
            <a:srgbClr val="131A3D"/>
          </a:solidFill>
          <a:ln w="12700">
            <a:solidFill>
              <a:srgbClr val="F2B632"/>
            </a:solidFill>
            <a:prstDash val="solid"/>
          </a:ln>
        </p:spPr>
      </p:sp>
      <p:sp>
        <p:nvSpPr>
          <p:cNvPr id="9" name="Text 7"/>
          <p:cNvSpPr/>
          <p:nvPr/>
        </p:nvSpPr>
        <p:spPr>
          <a:xfrm>
            <a:off x="8001000" y="6108192"/>
            <a:ext cx="2240280" cy="502920"/>
          </a:xfrm>
          <a:prstGeom prst="rect">
            <a:avLst/>
          </a:prstGeom>
          <a:noFill/>
          <a:ln/>
        </p:spPr>
        <p:txBody>
          <a:bodyPr wrap="square" lIns="0" tIns="0" rIns="0" bIns="0" rtlCol="0" anchor="ctr"/>
          <a:lstStyle/>
          <a:p>
            <a:pPr algn="ctr" indent="0" marL="0">
              <a:buNone/>
            </a:pPr>
            <a:r>
              <a:rPr lang="en-US" sz="1300" b="1" dirty="0">
                <a:solidFill>
                  <a:srgbClr val="F2B632"/>
                </a:solidFill>
                <a:latin typeface="Calibri" pitchFamily="34" charset="0"/>
                <a:ea typeface="Calibri" pitchFamily="34" charset="-122"/>
                <a:cs typeface="Calibri" pitchFamily="34" charset="-120"/>
              </a:rPr>
              <a:t>STAGE 6  </a:t>
            </a:r>
            <a:pPr algn="ctr" indent="0" marL="0">
              <a:buNone/>
            </a:pPr>
            <a:r>
              <a:rPr lang="en-US" sz="1300" dirty="0">
                <a:solidFill>
                  <a:srgbClr val="F4F6FB"/>
                </a:solidFill>
                <a:latin typeface="Calibri" pitchFamily="34" charset="0"/>
                <a:ea typeface="Calibri" pitchFamily="34" charset="-122"/>
                <a:cs typeface="Calibri" pitchFamily="34" charset="-120"/>
              </a:rPr>
              <a:t>Engineer</a:t>
            </a:r>
            <a:endParaRPr lang="en-US" sz="1300" dirty="0"/>
          </a:p>
        </p:txBody>
      </p:sp>
      <p:sp>
        <p:nvSpPr>
          <p:cNvPr id="10" name="Shape 8"/>
          <p:cNvSpPr/>
          <p:nvPr/>
        </p:nvSpPr>
        <p:spPr>
          <a:xfrm>
            <a:off x="548640" y="1417320"/>
            <a:ext cx="6400800" cy="4343400"/>
          </a:xfrm>
          <a:prstGeom prst="roundRect">
            <a:avLst>
              <a:gd name="adj" fmla="val 1684"/>
            </a:avLst>
          </a:prstGeom>
          <a:solidFill>
            <a:srgbClr val="05081A"/>
          </a:solidFill>
          <a:ln w="12700">
            <a:solidFill>
              <a:srgbClr val="05081A"/>
            </a:solidFill>
            <a:prstDash val="solid"/>
          </a:ln>
        </p:spPr>
      </p:sp>
      <p:sp>
        <p:nvSpPr>
          <p:cNvPr id="11" name="Text 9"/>
          <p:cNvSpPr/>
          <p:nvPr/>
        </p:nvSpPr>
        <p:spPr>
          <a:xfrm>
            <a:off x="640080" y="1490472"/>
            <a:ext cx="6217920" cy="4197096"/>
          </a:xfrm>
          <a:prstGeom prst="rect">
            <a:avLst/>
          </a:prstGeom>
          <a:noFill/>
          <a:ln/>
        </p:spPr>
        <p:txBody>
          <a:bodyPr wrap="square" lIns="254" tIns="254" rIns="254" bIns="254" rtlCol="0" anchor="t"/>
          <a:lstStyle/>
          <a:p>
            <a:pPr indent="0" marL="0">
              <a:buNone/>
            </a:pPr>
            <a:r>
              <a:rPr lang="en-US" sz="1100" dirty="0">
                <a:solidFill>
                  <a:srgbClr val="5BE39A"/>
                </a:solidFill>
                <a:latin typeface="Consolas" pitchFamily="34" charset="0"/>
                <a:ea typeface="Consolas" pitchFamily="34" charset="-122"/>
                <a:cs typeface="Consolas" pitchFamily="34" charset="-120"/>
              </a:rPr>
              <a:t>class Tilts(QStruct):</a:t>
            </a:r>
            <a:endParaRPr lang="en-US" sz="1100" dirty="0"/>
          </a:p>
          <a:p>
            <a:pPr indent="0" marL="0">
              <a:buNone/>
            </a:pPr>
            <a:r>
              <a:rPr lang="en-US" sz="1100" dirty="0">
                <a:solidFill>
                  <a:srgbClr val="5BE39A"/>
                </a:solidFill>
                <a:latin typeface="Consolas" pitchFamily="34" charset="0"/>
                <a:ea typeface="Consolas" pitchFamily="34" charset="-122"/>
                <a:cs typeface="Consolas" pitchFamily="34" charset="-120"/>
              </a:rPr>
              <a:t>    tilts: QArray[QNum[2], 6]        # 6 antennas x 2 qubits</a:t>
            </a:r>
            <a:endParaRPr lang="en-US" sz="1100" dirty="0"/>
          </a:p>
          <a:p>
            <a:pPr indent="0" marL="0">
              <a:buNone/>
            </a:pPr>
            <a:endParaRPr lang="en-US" sz="1100" dirty="0"/>
          </a:p>
          <a:p>
            <a:pPr indent="0" marL="0">
              <a:buNone/>
            </a:pPr>
            <a:r>
              <a:rPr lang="en-US" sz="1100" dirty="0">
                <a:solidFill>
                  <a:srgbClr val="5BE39A"/>
                </a:solidFill>
                <a:latin typeface="Consolas" pitchFamily="34" charset="0"/>
                <a:ea typeface="Consolas" pitchFamily="34" charset="-122"/>
                <a:cs typeface="Consolas" pitchFamily="34" charset="-120"/>
              </a:rPr>
              <a:t>def cost(t: Tilts) -&gt; CReal:</a:t>
            </a:r>
            <a:endParaRPr lang="en-US" sz="1100" dirty="0"/>
          </a:p>
          <a:p>
            <a:pPr indent="0" marL="0">
              <a:buNone/>
            </a:pPr>
            <a:r>
              <a:rPr lang="en-US" sz="1100" dirty="0">
                <a:solidFill>
                  <a:srgbClr val="5BE39A"/>
                </a:solidFill>
                <a:latin typeface="Consolas" pitchFamily="34" charset="0"/>
                <a:ea typeface="Consolas" pitchFamily="34" charset="-122"/>
                <a:cs typeface="Consolas" pitchFamily="34" charset="-120"/>
              </a:rPr>
              <a:t>    interference = sum(I[i][j] * t.tilts[i] * t.tilts[j] ...)</a:t>
            </a:r>
            <a:endParaRPr lang="en-US" sz="1100" dirty="0"/>
          </a:p>
          <a:p>
            <a:pPr indent="0" marL="0">
              <a:buNone/>
            </a:pPr>
            <a:r>
              <a:rPr lang="en-US" sz="1100" dirty="0">
                <a:solidFill>
                  <a:srgbClr val="5BE39A"/>
                </a:solidFill>
                <a:latin typeface="Consolas" pitchFamily="34" charset="0"/>
                <a:ea typeface="Consolas" pitchFamily="34" charset="-122"/>
                <a:cs typeface="Consolas" pitchFamily="34" charset="-120"/>
              </a:rPr>
              <a:t>    coverage     = sum(c[i] * t.tilts[i] ...)</a:t>
            </a:r>
            <a:endParaRPr lang="en-US" sz="1100" dirty="0"/>
          </a:p>
          <a:p>
            <a:pPr indent="0" marL="0">
              <a:buNone/>
            </a:pPr>
            <a:r>
              <a:rPr lang="en-US" sz="1100" dirty="0">
                <a:solidFill>
                  <a:srgbClr val="5BE39A"/>
                </a:solidFill>
                <a:latin typeface="Consolas" pitchFamily="34" charset="0"/>
                <a:ea typeface="Consolas" pitchFamily="34" charset="-122"/>
                <a:cs typeface="Consolas" pitchFamily="34" charset="-120"/>
              </a:rPr>
              <a:t>    return interference - 1.5 * coverage + 0.3 * sum(t.tilts)</a:t>
            </a:r>
            <a:endParaRPr lang="en-US" sz="1100" dirty="0"/>
          </a:p>
          <a:p>
            <a:pPr indent="0" marL="0">
              <a:buNone/>
            </a:pPr>
            <a:endParaRPr lang="en-US" sz="1100" dirty="0"/>
          </a:p>
          <a:p>
            <a:pPr indent="0" marL="0">
              <a:buNone/>
            </a:pPr>
            <a:r>
              <a:rPr lang="en-US" sz="1100" dirty="0">
                <a:solidFill>
                  <a:srgbClr val="5BE39A"/>
                </a:solidFill>
                <a:latin typeface="Consolas" pitchFamily="34" charset="0"/>
                <a:ea typeface="Consolas" pitchFamily="34" charset="-122"/>
                <a:cs typeface="Consolas" pitchFamily="34" charset="-120"/>
              </a:rPr>
              <a:t>@qfunc</a:t>
            </a:r>
            <a:endParaRPr lang="en-US" sz="1100" dirty="0"/>
          </a:p>
          <a:p>
            <a:pPr indent="0" marL="0">
              <a:buNone/>
            </a:pPr>
            <a:r>
              <a:rPr lang="en-US" sz="1100" dirty="0">
                <a:solidFill>
                  <a:srgbClr val="5BE39A"/>
                </a:solidFill>
                <a:latin typeface="Consolas" pitchFamily="34" charset="0"/>
                <a:ea typeface="Consolas" pitchFamily="34" charset="-122"/>
                <a:cs typeface="Consolas" pitchFamily="34" charset="-120"/>
              </a:rPr>
              <a:t>def main(gammas: CArray[CReal, P], betas: CArray[CReal, P],</a:t>
            </a:r>
            <a:endParaRPr lang="en-US" sz="1100" dirty="0"/>
          </a:p>
          <a:p>
            <a:pPr indent="0" marL="0">
              <a:buNone/>
            </a:pPr>
            <a:r>
              <a:rPr lang="en-US" sz="1100" dirty="0">
                <a:solidFill>
                  <a:srgbClr val="5BE39A"/>
                </a:solidFill>
                <a:latin typeface="Consolas" pitchFamily="34" charset="0"/>
                <a:ea typeface="Consolas" pitchFamily="34" charset="-122"/>
                <a:cs typeface="Consolas" pitchFamily="34" charset="-120"/>
              </a:rPr>
              <a:t>         t: Output[Tilts]):</a:t>
            </a:r>
            <a:endParaRPr lang="en-US" sz="1100" dirty="0"/>
          </a:p>
          <a:p>
            <a:pPr indent="0" marL="0">
              <a:buNone/>
            </a:pPr>
            <a:r>
              <a:rPr lang="en-US" sz="1100" dirty="0">
                <a:solidFill>
                  <a:srgbClr val="5BE39A"/>
                </a:solidFill>
                <a:latin typeface="Consolas" pitchFamily="34" charset="0"/>
                <a:ea typeface="Consolas" pitchFamily="34" charset="-122"/>
                <a:cs typeface="Consolas" pitchFamily="34" charset="-120"/>
              </a:rPr>
              <a:t>    allocate(t)</a:t>
            </a:r>
            <a:endParaRPr lang="en-US" sz="1100" dirty="0"/>
          </a:p>
          <a:p>
            <a:pPr indent="0" marL="0">
              <a:buNone/>
            </a:pPr>
            <a:r>
              <a:rPr lang="en-US" sz="1100" dirty="0">
                <a:solidFill>
                  <a:srgbClr val="5BE39A"/>
                </a:solidFill>
                <a:latin typeface="Consolas" pitchFamily="34" charset="0"/>
                <a:ea typeface="Consolas" pitchFamily="34" charset="-122"/>
                <a:cs typeface="Consolas" pitchFamily="34" charset="-120"/>
              </a:rPr>
              <a:t>    hadamard_transform(t)</a:t>
            </a:r>
            <a:endParaRPr lang="en-US" sz="1100" dirty="0"/>
          </a:p>
          <a:p>
            <a:pPr indent="0" marL="0">
              <a:buNone/>
            </a:pPr>
            <a:r>
              <a:rPr lang="en-US" sz="1100" dirty="0">
                <a:solidFill>
                  <a:srgbClr val="5BE39A"/>
                </a:solidFill>
                <a:latin typeface="Consolas" pitchFamily="34" charset="0"/>
                <a:ea typeface="Consolas" pitchFamily="34" charset="-122"/>
                <a:cs typeface="Consolas" pitchFamily="34" charset="-120"/>
              </a:rPr>
              <a:t>    repeat(P, lambda k: [phase(cost(t), gammas[k]),</a:t>
            </a:r>
            <a:endParaRPr lang="en-US" sz="1100" dirty="0"/>
          </a:p>
          <a:p>
            <a:pPr indent="0" marL="0">
              <a:buNone/>
            </a:pPr>
            <a:r>
              <a:rPr lang="en-US" sz="1100" dirty="0">
                <a:solidFill>
                  <a:srgbClr val="5BE39A"/>
                </a:solidFill>
                <a:latin typeface="Consolas" pitchFamily="34" charset="0"/>
                <a:ea typeface="Consolas" pitchFamily="34" charset="-122"/>
                <a:cs typeface="Consolas" pitchFamily="34" charset="-120"/>
              </a:rPr>
              <a:t>                        apply_to_all(lambda q: RX(2*betas[k], q), t)])</a:t>
            </a:r>
            <a:endParaRPr lang="en-US" sz="1100" dirty="0"/>
          </a:p>
          <a:p>
            <a:pPr indent="0" marL="0">
              <a:buNone/>
            </a:pPr>
            <a:endParaRPr lang="en-US" sz="1100" dirty="0"/>
          </a:p>
          <a:p>
            <a:pPr indent="0" marL="0">
              <a:buNone/>
            </a:pPr>
            <a:r>
              <a:rPr lang="en-US" sz="1100" dirty="0">
                <a:solidFill>
                  <a:srgbClr val="5BE39A"/>
                </a:solidFill>
                <a:latin typeface="Consolas" pitchFamily="34" charset="0"/>
                <a:ea typeface="Consolas" pitchFamily="34" charset="-122"/>
                <a:cs typeface="Consolas" pitchFamily="34" charset="-120"/>
              </a:rPr>
              <a:t>qprog = synthesize(qmod)   # width 12, depth 59, 92 CX</a:t>
            </a:r>
            <a:endParaRPr lang="en-US" sz="1100" dirty="0"/>
          </a:p>
          <a:p>
            <a:pPr indent="0" marL="0">
              <a:buNone/>
            </a:pPr>
            <a:r>
              <a:rPr lang="en-US" sz="1100" dirty="0">
                <a:solidFill>
                  <a:srgbClr val="5BE39A"/>
                </a:solidFill>
                <a:latin typeface="Consolas" pitchFamily="34" charset="0"/>
                <a:ea typeface="Consolas" pitchFamily="34" charset="-122"/>
                <a:cs typeface="Consolas" pitchFamily="34" charset="-120"/>
              </a:rPr>
              <a:t>res = execute(qprog, gammas=[0.0654], betas=[1.1293])  # hot start</a:t>
            </a:r>
            <a:endParaRPr lang="en-US" sz="1100" dirty="0"/>
          </a:p>
        </p:txBody>
      </p:sp>
      <p:pic>
        <p:nvPicPr>
          <p:cNvPr id="12" name="Image 0" descr="C:\Projects\mantiq-factor-antenna-tilt\charts\circuit_stats.png">    </p:cNvPr>
          <p:cNvPicPr>
            <a:picLocks noChangeAspect="1"/>
          </p:cNvPicPr>
          <p:nvPr/>
        </p:nvPicPr>
        <p:blipFill>
          <a:blip r:embed="rId1"/>
          <a:stretch>
            <a:fillRect/>
          </a:stretch>
        </p:blipFill>
        <p:spPr>
          <a:xfrm>
            <a:off x="7223760" y="1417320"/>
            <a:ext cx="4572000" cy="2377440"/>
          </a:xfrm>
          <a:prstGeom prst="rect">
            <a:avLst/>
          </a:prstGeom>
        </p:spPr>
      </p:pic>
      <p:sp>
        <p:nvSpPr>
          <p:cNvPr id="13" name="Text 10"/>
          <p:cNvSpPr/>
          <p:nvPr/>
        </p:nvSpPr>
        <p:spPr>
          <a:xfrm>
            <a:off x="7223760" y="3794760"/>
            <a:ext cx="4572000" cy="365760"/>
          </a:xfrm>
          <a:prstGeom prst="rect">
            <a:avLst/>
          </a:prstGeom>
          <a:noFill/>
          <a:ln/>
        </p:spPr>
        <p:txBody>
          <a:bodyPr wrap="square" lIns="0" tIns="0" rIns="0" bIns="0" rtlCol="0" anchor="ctr"/>
          <a:lstStyle/>
          <a:p>
            <a:pPr indent="0" marL="0">
              <a:buNone/>
            </a:pPr>
            <a:r>
              <a:rPr lang="en-US" sz="1050" i="1" dirty="0">
                <a:solidFill>
                  <a:srgbClr val="9AA3BD"/>
                </a:solidFill>
                <a:latin typeface="Calibri" pitchFamily="34" charset="0"/>
                <a:ea typeface="Calibri" pitchFamily="34" charset="-122"/>
                <a:cs typeface="Calibri" pitchFamily="34" charset="-120"/>
              </a:rPr>
              <a:t>charts/circuit_stats.png: synthesized circuit sizes for p = 1 and p = 2.</a:t>
            </a:r>
            <a:endParaRPr lang="en-US" sz="1050" dirty="0"/>
          </a:p>
        </p:txBody>
      </p:sp>
      <p:sp>
        <p:nvSpPr>
          <p:cNvPr id="14" name="Text 11"/>
          <p:cNvSpPr/>
          <p:nvPr/>
        </p:nvSpPr>
        <p:spPr>
          <a:xfrm>
            <a:off x="7223760" y="4206240"/>
            <a:ext cx="4572000" cy="1828800"/>
          </a:xfrm>
          <a:prstGeom prst="rect">
            <a:avLst/>
          </a:prstGeom>
          <a:noFill/>
          <a:ln/>
        </p:spPr>
        <p:txBody>
          <a:bodyPr wrap="square" lIns="635" tIns="635" rIns="635" bIns="635" rtlCol="0" anchor="t"/>
          <a:lstStyle/>
          <a:p>
            <a:pPr marL="342900" indent="-342900">
              <a:spcAft>
                <a:spcPts val="600"/>
              </a:spcAft>
              <a:buSzPct val="100000"/>
              <a:buChar char="▸"/>
            </a:pPr>
            <a:r>
              <a:rPr lang="en-US" sz="1250" dirty="0">
                <a:solidFill>
                  <a:srgbClr val="F4F6FB"/>
                </a:solidFill>
                <a:latin typeface="Calibri" pitchFamily="34" charset="0"/>
                <a:ea typeface="Calibri" pitchFamily="34" charset="-122"/>
                <a:cs typeface="Calibri" pitchFamily="34" charset="-120"/>
              </a:rPr>
              <a:t>No hand-built CX ladders: phase() takes the arithmetic cost expression and Classiq synthesizes the diagonal unitary</a:t>
            </a:r>
            <a:endParaRPr lang="en-US" sz="1250" dirty="0"/>
          </a:p>
          <a:p>
            <a:pPr marL="342900" indent="-342900">
              <a:spcAft>
                <a:spcPts val="600"/>
              </a:spcAft>
              <a:buSzPct val="100000"/>
              <a:buChar char="▸"/>
            </a:pPr>
            <a:r>
              <a:rPr lang="en-US" sz="1250" dirty="0">
                <a:solidFill>
                  <a:srgbClr val="F4F6FB"/>
                </a:solidFill>
                <a:latin typeface="Calibri" pitchFamily="34" charset="0"/>
                <a:ea typeface="Calibri" pitchFamily="34" charset="-122"/>
                <a:cs typeface="Calibri" pitchFamily="34" charset="-120"/>
              </a:rPr>
              <a:t>The Pauli decomposition (gates/) exists only to predict gate counts and to feed Wolfram; the SDK never sees it</a:t>
            </a:r>
            <a:endParaRPr lang="en-US" sz="1250" dirty="0"/>
          </a:p>
          <a:p>
            <a:pPr marL="342900" indent="-342900">
              <a:spcAft>
                <a:spcPts val="600"/>
              </a:spcAft>
              <a:buSzPct val="100000"/>
              <a:buChar char="▸"/>
            </a:pPr>
            <a:r>
              <a:rPr lang="en-US" sz="1250" dirty="0">
                <a:solidFill>
                  <a:srgbClr val="F4F6FB"/>
                </a:solidFill>
                <a:latin typeface="Calibri" pitchFamily="34" charset="0"/>
                <a:ea typeface="Calibri" pitchFamily="34" charset="-122"/>
                <a:cs typeface="Calibri" pitchFamily="34" charset="-120"/>
              </a:rPr>
              <a:t>Deliverables: antenna_tilt_optimization.ipynb, .qmod, .synthesis_options.json, .metadata.json (classiq-library format)</a:t>
            </a:r>
            <a:endParaRPr lang="en-US" sz="1250" dirty="0"/>
          </a:p>
          <a:p>
            <a:pPr marL="342900" indent="-342900">
              <a:spcAft>
                <a:spcPts val="600"/>
              </a:spcAft>
              <a:buSzPct val="100000"/>
              <a:buChar char="▸"/>
            </a:pPr>
            <a:r>
              <a:rPr lang="en-US" sz="1250" dirty="0">
                <a:solidFill>
                  <a:srgbClr val="F4F6FB"/>
                </a:solidFill>
                <a:latin typeface="Calibri" pitchFamily="34" charset="0"/>
                <a:ea typeface="Calibri" pitchFamily="34" charset="-122"/>
                <a:cs typeface="Calibri" pitchFamily="34" charset="-120"/>
              </a:rPr>
              <a:t>classiq/qaoa_tilt_classiq.py is the standalone script with COBYLA on the simulator</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70B1C"/>
        </a:solidFill>
      </p:bgPr>
    </p:bg>
    <p:spTree>
      <p:nvGrpSpPr>
        <p:cNvPr id="1" name=""/>
        <p:cNvGrpSpPr/>
        <p:nvPr/>
      </p:nvGrpSpPr>
      <p:grpSpPr>
        <a:xfrm>
          <a:off x="0" y="0"/>
          <a:ext cx="0" cy="0"/>
          <a:chOff x="0" y="0"/>
          <a:chExt cx="0" cy="0"/>
        </a:xfrm>
      </p:grpSpPr>
      <p:sp>
        <p:nvSpPr>
          <p:cNvPr id="2" name="Shape 0"/>
          <p:cNvSpPr/>
          <p:nvPr/>
        </p:nvSpPr>
        <p:spPr>
          <a:xfrm>
            <a:off x="10378440" y="6035040"/>
            <a:ext cx="1600200" cy="640080"/>
          </a:xfrm>
          <a:prstGeom prst="roundRect">
            <a:avLst>
              <a:gd name="adj" fmla="val 14286"/>
            </a:avLst>
          </a:prstGeom>
          <a:solidFill>
            <a:srgbClr val="F2B632"/>
          </a:solidFill>
          <a:ln w="12700">
            <a:solidFill>
              <a:srgbClr val="F2B632"/>
            </a:solidFill>
            <a:prstDash val="solid"/>
          </a:ln>
        </p:spPr>
      </p:sp>
      <p:sp>
        <p:nvSpPr>
          <p:cNvPr id="3" name="Text 1"/>
          <p:cNvSpPr/>
          <p:nvPr/>
        </p:nvSpPr>
        <p:spPr>
          <a:xfrm>
            <a:off x="10378440" y="6035040"/>
            <a:ext cx="1600200" cy="640080"/>
          </a:xfrm>
          <a:prstGeom prst="rect">
            <a:avLst/>
          </a:prstGeom>
          <a:noFill/>
          <a:ln/>
        </p:spPr>
        <p:txBody>
          <a:bodyPr wrap="square" lIns="0" tIns="0" rIns="0" bIns="0" rtlCol="0" anchor="ctr"/>
          <a:lstStyle/>
          <a:p>
            <a:pPr algn="ctr" indent="0" marL="0">
              <a:buNone/>
            </a:pPr>
            <a:r>
              <a:rPr lang="en-US" sz="2800" b="1" dirty="0">
                <a:solidFill>
                  <a:srgbClr val="070B1C"/>
                </a:solidFill>
                <a:latin typeface="Calibri" pitchFamily="34" charset="0"/>
                <a:ea typeface="Calibri" pitchFamily="34" charset="-122"/>
                <a:cs typeface="Calibri" pitchFamily="34" charset="-120"/>
              </a:rPr>
              <a:t>11 / 16</a:t>
            </a:r>
            <a:endParaRPr lang="en-US" sz="2800" dirty="0"/>
          </a:p>
        </p:txBody>
      </p:sp>
      <p:sp>
        <p:nvSpPr>
          <p:cNvPr id="4" name="Shape 2"/>
          <p:cNvSpPr/>
          <p:nvPr/>
        </p:nvSpPr>
        <p:spPr>
          <a:xfrm>
            <a:off x="0" y="0"/>
            <a:ext cx="164592" cy="6858000"/>
          </a:xfrm>
          <a:prstGeom prst="rect">
            <a:avLst/>
          </a:prstGeom>
          <a:solidFill>
            <a:srgbClr val="F2B632"/>
          </a:solidFill>
          <a:ln/>
        </p:spPr>
      </p:sp>
      <p:sp>
        <p:nvSpPr>
          <p:cNvPr id="5" name="Text 3"/>
          <p:cNvSpPr/>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FD4D4"/>
                </a:solidFill>
                <a:latin typeface="Calibri" pitchFamily="34" charset="0"/>
                <a:ea typeface="Calibri" pitchFamily="34" charset="-122"/>
                <a:cs typeface="Calibri" pitchFamily="34" charset="-120"/>
              </a:rPr>
              <a:t>SLIDE 11 / 16   |   OUTPUT</a:t>
            </a:r>
            <a:endParaRPr lang="en-US" sz="1100" dirty="0"/>
          </a:p>
        </p:txBody>
      </p:sp>
      <p:sp>
        <p:nvSpPr>
          <p:cNvPr id="6" name="Text 4"/>
          <p:cNvSpPr/>
          <p:nvPr/>
        </p:nvSpPr>
        <p:spPr>
          <a:xfrm>
            <a:off x="548640" y="594360"/>
            <a:ext cx="11064240" cy="685800"/>
          </a:xfrm>
          <a:prstGeom prst="rect">
            <a:avLst/>
          </a:prstGeom>
          <a:noFill/>
          <a:ln/>
        </p:spPr>
        <p:txBody>
          <a:bodyPr wrap="square" lIns="0" tIns="0" rIns="0" bIns="0" rtlCol="0" anchor="ctr"/>
          <a:lstStyle/>
          <a:p>
            <a:pPr indent="0" marL="0">
              <a:buNone/>
            </a:pPr>
            <a:r>
              <a:rPr lang="en-US" sz="3000" b="1" dirty="0">
                <a:solidFill>
                  <a:srgbClr val="F4F6FB"/>
                </a:solidFill>
                <a:latin typeface="Calibri" pitchFamily="34" charset="0"/>
                <a:ea typeface="Calibri" pitchFamily="34" charset="-122"/>
                <a:cs typeface="Calibri" pitchFamily="34" charset="-120"/>
              </a:rPr>
              <a:t>Stage 7, Output: Classiq reproduces the Wolfram prediction</a:t>
            </a:r>
            <a:endParaRPr lang="en-US" sz="3000" dirty="0"/>
          </a:p>
        </p:txBody>
      </p:sp>
      <p:sp>
        <p:nvSpPr>
          <p:cNvPr id="7" name="Text 5"/>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9AA3BD"/>
                </a:solidFill>
                <a:latin typeface="Calibri" pitchFamily="34" charset="0"/>
                <a:ea typeface="Calibri" pitchFamily="34" charset="-122"/>
                <a:cs typeface="Calibri" pitchFamily="34" charset="-120"/>
              </a:rPr>
              <a:t>MantiQ Factor  |  Antenna tilt with QAOA  |  QUBIT 2026 case study</a:t>
            </a:r>
            <a:endParaRPr lang="en-US" sz="1000" dirty="0"/>
          </a:p>
        </p:txBody>
      </p:sp>
      <p:sp>
        <p:nvSpPr>
          <p:cNvPr id="8" name="Shape 6"/>
          <p:cNvSpPr/>
          <p:nvPr/>
        </p:nvSpPr>
        <p:spPr>
          <a:xfrm>
            <a:off x="8001000" y="6108192"/>
            <a:ext cx="2240280" cy="502920"/>
          </a:xfrm>
          <a:prstGeom prst="roundRect">
            <a:avLst>
              <a:gd name="adj" fmla="val 18182"/>
            </a:avLst>
          </a:prstGeom>
          <a:solidFill>
            <a:srgbClr val="131A3D"/>
          </a:solidFill>
          <a:ln w="12700">
            <a:solidFill>
              <a:srgbClr val="F2B632"/>
            </a:solidFill>
            <a:prstDash val="solid"/>
          </a:ln>
        </p:spPr>
      </p:sp>
      <p:sp>
        <p:nvSpPr>
          <p:cNvPr id="9" name="Text 7"/>
          <p:cNvSpPr/>
          <p:nvPr/>
        </p:nvSpPr>
        <p:spPr>
          <a:xfrm>
            <a:off x="8001000" y="6108192"/>
            <a:ext cx="2240280" cy="502920"/>
          </a:xfrm>
          <a:prstGeom prst="rect">
            <a:avLst/>
          </a:prstGeom>
          <a:noFill/>
          <a:ln/>
        </p:spPr>
        <p:txBody>
          <a:bodyPr wrap="square" lIns="0" tIns="0" rIns="0" bIns="0" rtlCol="0" anchor="ctr"/>
          <a:lstStyle/>
          <a:p>
            <a:pPr algn="ctr" indent="0" marL="0">
              <a:buNone/>
            </a:pPr>
            <a:r>
              <a:rPr lang="en-US" sz="1300" b="1" dirty="0">
                <a:solidFill>
                  <a:srgbClr val="F2B632"/>
                </a:solidFill>
                <a:latin typeface="Calibri" pitchFamily="34" charset="0"/>
                <a:ea typeface="Calibri" pitchFamily="34" charset="-122"/>
                <a:cs typeface="Calibri" pitchFamily="34" charset="-120"/>
              </a:rPr>
              <a:t>STAGE 7  </a:t>
            </a:r>
            <a:pPr algn="ctr" indent="0" marL="0">
              <a:buNone/>
            </a:pPr>
            <a:r>
              <a:rPr lang="en-US" sz="1300" dirty="0">
                <a:solidFill>
                  <a:srgbClr val="F4F6FB"/>
                </a:solidFill>
                <a:latin typeface="Calibri" pitchFamily="34" charset="0"/>
                <a:ea typeface="Calibri" pitchFamily="34" charset="-122"/>
                <a:cs typeface="Calibri" pitchFamily="34" charset="-120"/>
              </a:rPr>
              <a:t>Output</a:t>
            </a:r>
            <a:endParaRPr lang="en-US" sz="1300" dirty="0"/>
          </a:p>
        </p:txBody>
      </p:sp>
      <p:pic>
        <p:nvPicPr>
          <p:cNvPr id="10" name="Image 0" descr="C:\Projects\mantiq-factor-antenna-tilt\charts\wolfram_vs_classiq.png">    </p:cNvPr>
          <p:cNvPicPr>
            <a:picLocks noChangeAspect="1"/>
          </p:cNvPicPr>
          <p:nvPr/>
        </p:nvPicPr>
        <p:blipFill>
          <a:blip r:embed="rId1"/>
          <a:stretch>
            <a:fillRect/>
          </a:stretch>
        </p:blipFill>
        <p:spPr>
          <a:xfrm>
            <a:off x="548640" y="1417320"/>
            <a:ext cx="6766560" cy="2788920"/>
          </a:xfrm>
          <a:prstGeom prst="rect">
            <a:avLst/>
          </a:prstGeom>
        </p:spPr>
      </p:pic>
      <p:sp>
        <p:nvSpPr>
          <p:cNvPr id="11" name="Text 8"/>
          <p:cNvSpPr/>
          <p:nvPr/>
        </p:nvSpPr>
        <p:spPr>
          <a:xfrm>
            <a:off x="548640" y="4224528"/>
            <a:ext cx="6766560" cy="365760"/>
          </a:xfrm>
          <a:prstGeom prst="rect">
            <a:avLst/>
          </a:prstGeom>
          <a:noFill/>
          <a:ln/>
        </p:spPr>
        <p:txBody>
          <a:bodyPr wrap="square" lIns="0" tIns="0" rIns="0" bIns="0" rtlCol="0" anchor="ctr"/>
          <a:lstStyle/>
          <a:p>
            <a:pPr indent="0" marL="0">
              <a:buNone/>
            </a:pPr>
            <a:r>
              <a:rPr lang="en-US" sz="1050" i="1" dirty="0">
                <a:solidFill>
                  <a:srgbClr val="9AA3BD"/>
                </a:solidFill>
                <a:latin typeface="Calibri" pitchFamily="34" charset="0"/>
                <a:ea typeface="Calibri" pitchFamily="34" charset="-122"/>
                <a:cs typeface="Calibri" pitchFamily="34" charset="-120"/>
              </a:rPr>
              <a:t>charts/wolfram_vs_classiq.png: exact statevector (Wolfram) against 4096-shot samples on the Classiq simulator at the same angles.</a:t>
            </a:r>
            <a:endParaRPr lang="en-US" sz="1050" dirty="0"/>
          </a:p>
        </p:txBody>
      </p:sp>
      <p:pic>
        <p:nvPicPr>
          <p:cNvPr id="12" name="Image 1" descr="C:\Projects\mantiq-factor-antenna-tilt\charts\classiq_convergence.png">    </p:cNvPr>
          <p:cNvPicPr>
            <a:picLocks noChangeAspect="1"/>
          </p:cNvPicPr>
          <p:nvPr/>
        </p:nvPicPr>
        <p:blipFill>
          <a:blip r:embed="rId2"/>
          <a:stretch>
            <a:fillRect/>
          </a:stretch>
        </p:blipFill>
        <p:spPr>
          <a:xfrm>
            <a:off x="7498080" y="1417320"/>
            <a:ext cx="4297680" cy="2286000"/>
          </a:xfrm>
          <a:prstGeom prst="rect">
            <a:avLst/>
          </a:prstGeom>
        </p:spPr>
      </p:pic>
      <p:sp>
        <p:nvSpPr>
          <p:cNvPr id="13" name="Text 9"/>
          <p:cNvSpPr/>
          <p:nvPr/>
        </p:nvSpPr>
        <p:spPr>
          <a:xfrm>
            <a:off x="7498080" y="3721608"/>
            <a:ext cx="4297680" cy="365760"/>
          </a:xfrm>
          <a:prstGeom prst="rect">
            <a:avLst/>
          </a:prstGeom>
          <a:noFill/>
          <a:ln/>
        </p:spPr>
        <p:txBody>
          <a:bodyPr wrap="square" lIns="0" tIns="0" rIns="0" bIns="0" rtlCol="0" anchor="ctr"/>
          <a:lstStyle/>
          <a:p>
            <a:pPr indent="0" marL="0">
              <a:buNone/>
            </a:pPr>
            <a:r>
              <a:rPr lang="en-US" sz="1050" i="1" dirty="0">
                <a:solidFill>
                  <a:srgbClr val="9AA3BD"/>
                </a:solidFill>
                <a:latin typeface="Calibri" pitchFamily="34" charset="0"/>
                <a:ea typeface="Calibri" pitchFamily="34" charset="-122"/>
                <a:cs typeface="Calibri" pitchFamily="34" charset="-120"/>
              </a:rPr>
              <a:t>COBYLA on Classiq starting from the Wolfram angles: 8 iterations, no improvement over the hot start, angles stay at (0.065, 1.149).</a:t>
            </a:r>
            <a:endParaRPr lang="en-US" sz="1050" dirty="0"/>
          </a:p>
        </p:txBody>
      </p:sp>
      <p:sp>
        <p:nvSpPr>
          <p:cNvPr id="14" name="Shape 10"/>
          <p:cNvSpPr/>
          <p:nvPr/>
        </p:nvSpPr>
        <p:spPr>
          <a:xfrm>
            <a:off x="548640" y="4709160"/>
            <a:ext cx="2148840" cy="1234440"/>
          </a:xfrm>
          <a:prstGeom prst="roundRect">
            <a:avLst>
              <a:gd name="adj" fmla="val 5926"/>
            </a:avLst>
          </a:prstGeom>
          <a:solidFill>
            <a:srgbClr val="0D1330"/>
          </a:solidFill>
          <a:ln w="12700">
            <a:solidFill>
              <a:srgbClr val="0D1330"/>
            </a:solidFill>
            <a:prstDash val="solid"/>
          </a:ln>
        </p:spPr>
      </p:sp>
      <p:sp>
        <p:nvSpPr>
          <p:cNvPr id="15" name="Text 11"/>
          <p:cNvSpPr/>
          <p:nvPr/>
        </p:nvSpPr>
        <p:spPr>
          <a:xfrm>
            <a:off x="548640" y="4818888"/>
            <a:ext cx="2148840" cy="640080"/>
          </a:xfrm>
          <a:prstGeom prst="rect">
            <a:avLst/>
          </a:prstGeom>
          <a:noFill/>
          <a:ln/>
        </p:spPr>
        <p:txBody>
          <a:bodyPr wrap="square" lIns="0" tIns="0" rIns="0" bIns="0" rtlCol="0" anchor="ctr"/>
          <a:lstStyle/>
          <a:p>
            <a:pPr algn="ctr" indent="0" marL="0">
              <a:buNone/>
            </a:pPr>
            <a:r>
              <a:rPr lang="en-US" sz="2800" b="1" dirty="0">
                <a:solidFill>
                  <a:srgbClr val="2FD4D4"/>
                </a:solidFill>
                <a:latin typeface="Calibri" pitchFamily="34" charset="0"/>
                <a:ea typeface="Calibri" pitchFamily="34" charset="-122"/>
                <a:cs typeface="Calibri" pitchFamily="34" charset="-120"/>
              </a:rPr>
              <a:t>2.06</a:t>
            </a:r>
            <a:endParaRPr lang="en-US" sz="2800" dirty="0"/>
          </a:p>
        </p:txBody>
      </p:sp>
      <p:sp>
        <p:nvSpPr>
          <p:cNvPr id="16" name="Text 12"/>
          <p:cNvSpPr/>
          <p:nvPr/>
        </p:nvSpPr>
        <p:spPr>
          <a:xfrm>
            <a:off x="640080" y="5440680"/>
            <a:ext cx="1965960" cy="457200"/>
          </a:xfrm>
          <a:prstGeom prst="rect">
            <a:avLst/>
          </a:prstGeom>
          <a:noFill/>
          <a:ln/>
        </p:spPr>
        <p:txBody>
          <a:bodyPr wrap="square" lIns="0" tIns="0" rIns="0" bIns="0" rtlCol="0" anchor="ctr"/>
          <a:lstStyle/>
          <a:p>
            <a:pPr algn="ctr" indent="0" marL="0">
              <a:buNone/>
            </a:pPr>
            <a:r>
              <a:rPr lang="en-US" sz="1100" dirty="0">
                <a:solidFill>
                  <a:srgbClr val="9AA3BD"/>
                </a:solidFill>
                <a:latin typeface="Calibri" pitchFamily="34" charset="0"/>
                <a:ea typeface="Calibri" pitchFamily="34" charset="-122"/>
                <a:cs typeface="Calibri" pitchFamily="34" charset="-120"/>
              </a:rPr>
              <a:t>Classiq &lt;Cost&gt; p=1 (pred. 2.00)</a:t>
            </a:r>
            <a:endParaRPr lang="en-US" sz="1100" dirty="0"/>
          </a:p>
        </p:txBody>
      </p:sp>
      <p:sp>
        <p:nvSpPr>
          <p:cNvPr id="17" name="Shape 13"/>
          <p:cNvSpPr/>
          <p:nvPr/>
        </p:nvSpPr>
        <p:spPr>
          <a:xfrm>
            <a:off x="2834640" y="4709160"/>
            <a:ext cx="2148840" cy="1234440"/>
          </a:xfrm>
          <a:prstGeom prst="roundRect">
            <a:avLst>
              <a:gd name="adj" fmla="val 5926"/>
            </a:avLst>
          </a:prstGeom>
          <a:solidFill>
            <a:srgbClr val="0D1330"/>
          </a:solidFill>
          <a:ln w="12700">
            <a:solidFill>
              <a:srgbClr val="0D1330"/>
            </a:solidFill>
            <a:prstDash val="solid"/>
          </a:ln>
        </p:spPr>
      </p:sp>
      <p:sp>
        <p:nvSpPr>
          <p:cNvPr id="18" name="Text 14"/>
          <p:cNvSpPr/>
          <p:nvPr/>
        </p:nvSpPr>
        <p:spPr>
          <a:xfrm>
            <a:off x="2834640" y="4818888"/>
            <a:ext cx="2148840" cy="640080"/>
          </a:xfrm>
          <a:prstGeom prst="rect">
            <a:avLst/>
          </a:prstGeom>
          <a:noFill/>
          <a:ln/>
        </p:spPr>
        <p:txBody>
          <a:bodyPr wrap="square" lIns="0" tIns="0" rIns="0" bIns="0" rtlCol="0" anchor="ctr"/>
          <a:lstStyle/>
          <a:p>
            <a:pPr algn="ctr" indent="0" marL="0">
              <a:buNone/>
            </a:pPr>
            <a:r>
              <a:rPr lang="en-US" sz="2800" b="1" dirty="0">
                <a:solidFill>
                  <a:srgbClr val="2FD4D4"/>
                </a:solidFill>
                <a:latin typeface="Calibri" pitchFamily="34" charset="0"/>
                <a:ea typeface="Calibri" pitchFamily="34" charset="-122"/>
                <a:cs typeface="Calibri" pitchFamily="34" charset="-120"/>
              </a:rPr>
              <a:t>0.525</a:t>
            </a:r>
            <a:endParaRPr lang="en-US" sz="2800" dirty="0"/>
          </a:p>
        </p:txBody>
      </p:sp>
      <p:sp>
        <p:nvSpPr>
          <p:cNvPr id="19" name="Text 15"/>
          <p:cNvSpPr/>
          <p:nvPr/>
        </p:nvSpPr>
        <p:spPr>
          <a:xfrm>
            <a:off x="2926080" y="5440680"/>
            <a:ext cx="1965960" cy="457200"/>
          </a:xfrm>
          <a:prstGeom prst="rect">
            <a:avLst/>
          </a:prstGeom>
          <a:noFill/>
          <a:ln/>
        </p:spPr>
        <p:txBody>
          <a:bodyPr wrap="square" lIns="0" tIns="0" rIns="0" bIns="0" rtlCol="0" anchor="ctr"/>
          <a:lstStyle/>
          <a:p>
            <a:pPr algn="ctr" indent="0" marL="0">
              <a:buNone/>
            </a:pPr>
            <a:r>
              <a:rPr lang="en-US" sz="1100" dirty="0">
                <a:solidFill>
                  <a:srgbClr val="9AA3BD"/>
                </a:solidFill>
                <a:latin typeface="Calibri" pitchFamily="34" charset="0"/>
                <a:ea typeface="Calibri" pitchFamily="34" charset="-122"/>
                <a:cs typeface="Calibri" pitchFamily="34" charset="-120"/>
              </a:rPr>
              <a:t>P(cost&lt;0) (pred. 0.53)</a:t>
            </a:r>
            <a:endParaRPr lang="en-US" sz="1100" dirty="0"/>
          </a:p>
        </p:txBody>
      </p:sp>
      <p:sp>
        <p:nvSpPr>
          <p:cNvPr id="20" name="Shape 16"/>
          <p:cNvSpPr/>
          <p:nvPr/>
        </p:nvSpPr>
        <p:spPr>
          <a:xfrm>
            <a:off x="5120640" y="4709160"/>
            <a:ext cx="2194560" cy="1234440"/>
          </a:xfrm>
          <a:prstGeom prst="roundRect">
            <a:avLst>
              <a:gd name="adj" fmla="val 5926"/>
            </a:avLst>
          </a:prstGeom>
          <a:solidFill>
            <a:srgbClr val="0D1330"/>
          </a:solidFill>
          <a:ln w="12700">
            <a:solidFill>
              <a:srgbClr val="0D1330"/>
            </a:solidFill>
            <a:prstDash val="solid"/>
          </a:ln>
        </p:spPr>
      </p:sp>
      <p:sp>
        <p:nvSpPr>
          <p:cNvPr id="21" name="Text 17"/>
          <p:cNvSpPr/>
          <p:nvPr/>
        </p:nvSpPr>
        <p:spPr>
          <a:xfrm>
            <a:off x="5120640" y="4818888"/>
            <a:ext cx="2194560" cy="640080"/>
          </a:xfrm>
          <a:prstGeom prst="rect">
            <a:avLst/>
          </a:prstGeom>
          <a:noFill/>
          <a:ln/>
        </p:spPr>
        <p:txBody>
          <a:bodyPr wrap="square" lIns="0" tIns="0" rIns="0" bIns="0" rtlCol="0" anchor="ctr"/>
          <a:lstStyle/>
          <a:p>
            <a:pPr algn="ctr" indent="0" marL="0">
              <a:buNone/>
            </a:pPr>
            <a:r>
              <a:rPr lang="en-US" sz="2800" b="1" dirty="0">
                <a:solidFill>
                  <a:srgbClr val="F2B632"/>
                </a:solidFill>
                <a:latin typeface="Calibri" pitchFamily="34" charset="0"/>
                <a:ea typeface="Calibri" pitchFamily="34" charset="-122"/>
                <a:cs typeface="Calibri" pitchFamily="34" charset="-120"/>
              </a:rPr>
              <a:t>29x</a:t>
            </a:r>
            <a:endParaRPr lang="en-US" sz="2800" dirty="0"/>
          </a:p>
        </p:txBody>
      </p:sp>
      <p:sp>
        <p:nvSpPr>
          <p:cNvPr id="22" name="Text 18"/>
          <p:cNvSpPr/>
          <p:nvPr/>
        </p:nvSpPr>
        <p:spPr>
          <a:xfrm>
            <a:off x="5212080" y="5440680"/>
            <a:ext cx="2011680" cy="457200"/>
          </a:xfrm>
          <a:prstGeom prst="rect">
            <a:avLst/>
          </a:prstGeom>
          <a:noFill/>
          <a:ln/>
        </p:spPr>
        <p:txBody>
          <a:bodyPr wrap="square" lIns="0" tIns="0" rIns="0" bIns="0" rtlCol="0" anchor="ctr"/>
          <a:lstStyle/>
          <a:p>
            <a:pPr algn="ctr" indent="0" marL="0">
              <a:buNone/>
            </a:pPr>
            <a:r>
              <a:rPr lang="en-US" sz="1100" dirty="0">
                <a:solidFill>
                  <a:srgbClr val="9AA3BD"/>
                </a:solidFill>
                <a:latin typeface="Calibri" pitchFamily="34" charset="0"/>
                <a:ea typeface="Calibri" pitchFamily="34" charset="-122"/>
                <a:cs typeface="Calibri" pitchFamily="34" charset="-120"/>
              </a:rPr>
              <a:t>P(optimum) vs uniform (pred. 27x)</a:t>
            </a:r>
            <a:endParaRPr lang="en-US" sz="1100" dirty="0"/>
          </a:p>
        </p:txBody>
      </p:sp>
      <p:sp>
        <p:nvSpPr>
          <p:cNvPr id="23" name="Shape 19"/>
          <p:cNvSpPr/>
          <p:nvPr/>
        </p:nvSpPr>
        <p:spPr>
          <a:xfrm>
            <a:off x="7498080" y="4709160"/>
            <a:ext cx="2057400" cy="1234440"/>
          </a:xfrm>
          <a:prstGeom prst="roundRect">
            <a:avLst>
              <a:gd name="adj" fmla="val 5926"/>
            </a:avLst>
          </a:prstGeom>
          <a:solidFill>
            <a:srgbClr val="0D1330"/>
          </a:solidFill>
          <a:ln w="12700">
            <a:solidFill>
              <a:srgbClr val="0D1330"/>
            </a:solidFill>
            <a:prstDash val="solid"/>
          </a:ln>
        </p:spPr>
      </p:sp>
      <p:sp>
        <p:nvSpPr>
          <p:cNvPr id="24" name="Text 20"/>
          <p:cNvSpPr/>
          <p:nvPr/>
        </p:nvSpPr>
        <p:spPr>
          <a:xfrm>
            <a:off x="7498080" y="4818888"/>
            <a:ext cx="2057400" cy="640080"/>
          </a:xfrm>
          <a:prstGeom prst="rect">
            <a:avLst/>
          </a:prstGeom>
          <a:noFill/>
          <a:ln/>
        </p:spPr>
        <p:txBody>
          <a:bodyPr wrap="square" lIns="0" tIns="0" rIns="0" bIns="0" rtlCol="0" anchor="ctr"/>
          <a:lstStyle/>
          <a:p>
            <a:pPr algn="ctr" indent="0" marL="0">
              <a:buNone/>
            </a:pPr>
            <a:r>
              <a:rPr lang="en-US" sz="2800" b="1" dirty="0">
                <a:solidFill>
                  <a:srgbClr val="2FD4D4"/>
                </a:solidFill>
                <a:latin typeface="Calibri" pitchFamily="34" charset="0"/>
                <a:ea typeface="Calibri" pitchFamily="34" charset="-122"/>
                <a:cs typeface="Calibri" pitchFamily="34" charset="-120"/>
              </a:rPr>
              <a:t>-0.39</a:t>
            </a:r>
            <a:endParaRPr lang="en-US" sz="2800" dirty="0"/>
          </a:p>
        </p:txBody>
      </p:sp>
      <p:sp>
        <p:nvSpPr>
          <p:cNvPr id="25" name="Text 21"/>
          <p:cNvSpPr/>
          <p:nvPr/>
        </p:nvSpPr>
        <p:spPr>
          <a:xfrm>
            <a:off x="7589520" y="5440680"/>
            <a:ext cx="1874520" cy="457200"/>
          </a:xfrm>
          <a:prstGeom prst="rect">
            <a:avLst/>
          </a:prstGeom>
          <a:noFill/>
          <a:ln/>
        </p:spPr>
        <p:txBody>
          <a:bodyPr wrap="square" lIns="0" tIns="0" rIns="0" bIns="0" rtlCol="0" anchor="ctr"/>
          <a:lstStyle/>
          <a:p>
            <a:pPr algn="ctr" indent="0" marL="0">
              <a:buNone/>
            </a:pPr>
            <a:r>
              <a:rPr lang="en-US" sz="1100" dirty="0">
                <a:solidFill>
                  <a:srgbClr val="9AA3BD"/>
                </a:solidFill>
                <a:latin typeface="Calibri" pitchFamily="34" charset="0"/>
                <a:ea typeface="Calibri" pitchFamily="34" charset="-122"/>
                <a:cs typeface="Calibri" pitchFamily="34" charset="-120"/>
              </a:rPr>
              <a:t>Classiq &lt;Cost&gt; p=2 (pred. -0.38)</a:t>
            </a:r>
            <a:endParaRPr lang="en-US" sz="1100" dirty="0"/>
          </a:p>
        </p:txBody>
      </p:sp>
      <p:sp>
        <p:nvSpPr>
          <p:cNvPr id="26" name="Shape 22"/>
          <p:cNvSpPr/>
          <p:nvPr/>
        </p:nvSpPr>
        <p:spPr>
          <a:xfrm>
            <a:off x="9692640" y="4709160"/>
            <a:ext cx="2103120" cy="1234440"/>
          </a:xfrm>
          <a:prstGeom prst="roundRect">
            <a:avLst>
              <a:gd name="adj" fmla="val 5926"/>
            </a:avLst>
          </a:prstGeom>
          <a:solidFill>
            <a:srgbClr val="0D1330"/>
          </a:solidFill>
          <a:ln w="12700">
            <a:solidFill>
              <a:srgbClr val="0D1330"/>
            </a:solidFill>
            <a:prstDash val="solid"/>
          </a:ln>
        </p:spPr>
      </p:sp>
      <p:sp>
        <p:nvSpPr>
          <p:cNvPr id="27" name="Text 23"/>
          <p:cNvSpPr/>
          <p:nvPr/>
        </p:nvSpPr>
        <p:spPr>
          <a:xfrm>
            <a:off x="9692640" y="4818888"/>
            <a:ext cx="2103120" cy="640080"/>
          </a:xfrm>
          <a:prstGeom prst="rect">
            <a:avLst/>
          </a:prstGeom>
          <a:noFill/>
          <a:ln/>
        </p:spPr>
        <p:txBody>
          <a:bodyPr wrap="square" lIns="0" tIns="0" rIns="0" bIns="0" rtlCol="0" anchor="ctr"/>
          <a:lstStyle/>
          <a:p>
            <a:pPr algn="ctr" indent="0" marL="0">
              <a:buNone/>
            </a:pPr>
            <a:r>
              <a:rPr lang="en-US" sz="2800" b="1" dirty="0">
                <a:solidFill>
                  <a:srgbClr val="F2B632"/>
                </a:solidFill>
                <a:latin typeface="Calibri" pitchFamily="34" charset="0"/>
                <a:ea typeface="Calibri" pitchFamily="34" charset="-122"/>
                <a:cs typeface="Calibri" pitchFamily="34" charset="-120"/>
              </a:rPr>
              <a:t>(0,3,0,0,0,0)</a:t>
            </a:r>
            <a:endParaRPr lang="en-US" sz="2800" dirty="0"/>
          </a:p>
        </p:txBody>
      </p:sp>
      <p:sp>
        <p:nvSpPr>
          <p:cNvPr id="28" name="Text 24"/>
          <p:cNvSpPr/>
          <p:nvPr/>
        </p:nvSpPr>
        <p:spPr>
          <a:xfrm>
            <a:off x="9784080" y="5440680"/>
            <a:ext cx="1920240" cy="457200"/>
          </a:xfrm>
          <a:prstGeom prst="rect">
            <a:avLst/>
          </a:prstGeom>
          <a:noFill/>
          <a:ln/>
        </p:spPr>
        <p:txBody>
          <a:bodyPr wrap="square" lIns="0" tIns="0" rIns="0" bIns="0" rtlCol="0" anchor="ctr"/>
          <a:lstStyle/>
          <a:p>
            <a:pPr algn="ctr" indent="0" marL="0">
              <a:buNone/>
            </a:pPr>
            <a:r>
              <a:rPr lang="en-US" sz="1100" dirty="0">
                <a:solidFill>
                  <a:srgbClr val="9AA3BD"/>
                </a:solidFill>
                <a:latin typeface="Calibri" pitchFamily="34" charset="0"/>
                <a:ea typeface="Calibri" pitchFamily="34" charset="-122"/>
                <a:cs typeface="Calibri" pitchFamily="34" charset="-120"/>
              </a:rPr>
              <a:t>best sampled plan = proven optimum</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70B1C"/>
        </a:solidFill>
      </p:bgPr>
    </p:bg>
    <p:spTree>
      <p:nvGrpSpPr>
        <p:cNvPr id="1" name=""/>
        <p:cNvGrpSpPr/>
        <p:nvPr/>
      </p:nvGrpSpPr>
      <p:grpSpPr>
        <a:xfrm>
          <a:off x="0" y="0"/>
          <a:ext cx="0" cy="0"/>
          <a:chOff x="0" y="0"/>
          <a:chExt cx="0" cy="0"/>
        </a:xfrm>
      </p:grpSpPr>
      <p:sp>
        <p:nvSpPr>
          <p:cNvPr id="2" name="Shape 0"/>
          <p:cNvSpPr/>
          <p:nvPr/>
        </p:nvSpPr>
        <p:spPr>
          <a:xfrm>
            <a:off x="10378440" y="6035040"/>
            <a:ext cx="1600200" cy="640080"/>
          </a:xfrm>
          <a:prstGeom prst="roundRect">
            <a:avLst>
              <a:gd name="adj" fmla="val 14286"/>
            </a:avLst>
          </a:prstGeom>
          <a:solidFill>
            <a:srgbClr val="F2B632"/>
          </a:solidFill>
          <a:ln w="12700">
            <a:solidFill>
              <a:srgbClr val="F2B632"/>
            </a:solidFill>
            <a:prstDash val="solid"/>
          </a:ln>
        </p:spPr>
      </p:sp>
      <p:sp>
        <p:nvSpPr>
          <p:cNvPr id="3" name="Text 1"/>
          <p:cNvSpPr/>
          <p:nvPr/>
        </p:nvSpPr>
        <p:spPr>
          <a:xfrm>
            <a:off x="10378440" y="6035040"/>
            <a:ext cx="1600200" cy="640080"/>
          </a:xfrm>
          <a:prstGeom prst="rect">
            <a:avLst/>
          </a:prstGeom>
          <a:noFill/>
          <a:ln/>
        </p:spPr>
        <p:txBody>
          <a:bodyPr wrap="square" lIns="0" tIns="0" rIns="0" bIns="0" rtlCol="0" anchor="ctr"/>
          <a:lstStyle/>
          <a:p>
            <a:pPr algn="ctr" indent="0" marL="0">
              <a:buNone/>
            </a:pPr>
            <a:r>
              <a:rPr lang="en-US" sz="2800" b="1" dirty="0">
                <a:solidFill>
                  <a:srgbClr val="070B1C"/>
                </a:solidFill>
                <a:latin typeface="Calibri" pitchFamily="34" charset="0"/>
                <a:ea typeface="Calibri" pitchFamily="34" charset="-122"/>
                <a:cs typeface="Calibri" pitchFamily="34" charset="-120"/>
              </a:rPr>
              <a:t>12 / 16</a:t>
            </a:r>
            <a:endParaRPr lang="en-US" sz="2800" dirty="0"/>
          </a:p>
        </p:txBody>
      </p:sp>
      <p:sp>
        <p:nvSpPr>
          <p:cNvPr id="4" name="Shape 2"/>
          <p:cNvSpPr/>
          <p:nvPr/>
        </p:nvSpPr>
        <p:spPr>
          <a:xfrm>
            <a:off x="0" y="0"/>
            <a:ext cx="164592" cy="6858000"/>
          </a:xfrm>
          <a:prstGeom prst="rect">
            <a:avLst/>
          </a:prstGeom>
          <a:solidFill>
            <a:srgbClr val="F2B632"/>
          </a:solidFill>
          <a:ln/>
        </p:spPr>
      </p:sp>
      <p:sp>
        <p:nvSpPr>
          <p:cNvPr id="5" name="Text 3"/>
          <p:cNvSpPr/>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FD4D4"/>
                </a:solidFill>
                <a:latin typeface="Calibri" pitchFamily="34" charset="0"/>
                <a:ea typeface="Calibri" pitchFamily="34" charset="-122"/>
                <a:cs typeface="Calibri" pitchFamily="34" charset="-120"/>
              </a:rPr>
              <a:t>SLIDE 12 / 16   |   CROSS-CHECK</a:t>
            </a:r>
            <a:endParaRPr lang="en-US" sz="1100" dirty="0"/>
          </a:p>
        </p:txBody>
      </p:sp>
      <p:sp>
        <p:nvSpPr>
          <p:cNvPr id="6" name="Text 4"/>
          <p:cNvSpPr/>
          <p:nvPr/>
        </p:nvSpPr>
        <p:spPr>
          <a:xfrm>
            <a:off x="548640" y="594360"/>
            <a:ext cx="11064240" cy="685800"/>
          </a:xfrm>
          <a:prstGeom prst="rect">
            <a:avLst/>
          </a:prstGeom>
          <a:noFill/>
          <a:ln/>
        </p:spPr>
        <p:txBody>
          <a:bodyPr wrap="square" lIns="0" tIns="0" rIns="0" bIns="0" rtlCol="0" anchor="ctr"/>
          <a:lstStyle/>
          <a:p>
            <a:pPr indent="0" marL="0">
              <a:buNone/>
            </a:pPr>
            <a:r>
              <a:rPr lang="en-US" sz="3000" b="1" dirty="0">
                <a:solidFill>
                  <a:srgbClr val="F4F6FB"/>
                </a:solidFill>
                <a:latin typeface="Calibri" pitchFamily="34" charset="0"/>
                <a:ea typeface="Calibri" pitchFamily="34" charset="-122"/>
                <a:cs typeface="Calibri" pitchFamily="34" charset="-120"/>
              </a:rPr>
              <a:t>Three independent engines, one set of numbers</a:t>
            </a:r>
            <a:endParaRPr lang="en-US" sz="3000" dirty="0"/>
          </a:p>
        </p:txBody>
      </p:sp>
      <p:sp>
        <p:nvSpPr>
          <p:cNvPr id="7" name="Text 5"/>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9AA3BD"/>
                </a:solidFill>
                <a:latin typeface="Calibri" pitchFamily="34" charset="0"/>
                <a:ea typeface="Calibri" pitchFamily="34" charset="-122"/>
                <a:cs typeface="Calibri" pitchFamily="34" charset="-120"/>
              </a:rPr>
              <a:t>MantiQ Factor  |  Antenna tilt with QAOA  |  QUBIT 2026 case study</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155680" cy="914400"/>
        </p:xfrm>
        <a:graphic>
          <a:graphicData uri="http://schemas.openxmlformats.org/drawingml/2006/table">
            <a:tbl>
              <a:tblPr/>
              <a:tblGrid>
                <a:gridCol w="2468880"/>
                <a:gridCol w="2194560"/>
                <a:gridCol w="2194560"/>
                <a:gridCol w="3017520"/>
                <a:gridCol w="1280160"/>
              </a:tblGrid>
              <a:tr h="420624">
                <a:tc>
                  <a:txBody>
                    <a:bodyPr/>
                    <a:lstStyle/>
                    <a:p>
                      <a:pPr indent="0" marL="0">
                        <a:buNone/>
                      </a:pPr>
                      <a:r>
                        <a:rPr lang="en-US" sz="1200" b="1" dirty="0">
                          <a:solidFill>
                            <a:srgbClr val="F2B632"/>
                          </a:solidFill>
                          <a:latin typeface="Calibri" pitchFamily="34" charset="0"/>
                          <a:ea typeface="Calibri" pitchFamily="34" charset="-122"/>
                          <a:cs typeface="Calibri" pitchFamily="34" charset="-120"/>
                        </a:rPr>
                        <a:t>quantity</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131A3D"/>
                    </a:solidFill>
                  </a:tcPr>
                </a:tc>
                <a:tc>
                  <a:txBody>
                    <a:bodyPr/>
                    <a:lstStyle/>
                    <a:p>
                      <a:pPr indent="0" marL="0">
                        <a:buNone/>
                      </a:pPr>
                      <a:r>
                        <a:rPr lang="en-US" sz="1200" b="1" dirty="0">
                          <a:solidFill>
                            <a:srgbClr val="F2B632"/>
                          </a:solidFill>
                          <a:latin typeface="Calibri" pitchFamily="34" charset="0"/>
                          <a:ea typeface="Calibri" pitchFamily="34" charset="-122"/>
                          <a:cs typeface="Calibri" pitchFamily="34" charset="-120"/>
                        </a:rPr>
                        <a:t>Lean 4 (proof)</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131A3D"/>
                    </a:solidFill>
                  </a:tcPr>
                </a:tc>
                <a:tc>
                  <a:txBody>
                    <a:bodyPr/>
                    <a:lstStyle/>
                    <a:p>
                      <a:pPr indent="0" marL="0">
                        <a:buNone/>
                      </a:pPr>
                      <a:r>
                        <a:rPr lang="en-US" sz="1200" b="1" dirty="0">
                          <a:solidFill>
                            <a:srgbClr val="F2B632"/>
                          </a:solidFill>
                          <a:latin typeface="Calibri" pitchFamily="34" charset="0"/>
                          <a:ea typeface="Calibri" pitchFamily="34" charset="-122"/>
                          <a:cs typeface="Calibri" pitchFamily="34" charset="-120"/>
                        </a:rPr>
                        <a:t>Wolfram (exact state)</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131A3D"/>
                    </a:solidFill>
                  </a:tcPr>
                </a:tc>
                <a:tc>
                  <a:txBody>
                    <a:bodyPr/>
                    <a:lstStyle/>
                    <a:p>
                      <a:pPr indent="0" marL="0">
                        <a:buNone/>
                      </a:pPr>
                      <a:r>
                        <a:rPr lang="en-US" sz="1200" b="1" dirty="0">
                          <a:solidFill>
                            <a:srgbClr val="F2B632"/>
                          </a:solidFill>
                          <a:latin typeface="Calibri" pitchFamily="34" charset="0"/>
                          <a:ea typeface="Calibri" pitchFamily="34" charset="-122"/>
                          <a:cs typeface="Calibri" pitchFamily="34" charset="-120"/>
                        </a:rPr>
                        <a:t>Classiq (4096 shots)</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131A3D"/>
                    </a:solidFill>
                  </a:tcPr>
                </a:tc>
                <a:tc>
                  <a:txBody>
                    <a:bodyPr/>
                    <a:lstStyle/>
                    <a:p>
                      <a:pPr indent="0" marL="0">
                        <a:buNone/>
                      </a:pPr>
                      <a:r>
                        <a:rPr lang="en-US" sz="1200" b="1" dirty="0">
                          <a:solidFill>
                            <a:srgbClr val="F2B632"/>
                          </a:solidFill>
                          <a:latin typeface="Calibri" pitchFamily="34" charset="0"/>
                          <a:ea typeface="Calibri" pitchFamily="34" charset="-122"/>
                          <a:cs typeface="Calibri" pitchFamily="34" charset="-120"/>
                        </a:rPr>
                        <a:t>agree</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131A3D"/>
                    </a:solidFill>
                  </a:tcPr>
                </a:tc>
              </a:tr>
              <a:tr h="420624">
                <a:tc>
                  <a:txBody>
                    <a:bodyPr/>
                    <a:lstStyle/>
                    <a:p>
                      <a:pPr indent="0" marL="0">
                        <a:buNone/>
                      </a:pPr>
                      <a:r>
                        <a:rPr lang="en-US" sz="1200" dirty="0">
                          <a:solidFill>
                            <a:srgbClr val="F4F6FB"/>
                          </a:solidFill>
                          <a:latin typeface="Calibri" pitchFamily="34" charset="0"/>
                          <a:ea typeface="Calibri" pitchFamily="34" charset="-122"/>
                          <a:cs typeface="Calibri" pitchFamily="34" charset="-120"/>
                        </a:rPr>
                        <a:t>minimum cost</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c>
                  <a:txBody>
                    <a:bodyPr/>
                    <a:lstStyle/>
                    <a:p>
                      <a:pPr indent="0" marL="0">
                        <a:buNone/>
                      </a:pPr>
                      <a:r>
                        <a:rPr lang="en-US" sz="1200" dirty="0">
                          <a:solidFill>
                            <a:srgbClr val="F4F6FB"/>
                          </a:solidFill>
                          <a:latin typeface="Calibri" pitchFamily="34" charset="0"/>
                          <a:ea typeface="Calibri" pitchFamily="34" charset="-122"/>
                          <a:cs typeface="Calibri" pitchFamily="34" charset="-120"/>
                        </a:rPr>
                        <a:t>-2.8440 (theorem)</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c>
                  <a:txBody>
                    <a:bodyPr/>
                    <a:lstStyle/>
                    <a:p>
                      <a:pPr indent="0" marL="0">
                        <a:buNone/>
                      </a:pPr>
                      <a:r>
                        <a:rPr lang="en-US" sz="1200" dirty="0">
                          <a:solidFill>
                            <a:srgbClr val="F4F6FB"/>
                          </a:solidFill>
                          <a:latin typeface="Calibri" pitchFamily="34" charset="0"/>
                          <a:ea typeface="Calibri" pitchFamily="34" charset="-122"/>
                          <a:cs typeface="Calibri" pitchFamily="34" charset="-120"/>
                        </a:rPr>
                        <a:t>-2.8440</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c>
                  <a:txBody>
                    <a:bodyPr/>
                    <a:lstStyle/>
                    <a:p>
                      <a:pPr indent="0" marL="0">
                        <a:buNone/>
                      </a:pPr>
                      <a:r>
                        <a:rPr lang="en-US" sz="1200" dirty="0">
                          <a:solidFill>
                            <a:srgbClr val="F4F6FB"/>
                          </a:solidFill>
                          <a:latin typeface="Calibri" pitchFamily="34" charset="0"/>
                          <a:ea typeface="Calibri" pitchFamily="34" charset="-122"/>
                          <a:cs typeface="Calibri" pitchFamily="34" charset="-120"/>
                        </a:rPr>
                        <a:t>-2.8440 (best sample)</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c>
                  <a:txBody>
                    <a:bodyPr/>
                    <a:lstStyle/>
                    <a:p>
                      <a:pPr indent="0" marL="0">
                        <a:buNone/>
                      </a:pPr>
                      <a:r>
                        <a:rPr lang="en-US" sz="1200" b="1" dirty="0">
                          <a:solidFill>
                            <a:srgbClr val="5BE39A"/>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r>
              <a:tr h="420624">
                <a:tc>
                  <a:txBody>
                    <a:bodyPr/>
                    <a:lstStyle/>
                    <a:p>
                      <a:pPr indent="0" marL="0">
                        <a:buNone/>
                      </a:pPr>
                      <a:r>
                        <a:rPr lang="en-US" sz="1200" dirty="0">
                          <a:solidFill>
                            <a:srgbClr val="F4F6FB"/>
                          </a:solidFill>
                          <a:latin typeface="Calibri" pitchFamily="34" charset="0"/>
                          <a:ea typeface="Calibri" pitchFamily="34" charset="-122"/>
                          <a:cs typeface="Calibri" pitchFamily="34" charset="-120"/>
                        </a:rPr>
                        <a:t>argmin</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c>
                  <a:txBody>
                    <a:bodyPr/>
                    <a:lstStyle/>
                    <a:p>
                      <a:pPr indent="0" marL="0">
                        <a:buNone/>
                      </a:pPr>
                      <a:r>
                        <a:rPr lang="en-US" sz="1200" dirty="0">
                          <a:solidFill>
                            <a:srgbClr val="F4F6FB"/>
                          </a:solidFill>
                          <a:latin typeface="Calibri" pitchFamily="34" charset="0"/>
                          <a:ea typeface="Calibri" pitchFamily="34" charset="-122"/>
                          <a:cs typeface="Calibri" pitchFamily="34" charset="-120"/>
                        </a:rPr>
                        <a:t>(0,3,0,0,0,0), unique</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c>
                  <a:txBody>
                    <a:bodyPr/>
                    <a:lstStyle/>
                    <a:p>
                      <a:pPr indent="0" marL="0">
                        <a:buNone/>
                      </a:pPr>
                      <a:r>
                        <a:rPr lang="en-US" sz="1200" dirty="0">
                          <a:solidFill>
                            <a:srgbClr val="F4F6FB"/>
                          </a:solidFill>
                          <a:latin typeface="Calibri" pitchFamily="34" charset="0"/>
                          <a:ea typeface="Calibri" pitchFamily="34" charset="-122"/>
                          <a:cs typeface="Calibri" pitchFamily="34" charset="-120"/>
                        </a:rPr>
                        <a:t>(0,3,0,0,0,0)</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c>
                  <a:txBody>
                    <a:bodyPr/>
                    <a:lstStyle/>
                    <a:p>
                      <a:pPr indent="0" marL="0">
                        <a:buNone/>
                      </a:pPr>
                      <a:r>
                        <a:rPr lang="en-US" sz="1200" dirty="0">
                          <a:solidFill>
                            <a:srgbClr val="F4F6FB"/>
                          </a:solidFill>
                          <a:latin typeface="Calibri" pitchFamily="34" charset="0"/>
                          <a:ea typeface="Calibri" pitchFamily="34" charset="-122"/>
                          <a:cs typeface="Calibri" pitchFamily="34" charset="-120"/>
                        </a:rPr>
                        <a:t>(0,3,0,0,0,0)</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c>
                  <a:txBody>
                    <a:bodyPr/>
                    <a:lstStyle/>
                    <a:p>
                      <a:pPr indent="0" marL="0">
                        <a:buNone/>
                      </a:pPr>
                      <a:r>
                        <a:rPr lang="en-US" sz="1200" b="1" dirty="0">
                          <a:solidFill>
                            <a:srgbClr val="5BE39A"/>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r>
              <a:tr h="420624">
                <a:tc>
                  <a:txBody>
                    <a:bodyPr/>
                    <a:lstStyle/>
                    <a:p>
                      <a:pPr indent="0" marL="0">
                        <a:buNone/>
                      </a:pPr>
                      <a:r>
                        <a:rPr lang="en-US" sz="1200" dirty="0">
                          <a:solidFill>
                            <a:srgbClr val="F4F6FB"/>
                          </a:solidFill>
                          <a:latin typeface="Calibri" pitchFamily="34" charset="0"/>
                          <a:ea typeface="Calibri" pitchFamily="34" charset="-122"/>
                          <a:cs typeface="Calibri" pitchFamily="34" charset="-120"/>
                        </a:rPr>
                        <a:t>encoding valid</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c>
                  <a:txBody>
                    <a:bodyPr/>
                    <a:lstStyle/>
                    <a:p>
                      <a:pPr indent="0" marL="0">
                        <a:buNone/>
                      </a:pPr>
                      <a:r>
                        <a:rPr lang="en-US" sz="1200" dirty="0">
                          <a:solidFill>
                            <a:srgbClr val="F4F6FB"/>
                          </a:solidFill>
                          <a:latin typeface="Calibri" pitchFamily="34" charset="0"/>
                          <a:ea typeface="Calibri" pitchFamily="34" charset="-122"/>
                          <a:cs typeface="Calibri" pitchFamily="34" charset="-120"/>
                        </a:rPr>
                        <a:t>bijection</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c>
                  <a:txBody>
                    <a:bodyPr/>
                    <a:lstStyle/>
                    <a:p>
                      <a:pPr indent="0" marL="0">
                        <a:buNone/>
                      </a:pPr>
                      <a:r>
                        <a:rPr lang="en-US" sz="1200" dirty="0">
                          <a:solidFill>
                            <a:srgbClr val="F4F6FB"/>
                          </a:solidFill>
                          <a:latin typeface="Calibri" pitchFamily="34" charset="0"/>
                          <a:ea typeface="Calibri" pitchFamily="34" charset="-122"/>
                          <a:cs typeface="Calibri" pitchFamily="34" charset="-120"/>
                        </a:rPr>
                        <a:t>4096 states, all decode</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c>
                  <a:txBody>
                    <a:bodyPr/>
                    <a:lstStyle/>
                    <a:p>
                      <a:pPr indent="0" marL="0">
                        <a:buNone/>
                      </a:pPr>
                      <a:r>
                        <a:rPr lang="en-US" sz="1200" dirty="0">
                          <a:solidFill>
                            <a:srgbClr val="F4F6FB"/>
                          </a:solidFill>
                          <a:latin typeface="Calibri" pitchFamily="34" charset="0"/>
                          <a:ea typeface="Calibri" pitchFamily="34" charset="-122"/>
                          <a:cs typeface="Calibri" pitchFamily="34" charset="-120"/>
                        </a:rPr>
                        <a:t>all samples decode</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c>
                  <a:txBody>
                    <a:bodyPr/>
                    <a:lstStyle/>
                    <a:p>
                      <a:pPr indent="0" marL="0">
                        <a:buNone/>
                      </a:pPr>
                      <a:r>
                        <a:rPr lang="en-US" sz="1200" b="1" dirty="0">
                          <a:solidFill>
                            <a:srgbClr val="5BE39A"/>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r>
              <a:tr h="420624">
                <a:tc>
                  <a:txBody>
                    <a:bodyPr/>
                    <a:lstStyle/>
                    <a:p>
                      <a:pPr indent="0" marL="0">
                        <a:buNone/>
                      </a:pPr>
                      <a:r>
                        <a:rPr lang="en-US" sz="1200" dirty="0">
                          <a:solidFill>
                            <a:srgbClr val="F4F6FB"/>
                          </a:solidFill>
                          <a:latin typeface="Calibri" pitchFamily="34" charset="0"/>
                          <a:ea typeface="Calibri" pitchFamily="34" charset="-122"/>
                          <a:cs typeface="Calibri" pitchFamily="34" charset="-120"/>
                        </a:rPr>
                        <a:t>&lt;Cost&gt; p=1 at hot start</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c>
                  <a:txBody>
                    <a:bodyPr/>
                    <a:lstStyle/>
                    <a:p>
                      <a:pPr indent="0" marL="0">
                        <a:buNone/>
                      </a:pP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c>
                  <a:txBody>
                    <a:bodyPr/>
                    <a:lstStyle/>
                    <a:p>
                      <a:pPr indent="0" marL="0">
                        <a:buNone/>
                      </a:pPr>
                      <a:r>
                        <a:rPr lang="en-US" sz="1200" dirty="0">
                          <a:solidFill>
                            <a:srgbClr val="F4F6FB"/>
                          </a:solidFill>
                          <a:latin typeface="Calibri" pitchFamily="34" charset="0"/>
                          <a:ea typeface="Calibri" pitchFamily="34" charset="-122"/>
                          <a:cs typeface="Calibri" pitchFamily="34" charset="-120"/>
                        </a:rPr>
                        <a:t>1.9985 (Qiskit statevector of the exported QASM: 1.9985)</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c>
                  <a:txBody>
                    <a:bodyPr/>
                    <a:lstStyle/>
                    <a:p>
                      <a:pPr indent="0" marL="0">
                        <a:buNone/>
                      </a:pPr>
                      <a:r>
                        <a:rPr lang="en-US" sz="1200" dirty="0">
                          <a:solidFill>
                            <a:srgbClr val="F4F6FB"/>
                          </a:solidFill>
                          <a:latin typeface="Calibri" pitchFamily="34" charset="0"/>
                          <a:ea typeface="Calibri" pitchFamily="34" charset="-122"/>
                          <a:cs typeface="Calibri" pitchFamily="34" charset="-120"/>
                        </a:rPr>
                        <a:t>2.02 to 2.06 (4096 shots), 1.99 after COBYLA</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c>
                  <a:txBody>
                    <a:bodyPr/>
                    <a:lstStyle/>
                    <a:p>
                      <a:pPr indent="0" marL="0">
                        <a:buNone/>
                      </a:pPr>
                      <a:r>
                        <a:rPr lang="en-US" sz="1200" dirty="0">
                          <a:solidFill>
                            <a:srgbClr val="2FD4D4"/>
                          </a:solidFill>
                          <a:latin typeface="Calibri" pitchFamily="34" charset="0"/>
                          <a:ea typeface="Calibri" pitchFamily="34" charset="-122"/>
                          <a:cs typeface="Calibri" pitchFamily="34" charset="-120"/>
                        </a:rPr>
                        <a:t>shot noise</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r>
              <a:tr h="420624">
                <a:tc>
                  <a:txBody>
                    <a:bodyPr/>
                    <a:lstStyle/>
                    <a:p>
                      <a:pPr indent="0" marL="0">
                        <a:buNone/>
                      </a:pPr>
                      <a:r>
                        <a:rPr lang="en-US" sz="1200" dirty="0">
                          <a:solidFill>
                            <a:srgbClr val="F4F6FB"/>
                          </a:solidFill>
                          <a:latin typeface="Calibri" pitchFamily="34" charset="0"/>
                          <a:ea typeface="Calibri" pitchFamily="34" charset="-122"/>
                          <a:cs typeface="Calibri" pitchFamily="34" charset="-120"/>
                        </a:rPr>
                        <a:t>P(cost &lt; 0) p=1</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c>
                  <a:txBody>
                    <a:bodyPr/>
                    <a:lstStyle/>
                    <a:p>
                      <a:pPr indent="0" marL="0">
                        <a:buNone/>
                      </a:pP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c>
                  <a:txBody>
                    <a:bodyPr/>
                    <a:lstStyle/>
                    <a:p>
                      <a:pPr indent="0" marL="0">
                        <a:buNone/>
                      </a:pPr>
                      <a:r>
                        <a:rPr lang="en-US" sz="1200" dirty="0">
                          <a:solidFill>
                            <a:srgbClr val="F4F6FB"/>
                          </a:solidFill>
                          <a:latin typeface="Calibri" pitchFamily="34" charset="0"/>
                          <a:ea typeface="Calibri" pitchFamily="34" charset="-122"/>
                          <a:cs typeface="Calibri" pitchFamily="34" charset="-120"/>
                        </a:rPr>
                        <a:t>0.53</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c>
                  <a:txBody>
                    <a:bodyPr/>
                    <a:lstStyle/>
                    <a:p>
                      <a:pPr indent="0" marL="0">
                        <a:buNone/>
                      </a:pPr>
                      <a:r>
                        <a:rPr lang="en-US" sz="1200" dirty="0">
                          <a:solidFill>
                            <a:srgbClr val="F4F6FB"/>
                          </a:solidFill>
                          <a:latin typeface="Calibri" pitchFamily="34" charset="0"/>
                          <a:ea typeface="Calibri" pitchFamily="34" charset="-122"/>
                          <a:cs typeface="Calibri" pitchFamily="34" charset="-120"/>
                        </a:rPr>
                        <a:t>0.525</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c>
                  <a:txBody>
                    <a:bodyPr/>
                    <a:lstStyle/>
                    <a:p>
                      <a:pPr indent="0" marL="0">
                        <a:buNone/>
                      </a:pPr>
                      <a:r>
                        <a:rPr lang="en-US" sz="1200" b="1" dirty="0">
                          <a:solidFill>
                            <a:srgbClr val="5BE39A"/>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r>
              <a:tr h="420624">
                <a:tc>
                  <a:txBody>
                    <a:bodyPr/>
                    <a:lstStyle/>
                    <a:p>
                      <a:pPr indent="0" marL="0">
                        <a:buNone/>
                      </a:pPr>
                      <a:r>
                        <a:rPr lang="en-US" sz="1200" dirty="0">
                          <a:solidFill>
                            <a:srgbClr val="F4F6FB"/>
                          </a:solidFill>
                          <a:latin typeface="Calibri" pitchFamily="34" charset="0"/>
                          <a:ea typeface="Calibri" pitchFamily="34" charset="-122"/>
                          <a:cs typeface="Calibri" pitchFamily="34" charset="-120"/>
                        </a:rPr>
                        <a:t>P(optimum) p=1</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c>
                  <a:txBody>
                    <a:bodyPr/>
                    <a:lstStyle/>
                    <a:p>
                      <a:pPr indent="0" marL="0">
                        <a:buNone/>
                      </a:pP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c>
                  <a:txBody>
                    <a:bodyPr/>
                    <a:lstStyle/>
                    <a:p>
                      <a:pPr indent="0" marL="0">
                        <a:buNone/>
                      </a:pPr>
                      <a:r>
                        <a:rPr lang="en-US" sz="1200" dirty="0">
                          <a:solidFill>
                            <a:srgbClr val="F4F6FB"/>
                          </a:solidFill>
                          <a:latin typeface="Calibri" pitchFamily="34" charset="0"/>
                          <a:ea typeface="Calibri" pitchFamily="34" charset="-122"/>
                          <a:cs typeface="Calibri" pitchFamily="34" charset="-120"/>
                        </a:rPr>
                        <a:t>0.0066 (27x)</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c>
                  <a:txBody>
                    <a:bodyPr/>
                    <a:lstStyle/>
                    <a:p>
                      <a:pPr indent="0" marL="0">
                        <a:buNone/>
                      </a:pPr>
                      <a:r>
                        <a:rPr lang="en-US" sz="1200" dirty="0">
                          <a:solidFill>
                            <a:srgbClr val="F4F6FB"/>
                          </a:solidFill>
                          <a:latin typeface="Calibri" pitchFamily="34" charset="0"/>
                          <a:ea typeface="Calibri" pitchFamily="34" charset="-122"/>
                          <a:cs typeface="Calibri" pitchFamily="34" charset="-120"/>
                        </a:rPr>
                        <a:t>0.0066 to 0.0071 (27x to 29x)</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c>
                  <a:txBody>
                    <a:bodyPr/>
                    <a:lstStyle/>
                    <a:p>
                      <a:pPr indent="0" marL="0">
                        <a:buNone/>
                      </a:pPr>
                      <a:r>
                        <a:rPr lang="en-US" sz="1200" b="1" dirty="0">
                          <a:solidFill>
                            <a:srgbClr val="5BE39A"/>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r>
              <a:tr h="420624">
                <a:tc>
                  <a:txBody>
                    <a:bodyPr/>
                    <a:lstStyle/>
                    <a:p>
                      <a:pPr indent="0" marL="0">
                        <a:buNone/>
                      </a:pPr>
                      <a:r>
                        <a:rPr lang="en-US" sz="1200" dirty="0">
                          <a:solidFill>
                            <a:srgbClr val="F4F6FB"/>
                          </a:solidFill>
                          <a:latin typeface="Calibri" pitchFamily="34" charset="0"/>
                          <a:ea typeface="Calibri" pitchFamily="34" charset="-122"/>
                          <a:cs typeface="Calibri" pitchFamily="34" charset="-120"/>
                        </a:rPr>
                        <a:t>&lt;Cost&gt; p=2</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c>
                  <a:txBody>
                    <a:bodyPr/>
                    <a:lstStyle/>
                    <a:p>
                      <a:pPr indent="0" marL="0">
                        <a:buNone/>
                      </a:pP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c>
                  <a:txBody>
                    <a:bodyPr/>
                    <a:lstStyle/>
                    <a:p>
                      <a:pPr indent="0" marL="0">
                        <a:buNone/>
                      </a:pPr>
                      <a:r>
                        <a:rPr lang="en-US" sz="1200" dirty="0">
                          <a:solidFill>
                            <a:srgbClr val="F4F6FB"/>
                          </a:solidFill>
                          <a:latin typeface="Calibri" pitchFamily="34" charset="0"/>
                          <a:ea typeface="Calibri" pitchFamily="34" charset="-122"/>
                          <a:cs typeface="Calibri" pitchFamily="34" charset="-120"/>
                        </a:rPr>
                        <a:t>-0.3825</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c>
                  <a:txBody>
                    <a:bodyPr/>
                    <a:lstStyle/>
                    <a:p>
                      <a:pPr indent="0" marL="0">
                        <a:buNone/>
                      </a:pPr>
                      <a:r>
                        <a:rPr lang="en-US" sz="1200" dirty="0">
                          <a:solidFill>
                            <a:srgbClr val="F4F6FB"/>
                          </a:solidFill>
                          <a:latin typeface="Calibri" pitchFamily="34" charset="0"/>
                          <a:ea typeface="Calibri" pitchFamily="34" charset="-122"/>
                          <a:cs typeface="Calibri" pitchFamily="34" charset="-120"/>
                        </a:rPr>
                        <a:t>-0.39</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c>
                  <a:txBody>
                    <a:bodyPr/>
                    <a:lstStyle/>
                    <a:p>
                      <a:pPr indent="0" marL="0">
                        <a:buNone/>
                      </a:pPr>
                      <a:r>
                        <a:rPr lang="en-US" sz="1200" b="1" dirty="0">
                          <a:solidFill>
                            <a:srgbClr val="5BE39A"/>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r>
              <a:tr h="420624">
                <a:tc>
                  <a:txBody>
                    <a:bodyPr/>
                    <a:lstStyle/>
                    <a:p>
                      <a:pPr indent="0" marL="0">
                        <a:buNone/>
                      </a:pPr>
                      <a:r>
                        <a:rPr lang="en-US" sz="1200" dirty="0">
                          <a:solidFill>
                            <a:srgbClr val="F4F6FB"/>
                          </a:solidFill>
                          <a:latin typeface="Calibri" pitchFamily="34" charset="0"/>
                          <a:ea typeface="Calibri" pitchFamily="34" charset="-122"/>
                          <a:cs typeface="Calibri" pitchFamily="34" charset="-120"/>
                        </a:rPr>
                        <a:t>phase layer diagonal, unit norm</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c>
                  <a:txBody>
                    <a:bodyPr/>
                    <a:lstStyle/>
                    <a:p>
                      <a:pPr indent="0" marL="0">
                        <a:buNone/>
                      </a:pPr>
                      <a:r>
                        <a:rPr lang="en-US" sz="1200" dirty="0">
                          <a:solidFill>
                            <a:srgbClr val="F4F6FB"/>
                          </a:solidFill>
                          <a:latin typeface="Calibri" pitchFamily="34" charset="0"/>
                          <a:ea typeface="Calibri" pitchFamily="34" charset="-122"/>
                          <a:cs typeface="Calibri" pitchFamily="34" charset="-120"/>
                        </a:rPr>
                        <a:t>theorem</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c>
                  <a:txBody>
                    <a:bodyPr/>
                    <a:lstStyle/>
                    <a:p>
                      <a:pPr indent="0" marL="0">
                        <a:buNone/>
                      </a:pPr>
                      <a:r>
                        <a:rPr lang="en-US" sz="1200" dirty="0">
                          <a:solidFill>
                            <a:srgbClr val="F4F6FB"/>
                          </a:solidFill>
                          <a:latin typeface="Calibri" pitchFamily="34" charset="0"/>
                          <a:ea typeface="Calibri" pitchFamily="34" charset="-122"/>
                          <a:cs typeface="Calibri" pitchFamily="34" charset="-120"/>
                        </a:rPr>
                        <a:t>matrix check</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c>
                  <a:txBody>
                    <a:bodyPr/>
                    <a:lstStyle/>
                    <a:p>
                      <a:pPr indent="0" marL="0">
                        <a:buNone/>
                      </a:pPr>
                      <a:r>
                        <a:rPr lang="en-US" sz="1200" dirty="0">
                          <a:solidFill>
                            <a:srgbClr val="F4F6FB"/>
                          </a:solidFill>
                          <a:latin typeface="Calibri" pitchFamily="34" charset="0"/>
                          <a:ea typeface="Calibri" pitchFamily="34" charset="-122"/>
                          <a:cs typeface="Calibri" pitchFamily="34" charset="-120"/>
                        </a:rPr>
                        <a:t>synthesized as RZ ladders only</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c>
                  <a:txBody>
                    <a:bodyPr/>
                    <a:lstStyle/>
                    <a:p>
                      <a:pPr indent="0" marL="0">
                        <a:buNone/>
                      </a:pPr>
                      <a:r>
                        <a:rPr lang="en-US" sz="1200" b="1" dirty="0">
                          <a:solidFill>
                            <a:srgbClr val="5BE39A"/>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r>
            </a:tbl>
          </a:graphicData>
        </a:graphic>
      </p:graphicFrame>
      <p:sp>
        <p:nvSpPr>
          <p:cNvPr id="9" name="Text 6"/>
          <p:cNvSpPr/>
          <p:nvPr/>
        </p:nvSpPr>
        <p:spPr>
          <a:xfrm>
            <a:off x="548640" y="5349240"/>
            <a:ext cx="11247120" cy="822960"/>
          </a:xfrm>
          <a:prstGeom prst="rect">
            <a:avLst/>
          </a:prstGeom>
          <a:noFill/>
          <a:ln/>
        </p:spPr>
        <p:txBody>
          <a:bodyPr wrap="square" lIns="635" tIns="635" rIns="635" bIns="635" rtlCol="0" anchor="t"/>
          <a:lstStyle/>
          <a:p>
            <a:pPr marL="342900" indent="-342900">
              <a:spcAft>
                <a:spcPts val="600"/>
              </a:spcAft>
              <a:buSzPct val="100000"/>
              <a:buChar char="▸"/>
            </a:pPr>
            <a:r>
              <a:rPr lang="en-US" sz="1350" dirty="0">
                <a:solidFill>
                  <a:srgbClr val="F4F6FB"/>
                </a:solidFill>
                <a:latin typeface="Calibri" pitchFamily="34" charset="0"/>
                <a:ea typeface="Calibri" pitchFamily="34" charset="-122"/>
                <a:cs typeface="Calibri" pitchFamily="34" charset="-120"/>
              </a:rPr>
              <a:t>The value of MantiQ Factor is this table: no number in the demo rests on a single tool</a:t>
            </a:r>
            <a:endParaRPr lang="en-US" sz="1350" dirty="0"/>
          </a:p>
          <a:p>
            <a:pPr marL="342900" indent="-342900">
              <a:spcAft>
                <a:spcPts val="600"/>
              </a:spcAft>
              <a:buSzPct val="100000"/>
              <a:buChar char="▸"/>
            </a:pPr>
            <a:r>
              <a:rPr lang="en-US" sz="1350" dirty="0">
                <a:solidFill>
                  <a:srgbClr val="F4F6FB"/>
                </a:solidFill>
                <a:latin typeface="Calibri" pitchFamily="34" charset="0"/>
                <a:ea typeface="Calibri" pitchFamily="34" charset="-122"/>
                <a:cs typeface="Calibri" pitchFamily="34" charset="-120"/>
              </a:rPr>
              <a:t>Blind COBYLA starts on Classiq (hackathon runs): start (0.20, 0.50) stuck at &lt;Cost&gt; 35.5, start (0.02, 0.60) reached only 7.0 after 20 jobs. From the Wolfram angles: 2.0 in the first job, and 8 more iterations found nothing better</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70B1C"/>
        </a:solidFill>
      </p:bgPr>
    </p:bg>
    <p:spTree>
      <p:nvGrpSpPr>
        <p:cNvPr id="1" name=""/>
        <p:cNvGrpSpPr/>
        <p:nvPr/>
      </p:nvGrpSpPr>
      <p:grpSpPr>
        <a:xfrm>
          <a:off x="0" y="0"/>
          <a:ext cx="0" cy="0"/>
          <a:chOff x="0" y="0"/>
          <a:chExt cx="0" cy="0"/>
        </a:xfrm>
      </p:grpSpPr>
      <p:sp>
        <p:nvSpPr>
          <p:cNvPr id="2" name="Shape 0"/>
          <p:cNvSpPr/>
          <p:nvPr/>
        </p:nvSpPr>
        <p:spPr>
          <a:xfrm>
            <a:off x="10378440" y="6035040"/>
            <a:ext cx="1600200" cy="640080"/>
          </a:xfrm>
          <a:prstGeom prst="roundRect">
            <a:avLst>
              <a:gd name="adj" fmla="val 14286"/>
            </a:avLst>
          </a:prstGeom>
          <a:solidFill>
            <a:srgbClr val="F2B632"/>
          </a:solidFill>
          <a:ln w="12700">
            <a:solidFill>
              <a:srgbClr val="F2B632"/>
            </a:solidFill>
            <a:prstDash val="solid"/>
          </a:ln>
        </p:spPr>
      </p:sp>
      <p:sp>
        <p:nvSpPr>
          <p:cNvPr id="3" name="Text 1"/>
          <p:cNvSpPr/>
          <p:nvPr/>
        </p:nvSpPr>
        <p:spPr>
          <a:xfrm>
            <a:off x="10378440" y="6035040"/>
            <a:ext cx="1600200" cy="640080"/>
          </a:xfrm>
          <a:prstGeom prst="rect">
            <a:avLst/>
          </a:prstGeom>
          <a:noFill/>
          <a:ln/>
        </p:spPr>
        <p:txBody>
          <a:bodyPr wrap="square" lIns="0" tIns="0" rIns="0" bIns="0" rtlCol="0" anchor="ctr"/>
          <a:lstStyle/>
          <a:p>
            <a:pPr algn="ctr" indent="0" marL="0">
              <a:buNone/>
            </a:pPr>
            <a:r>
              <a:rPr lang="en-US" sz="2800" b="1" dirty="0">
                <a:solidFill>
                  <a:srgbClr val="070B1C"/>
                </a:solidFill>
                <a:latin typeface="Calibri" pitchFamily="34" charset="0"/>
                <a:ea typeface="Calibri" pitchFamily="34" charset="-122"/>
                <a:cs typeface="Calibri" pitchFamily="34" charset="-120"/>
              </a:rPr>
              <a:t>13 / 16</a:t>
            </a:r>
            <a:endParaRPr lang="en-US" sz="2800" dirty="0"/>
          </a:p>
        </p:txBody>
      </p:sp>
      <p:sp>
        <p:nvSpPr>
          <p:cNvPr id="4" name="Shape 2"/>
          <p:cNvSpPr/>
          <p:nvPr/>
        </p:nvSpPr>
        <p:spPr>
          <a:xfrm>
            <a:off x="0" y="0"/>
            <a:ext cx="164592" cy="6858000"/>
          </a:xfrm>
          <a:prstGeom prst="rect">
            <a:avLst/>
          </a:prstGeom>
          <a:solidFill>
            <a:srgbClr val="F2B632"/>
          </a:solidFill>
          <a:ln/>
        </p:spPr>
      </p:sp>
      <p:sp>
        <p:nvSpPr>
          <p:cNvPr id="5" name="Text 3"/>
          <p:cNvSpPr/>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FD4D4"/>
                </a:solidFill>
                <a:latin typeface="Calibri" pitchFamily="34" charset="0"/>
                <a:ea typeface="Calibri" pitchFamily="34" charset="-122"/>
                <a:cs typeface="Calibri" pitchFamily="34" charset="-120"/>
              </a:rPr>
              <a:t>SLIDE 13 / 16   |   SCALING</a:t>
            </a:r>
            <a:endParaRPr lang="en-US" sz="1100" dirty="0"/>
          </a:p>
        </p:txBody>
      </p:sp>
      <p:sp>
        <p:nvSpPr>
          <p:cNvPr id="6" name="Text 4"/>
          <p:cNvSpPr/>
          <p:nvPr/>
        </p:nvSpPr>
        <p:spPr>
          <a:xfrm>
            <a:off x="548640" y="594360"/>
            <a:ext cx="11064240" cy="685800"/>
          </a:xfrm>
          <a:prstGeom prst="rect">
            <a:avLst/>
          </a:prstGeom>
          <a:noFill/>
          <a:ln/>
        </p:spPr>
        <p:txBody>
          <a:bodyPr wrap="square" lIns="0" tIns="0" rIns="0" bIns="0" rtlCol="0" anchor="ctr"/>
          <a:lstStyle/>
          <a:p>
            <a:pPr indent="0" marL="0">
              <a:buNone/>
            </a:pPr>
            <a:r>
              <a:rPr lang="en-US" sz="3000" b="1" dirty="0">
                <a:solidFill>
                  <a:srgbClr val="F4F6FB"/>
                </a:solidFill>
                <a:latin typeface="Calibri" pitchFamily="34" charset="0"/>
                <a:ea typeface="Calibri" pitchFamily="34" charset="-122"/>
                <a:cs typeface="Calibri" pitchFamily="34" charset="-120"/>
              </a:rPr>
              <a:t>Where this leaf sits: k-means hierarchy and the road to 1000 qubits</a:t>
            </a:r>
            <a:endParaRPr lang="en-US" sz="3000" dirty="0"/>
          </a:p>
        </p:txBody>
      </p:sp>
      <p:sp>
        <p:nvSpPr>
          <p:cNvPr id="7" name="Text 5"/>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9AA3BD"/>
                </a:solidFill>
                <a:latin typeface="Calibri" pitchFamily="34" charset="0"/>
                <a:ea typeface="Calibri" pitchFamily="34" charset="-122"/>
                <a:cs typeface="Calibri" pitchFamily="34" charset="-120"/>
              </a:rPr>
              <a:t>MantiQ Factor  |  Antenna tilt with QAOA  |  QUBIT 2026 case study</a:t>
            </a:r>
            <a:endParaRPr lang="en-US" sz="1000" dirty="0"/>
          </a:p>
        </p:txBody>
      </p:sp>
      <p:sp>
        <p:nvSpPr>
          <p:cNvPr id="8" name="Shape 6"/>
          <p:cNvSpPr/>
          <p:nvPr/>
        </p:nvSpPr>
        <p:spPr>
          <a:xfrm>
            <a:off x="548640" y="1371600"/>
            <a:ext cx="3611880" cy="1234440"/>
          </a:xfrm>
          <a:prstGeom prst="roundRect">
            <a:avLst>
              <a:gd name="adj" fmla="val 5926"/>
            </a:avLst>
          </a:prstGeom>
          <a:solidFill>
            <a:srgbClr val="0D1330"/>
          </a:solidFill>
          <a:ln w="12700">
            <a:solidFill>
              <a:srgbClr val="0D1330"/>
            </a:solidFill>
            <a:prstDash val="solid"/>
          </a:ln>
        </p:spPr>
      </p:sp>
      <p:sp>
        <p:nvSpPr>
          <p:cNvPr id="9" name="Text 7"/>
          <p:cNvSpPr/>
          <p:nvPr/>
        </p:nvSpPr>
        <p:spPr>
          <a:xfrm>
            <a:off x="548640" y="1481328"/>
            <a:ext cx="3611880" cy="640080"/>
          </a:xfrm>
          <a:prstGeom prst="rect">
            <a:avLst/>
          </a:prstGeom>
          <a:noFill/>
          <a:ln/>
        </p:spPr>
        <p:txBody>
          <a:bodyPr wrap="square" lIns="0" tIns="0" rIns="0" bIns="0" rtlCol="0" anchor="ctr"/>
          <a:lstStyle/>
          <a:p>
            <a:pPr algn="ctr" indent="0" marL="0">
              <a:buNone/>
            </a:pPr>
            <a:r>
              <a:rPr lang="en-US" sz="2800" b="1" dirty="0">
                <a:solidFill>
                  <a:srgbClr val="F2B632"/>
                </a:solidFill>
                <a:latin typeface="Calibri" pitchFamily="34" charset="0"/>
                <a:ea typeface="Calibri" pitchFamily="34" charset="-122"/>
                <a:cs typeface="Calibri" pitchFamily="34" charset="-120"/>
              </a:rPr>
              <a:t>10^301</a:t>
            </a:r>
            <a:endParaRPr lang="en-US" sz="2800" dirty="0"/>
          </a:p>
        </p:txBody>
      </p:sp>
      <p:sp>
        <p:nvSpPr>
          <p:cNvPr id="10" name="Text 8"/>
          <p:cNvSpPr/>
          <p:nvPr/>
        </p:nvSpPr>
        <p:spPr>
          <a:xfrm>
            <a:off x="640080" y="2103120"/>
            <a:ext cx="3429000" cy="457200"/>
          </a:xfrm>
          <a:prstGeom prst="rect">
            <a:avLst/>
          </a:prstGeom>
          <a:noFill/>
          <a:ln/>
        </p:spPr>
        <p:txBody>
          <a:bodyPr wrap="square" lIns="0" tIns="0" rIns="0" bIns="0" rtlCol="0" anchor="ctr"/>
          <a:lstStyle/>
          <a:p>
            <a:pPr algn="ctr" indent="0" marL="0">
              <a:buNone/>
            </a:pPr>
            <a:r>
              <a:rPr lang="en-US" sz="1100" dirty="0">
                <a:solidFill>
                  <a:srgbClr val="9AA3BD"/>
                </a:solidFill>
                <a:latin typeface="Calibri" pitchFamily="34" charset="0"/>
                <a:ea typeface="Calibri" pitchFamily="34" charset="-122"/>
                <a:cs typeface="Calibri" pitchFamily="34" charset="-120"/>
              </a:rPr>
              <a:t>plans for 500 antennas x 4 tilts (today: 4096)</a:t>
            </a:r>
            <a:endParaRPr lang="en-US" sz="1100" dirty="0"/>
          </a:p>
        </p:txBody>
      </p:sp>
      <p:sp>
        <p:nvSpPr>
          <p:cNvPr id="11" name="Shape 9"/>
          <p:cNvSpPr/>
          <p:nvPr/>
        </p:nvSpPr>
        <p:spPr>
          <a:xfrm>
            <a:off x="4297680" y="1371600"/>
            <a:ext cx="3611880" cy="1234440"/>
          </a:xfrm>
          <a:prstGeom prst="roundRect">
            <a:avLst>
              <a:gd name="adj" fmla="val 5926"/>
            </a:avLst>
          </a:prstGeom>
          <a:solidFill>
            <a:srgbClr val="0D1330"/>
          </a:solidFill>
          <a:ln w="12700">
            <a:solidFill>
              <a:srgbClr val="0D1330"/>
            </a:solidFill>
            <a:prstDash val="solid"/>
          </a:ln>
        </p:spPr>
      </p:sp>
      <p:sp>
        <p:nvSpPr>
          <p:cNvPr id="12" name="Text 10"/>
          <p:cNvSpPr/>
          <p:nvPr/>
        </p:nvSpPr>
        <p:spPr>
          <a:xfrm>
            <a:off x="4297680" y="1481328"/>
            <a:ext cx="3611880" cy="640080"/>
          </a:xfrm>
          <a:prstGeom prst="rect">
            <a:avLst/>
          </a:prstGeom>
          <a:noFill/>
          <a:ln/>
        </p:spPr>
        <p:txBody>
          <a:bodyPr wrap="square" lIns="0" tIns="0" rIns="0" bIns="0" rtlCol="0" anchor="ctr"/>
          <a:lstStyle/>
          <a:p>
            <a:pPr algn="ctr" indent="0" marL="0">
              <a:buNone/>
            </a:pPr>
            <a:r>
              <a:rPr lang="en-US" sz="2800" b="1" dirty="0">
                <a:solidFill>
                  <a:srgbClr val="F2B632"/>
                </a:solidFill>
                <a:latin typeface="Calibri" pitchFamily="34" charset="0"/>
                <a:ea typeface="Calibri" pitchFamily="34" charset="-122"/>
                <a:cs typeface="Calibri" pitchFamily="34" charset="-120"/>
              </a:rPr>
              <a:t>about 45 qubits</a:t>
            </a:r>
            <a:endParaRPr lang="en-US" sz="2800" dirty="0"/>
          </a:p>
        </p:txBody>
      </p:sp>
      <p:sp>
        <p:nvSpPr>
          <p:cNvPr id="13" name="Text 11"/>
          <p:cNvSpPr/>
          <p:nvPr/>
        </p:nvSpPr>
        <p:spPr>
          <a:xfrm>
            <a:off x="4389120" y="2103120"/>
            <a:ext cx="3429000" cy="457200"/>
          </a:xfrm>
          <a:prstGeom prst="rect">
            <a:avLst/>
          </a:prstGeom>
          <a:noFill/>
          <a:ln/>
        </p:spPr>
        <p:txBody>
          <a:bodyPr wrap="square" lIns="0" tIns="0" rIns="0" bIns="0" rtlCol="0" anchor="ctr"/>
          <a:lstStyle/>
          <a:p>
            <a:pPr algn="ctr" indent="0" marL="0">
              <a:buNone/>
            </a:pPr>
            <a:r>
              <a:rPr lang="en-US" sz="1100" dirty="0">
                <a:solidFill>
                  <a:srgbClr val="9AA3BD"/>
                </a:solidFill>
                <a:latin typeface="Calibri" pitchFamily="34" charset="0"/>
                <a:ea typeface="Calibri" pitchFamily="34" charset="-122"/>
                <a:cs typeface="Calibri" pitchFamily="34" charset="-120"/>
              </a:rPr>
              <a:t>ceiling of exact statevector simulation (50 q = 18 PB)</a:t>
            </a:r>
            <a:endParaRPr lang="en-US" sz="1100" dirty="0"/>
          </a:p>
        </p:txBody>
      </p:sp>
      <p:sp>
        <p:nvSpPr>
          <p:cNvPr id="14" name="Shape 12"/>
          <p:cNvSpPr/>
          <p:nvPr/>
        </p:nvSpPr>
        <p:spPr>
          <a:xfrm>
            <a:off x="8046720" y="1371600"/>
            <a:ext cx="3749040" cy="1234440"/>
          </a:xfrm>
          <a:prstGeom prst="roundRect">
            <a:avLst>
              <a:gd name="adj" fmla="val 5926"/>
            </a:avLst>
          </a:prstGeom>
          <a:solidFill>
            <a:srgbClr val="0D1330"/>
          </a:solidFill>
          <a:ln w="12700">
            <a:solidFill>
              <a:srgbClr val="0D1330"/>
            </a:solidFill>
            <a:prstDash val="solid"/>
          </a:ln>
        </p:spPr>
      </p:sp>
      <p:sp>
        <p:nvSpPr>
          <p:cNvPr id="15" name="Text 13"/>
          <p:cNvSpPr/>
          <p:nvPr/>
        </p:nvSpPr>
        <p:spPr>
          <a:xfrm>
            <a:off x="8046720" y="1481328"/>
            <a:ext cx="3749040" cy="640080"/>
          </a:xfrm>
          <a:prstGeom prst="rect">
            <a:avLst/>
          </a:prstGeom>
          <a:noFill/>
          <a:ln/>
        </p:spPr>
        <p:txBody>
          <a:bodyPr wrap="square" lIns="0" tIns="0" rIns="0" bIns="0" rtlCol="0" anchor="ctr"/>
          <a:lstStyle/>
          <a:p>
            <a:pPr algn="ctr" indent="0" marL="0">
              <a:buNone/>
            </a:pPr>
            <a:r>
              <a:rPr lang="en-US" sz="2800" b="1" dirty="0">
                <a:solidFill>
                  <a:srgbClr val="F2B632"/>
                </a:solidFill>
                <a:latin typeface="Calibri" pitchFamily="34" charset="0"/>
                <a:ea typeface="Calibri" pitchFamily="34" charset="-122"/>
                <a:cs typeface="Calibri" pitchFamily="34" charset="-120"/>
              </a:rPr>
              <a:t>about 13,000 CX</a:t>
            </a:r>
            <a:endParaRPr lang="en-US" sz="2800" dirty="0"/>
          </a:p>
        </p:txBody>
      </p:sp>
      <p:sp>
        <p:nvSpPr>
          <p:cNvPr id="16" name="Text 14"/>
          <p:cNvSpPr/>
          <p:nvPr/>
        </p:nvSpPr>
        <p:spPr>
          <a:xfrm>
            <a:off x="8138160" y="2103120"/>
            <a:ext cx="3566160" cy="457200"/>
          </a:xfrm>
          <a:prstGeom prst="rect">
            <a:avLst/>
          </a:prstGeom>
          <a:noFill/>
          <a:ln/>
        </p:spPr>
        <p:txBody>
          <a:bodyPr wrap="square" lIns="0" tIns="0" rIns="0" bIns="0" rtlCol="0" anchor="ctr"/>
          <a:lstStyle/>
          <a:p>
            <a:pPr algn="ctr" indent="0" marL="0">
              <a:buNone/>
            </a:pPr>
            <a:r>
              <a:rPr lang="en-US" sz="1100" dirty="0">
                <a:solidFill>
                  <a:srgbClr val="9AA3BD"/>
                </a:solidFill>
                <a:latin typeface="Calibri" pitchFamily="34" charset="0"/>
                <a:ea typeface="Calibri" pitchFamily="34" charset="-122"/>
                <a:cs typeface="Calibri" pitchFamily="34" charset="-120"/>
              </a:rPr>
              <a:t>one QAOA layer at 1000 qubits, still 2-local</a:t>
            </a:r>
            <a:endParaRPr lang="en-US" sz="1100" dirty="0"/>
          </a:p>
        </p:txBody>
      </p:sp>
      <p:pic>
        <p:nvPicPr>
          <p:cNvPr id="17" name="Image 0" descr="C:\Projects\mantiq-factor-antenna-tilt\charts\group_benchmark_depth.png">    </p:cNvPr>
          <p:cNvPicPr>
            <a:picLocks noChangeAspect="1"/>
          </p:cNvPicPr>
          <p:nvPr/>
        </p:nvPicPr>
        <p:blipFill>
          <a:blip r:embed="rId1"/>
          <a:stretch>
            <a:fillRect/>
          </a:stretch>
        </p:blipFill>
        <p:spPr>
          <a:xfrm>
            <a:off x="548640" y="2788920"/>
            <a:ext cx="4480560" cy="2578608"/>
          </a:xfrm>
          <a:prstGeom prst="rect">
            <a:avLst/>
          </a:prstGeom>
        </p:spPr>
      </p:pic>
      <p:sp>
        <p:nvSpPr>
          <p:cNvPr id="18" name="Text 15"/>
          <p:cNvSpPr/>
          <p:nvPr/>
        </p:nvSpPr>
        <p:spPr>
          <a:xfrm>
            <a:off x="548640" y="5440680"/>
            <a:ext cx="4937760" cy="365760"/>
          </a:xfrm>
          <a:prstGeom prst="rect">
            <a:avLst/>
          </a:prstGeom>
          <a:noFill/>
          <a:ln/>
        </p:spPr>
        <p:txBody>
          <a:bodyPr wrap="square" lIns="0" tIns="0" rIns="0" bIns="0" rtlCol="0" anchor="ctr"/>
          <a:lstStyle/>
          <a:p>
            <a:pPr indent="0" marL="0">
              <a:buNone/>
            </a:pPr>
            <a:r>
              <a:rPr lang="en-US" sz="1050" i="1" dirty="0">
                <a:solidFill>
                  <a:srgbClr val="9AA3BD"/>
                </a:solidFill>
                <a:latin typeface="Calibri" pitchFamily="34" charset="0"/>
                <a:ea typeface="Calibri" pitchFamily="34" charset="-122"/>
                <a:cs typeface="Calibri" pitchFamily="34" charset="-120"/>
              </a:rPr>
              <a:t>Team benchmark, 48-region toy network: refinement 5 -&gt; 21 groups. Cycle 3 (13 groups, 13 QAOA jobs) reaches 1.75 = 95% of the per-region ceiling 1.838 (48 jobs); one plan for all gives 1.379.</a:t>
            </a:r>
            <a:endParaRPr lang="en-US" sz="1050" dirty="0"/>
          </a:p>
        </p:txBody>
      </p:sp>
      <p:sp>
        <p:nvSpPr>
          <p:cNvPr id="19" name="Text 16"/>
          <p:cNvSpPr/>
          <p:nvPr/>
        </p:nvSpPr>
        <p:spPr>
          <a:xfrm>
            <a:off x="5669280" y="2788920"/>
            <a:ext cx="6126480" cy="3200400"/>
          </a:xfrm>
          <a:prstGeom prst="rect">
            <a:avLst/>
          </a:prstGeom>
          <a:noFill/>
          <a:ln/>
        </p:spPr>
        <p:txBody>
          <a:bodyPr wrap="square" lIns="635" tIns="635" rIns="635" bIns="635" rtlCol="0" anchor="t"/>
          <a:lstStyle/>
          <a:p>
            <a:pPr marL="342900" indent="-342900">
              <a:spcAft>
                <a:spcPts val="600"/>
              </a:spcAft>
              <a:buSzPct val="100000"/>
              <a:buChar char="▸"/>
            </a:pPr>
            <a:r>
              <a:rPr lang="en-US" sz="1200" dirty="0">
                <a:solidFill>
                  <a:srgbClr val="F4F6FB"/>
                </a:solidFill>
                <a:latin typeface="Calibri" pitchFamily="34" charset="0"/>
                <a:ea typeface="Calibri" pitchFamily="34" charset="-122"/>
                <a:cs typeface="Calibri" pitchFamily="34" charset="-120"/>
              </a:rPr>
              <a:t>Network -&gt; 5 groups -&gt; 25 -&gt; 125: k-means on region feature vectors, one QAOA job per group, refine where the utility gain is worth it. Our 12-qubit problem is one job in that tree</a:t>
            </a:r>
            <a:endParaRPr lang="en-US" sz="1200" dirty="0"/>
          </a:p>
          <a:p>
            <a:pPr marL="342900" indent="-342900">
              <a:spcAft>
                <a:spcPts val="600"/>
              </a:spcAft>
              <a:buSzPct val="100000"/>
              <a:buChar char="▸"/>
            </a:pPr>
            <a:r>
              <a:rPr lang="en-US" sz="1200" dirty="0">
                <a:solidFill>
                  <a:srgbClr val="F4F6FB"/>
                </a:solidFill>
                <a:latin typeface="Calibri" pitchFamily="34" charset="0"/>
                <a:ea typeface="Calibri" pitchFamily="34" charset="-122"/>
                <a:cs typeface="Calibri" pitchFamily="34" charset="-120"/>
              </a:rPr>
              <a:t>Best non-quantum tools at 1000 qubits: brute force 10^283 s at exascale; exact QUBO solvers run hours to days without certifying; annealing and tabu give a good plan in minutes with no guarantee (1.833 vs 1.838 on the toy benchmark). Nobody can simulate QAOA past about 48 qubits</a:t>
            </a:r>
            <a:endParaRPr lang="en-US" sz="1200" dirty="0"/>
          </a:p>
          <a:p>
            <a:pPr marL="342900" indent="-342900">
              <a:spcAft>
                <a:spcPts val="600"/>
              </a:spcAft>
              <a:buSzPct val="100000"/>
              <a:buChar char="▸"/>
            </a:pPr>
            <a:r>
              <a:rPr lang="en-US" sz="1200" dirty="0">
                <a:solidFill>
                  <a:srgbClr val="F4F6FB"/>
                </a:solidFill>
                <a:latin typeface="Calibri" pitchFamily="34" charset="0"/>
                <a:ea typeface="Calibri" pitchFamily="34" charset="-122"/>
                <a:cs typeface="Calibri" pitchFamily="34" charset="-120"/>
              </a:rPr>
              <a:t>A real 1000-qubit gate-based machine: physical qubits exist (IBM Condor 1121, Atom Computing 1200), but 13,000 CX at 99.9% fidelity means about 13 errors per shot, so the run must be error-corrected (2,000 to 100,000 physical qubits; roadmaps 2028 to 2030)</a:t>
            </a:r>
            <a:endParaRPr lang="en-US" sz="1200" dirty="0"/>
          </a:p>
          <a:p>
            <a:pPr marL="342900" indent="-342900">
              <a:spcAft>
                <a:spcPts val="600"/>
              </a:spcAft>
              <a:buSzPct val="100000"/>
              <a:buChar char="▸"/>
            </a:pPr>
            <a:r>
              <a:rPr lang="en-US" sz="1200" dirty="0">
                <a:solidFill>
                  <a:srgbClr val="F4F6FB"/>
                </a:solidFill>
                <a:latin typeface="Calibri" pitchFamily="34" charset="0"/>
                <a:ea typeface="Calibri" pitchFamily="34" charset="-122"/>
                <a:cs typeface="Calibri" pitchFamily="34" charset="-120"/>
              </a:rPr>
              <a:t>Once available: depth ~10^2 per layer, 10^4 shots x 20 iterations = seconds to minutes; the Wolfram hot start cuts the iterations. Same Qmod, Classiq synthesizes for the target; only the backend changes</a:t>
            </a:r>
            <a:endParaRPr lang="en-US" sz="1200" dirty="0"/>
          </a:p>
          <a:p>
            <a:pPr marL="342900" indent="-342900">
              <a:spcAft>
                <a:spcPts val="600"/>
              </a:spcAft>
              <a:buSzPct val="100000"/>
              <a:buChar char="▸"/>
            </a:pPr>
            <a:r>
              <a:rPr lang="en-US" sz="1200" dirty="0">
                <a:solidFill>
                  <a:srgbClr val="F4F6FB"/>
                </a:solidFill>
                <a:latin typeface="Calibri" pitchFamily="34" charset="0"/>
                <a:ea typeface="Calibri" pitchFamily="34" charset="-122"/>
                <a:cs typeface="Calibri" pitchFamily="34" charset="-120"/>
              </a:rPr>
              <a:t>What carries over unchanged: the encoding proof, the 2-locality, the hot-start habit (train angles on a small exact instance, transfer to the large one)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70B1C"/>
        </a:solidFill>
      </p:bgPr>
    </p:bg>
    <p:spTree>
      <p:nvGrpSpPr>
        <p:cNvPr id="1" name=""/>
        <p:cNvGrpSpPr/>
        <p:nvPr/>
      </p:nvGrpSpPr>
      <p:grpSpPr>
        <a:xfrm>
          <a:off x="0" y="0"/>
          <a:ext cx="0" cy="0"/>
          <a:chOff x="0" y="0"/>
          <a:chExt cx="0" cy="0"/>
        </a:xfrm>
      </p:grpSpPr>
      <p:sp>
        <p:nvSpPr>
          <p:cNvPr id="2" name="Shape 0"/>
          <p:cNvSpPr/>
          <p:nvPr/>
        </p:nvSpPr>
        <p:spPr>
          <a:xfrm>
            <a:off x="10378440" y="6035040"/>
            <a:ext cx="1600200" cy="640080"/>
          </a:xfrm>
          <a:prstGeom prst="roundRect">
            <a:avLst>
              <a:gd name="adj" fmla="val 14286"/>
            </a:avLst>
          </a:prstGeom>
          <a:solidFill>
            <a:srgbClr val="F2B632"/>
          </a:solidFill>
          <a:ln w="12700">
            <a:solidFill>
              <a:srgbClr val="F2B632"/>
            </a:solidFill>
            <a:prstDash val="solid"/>
          </a:ln>
        </p:spPr>
      </p:sp>
      <p:sp>
        <p:nvSpPr>
          <p:cNvPr id="3" name="Text 1"/>
          <p:cNvSpPr/>
          <p:nvPr/>
        </p:nvSpPr>
        <p:spPr>
          <a:xfrm>
            <a:off x="10378440" y="6035040"/>
            <a:ext cx="1600200" cy="640080"/>
          </a:xfrm>
          <a:prstGeom prst="rect">
            <a:avLst/>
          </a:prstGeom>
          <a:noFill/>
          <a:ln/>
        </p:spPr>
        <p:txBody>
          <a:bodyPr wrap="square" lIns="0" tIns="0" rIns="0" bIns="0" rtlCol="0" anchor="ctr"/>
          <a:lstStyle/>
          <a:p>
            <a:pPr algn="ctr" indent="0" marL="0">
              <a:buNone/>
            </a:pPr>
            <a:r>
              <a:rPr lang="en-US" sz="2800" b="1" dirty="0">
                <a:solidFill>
                  <a:srgbClr val="070B1C"/>
                </a:solidFill>
                <a:latin typeface="Calibri" pitchFamily="34" charset="0"/>
                <a:ea typeface="Calibri" pitchFamily="34" charset="-122"/>
                <a:cs typeface="Calibri" pitchFamily="34" charset="-120"/>
              </a:rPr>
              <a:t>14 / 16</a:t>
            </a:r>
            <a:endParaRPr lang="en-US" sz="2800" dirty="0"/>
          </a:p>
        </p:txBody>
      </p:sp>
      <p:sp>
        <p:nvSpPr>
          <p:cNvPr id="4" name="Shape 2"/>
          <p:cNvSpPr/>
          <p:nvPr/>
        </p:nvSpPr>
        <p:spPr>
          <a:xfrm>
            <a:off x="0" y="0"/>
            <a:ext cx="164592" cy="6858000"/>
          </a:xfrm>
          <a:prstGeom prst="rect">
            <a:avLst/>
          </a:prstGeom>
          <a:solidFill>
            <a:srgbClr val="F2B632"/>
          </a:solidFill>
          <a:ln/>
        </p:spPr>
      </p:sp>
      <p:sp>
        <p:nvSpPr>
          <p:cNvPr id="5" name="Text 3"/>
          <p:cNvSpPr/>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FD4D4"/>
                </a:solidFill>
                <a:latin typeface="Calibri" pitchFamily="34" charset="0"/>
                <a:ea typeface="Calibri" pitchFamily="34" charset="-122"/>
                <a:cs typeface="Calibri" pitchFamily="34" charset="-120"/>
              </a:rPr>
              <a:t>SLIDE 14 / 16   |   OUTPUT</a:t>
            </a:r>
            <a:endParaRPr lang="en-US" sz="1100" dirty="0"/>
          </a:p>
        </p:txBody>
      </p:sp>
      <p:sp>
        <p:nvSpPr>
          <p:cNvPr id="6" name="Text 4"/>
          <p:cNvSpPr/>
          <p:nvPr/>
        </p:nvSpPr>
        <p:spPr>
          <a:xfrm>
            <a:off x="548640" y="594360"/>
            <a:ext cx="11064240" cy="685800"/>
          </a:xfrm>
          <a:prstGeom prst="rect">
            <a:avLst/>
          </a:prstGeom>
          <a:noFill/>
          <a:ln/>
        </p:spPr>
        <p:txBody>
          <a:bodyPr wrap="square" lIns="0" tIns="0" rIns="0" bIns="0" rtlCol="0" anchor="ctr"/>
          <a:lstStyle/>
          <a:p>
            <a:pPr indent="0" marL="0">
              <a:buNone/>
            </a:pPr>
            <a:r>
              <a:rPr lang="en-US" sz="3000" b="1" dirty="0">
                <a:solidFill>
                  <a:srgbClr val="F4F6FB"/>
                </a:solidFill>
                <a:latin typeface="Calibri" pitchFamily="34" charset="0"/>
                <a:ea typeface="Calibri" pitchFamily="34" charset="-122"/>
                <a:cs typeface="Calibri" pitchFamily="34" charset="-120"/>
              </a:rPr>
              <a:t>Deliverables: everything is public and reproducible</a:t>
            </a:r>
            <a:endParaRPr lang="en-US" sz="3000" dirty="0"/>
          </a:p>
        </p:txBody>
      </p:sp>
      <p:sp>
        <p:nvSpPr>
          <p:cNvPr id="7" name="Text 5"/>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9AA3BD"/>
                </a:solidFill>
                <a:latin typeface="Calibri" pitchFamily="34" charset="0"/>
                <a:ea typeface="Calibri" pitchFamily="34" charset="-122"/>
                <a:cs typeface="Calibri" pitchFamily="34" charset="-120"/>
              </a:rPr>
              <a:t>MantiQ Factor  |  Antenna tilt with QAOA  |  QUBIT 2026 case study</a:t>
            </a:r>
            <a:endParaRPr lang="en-US" sz="1000" dirty="0"/>
          </a:p>
        </p:txBody>
      </p:sp>
      <p:pic>
        <p:nvPicPr>
          <p:cNvPr id="8" name="Image 0" descr="C:\Projects\mantiq-factor-antenna-tilt\animation\mantiq_pipeline_final_frame.png">    </p:cNvPr>
          <p:cNvPicPr>
            <a:picLocks noChangeAspect="1"/>
          </p:cNvPicPr>
          <p:nvPr/>
        </p:nvPicPr>
        <p:blipFill>
          <a:blip r:embed="rId1"/>
          <a:stretch>
            <a:fillRect/>
          </a:stretch>
        </p:blipFill>
        <p:spPr>
          <a:xfrm>
            <a:off x="548640" y="1417320"/>
            <a:ext cx="5669280" cy="3191256"/>
          </a:xfrm>
          <a:prstGeom prst="rect">
            <a:avLst/>
          </a:prstGeom>
        </p:spPr>
      </p:pic>
      <p:sp>
        <p:nvSpPr>
          <p:cNvPr id="9" name="Text 6"/>
          <p:cNvSpPr/>
          <p:nvPr/>
        </p:nvSpPr>
        <p:spPr>
          <a:xfrm>
            <a:off x="548640" y="4617720"/>
            <a:ext cx="5760720" cy="365760"/>
          </a:xfrm>
          <a:prstGeom prst="rect">
            <a:avLst/>
          </a:prstGeom>
          <a:noFill/>
          <a:ln/>
        </p:spPr>
        <p:txBody>
          <a:bodyPr wrap="square" lIns="0" tIns="0" rIns="0" bIns="0" rtlCol="0" anchor="ctr"/>
          <a:lstStyle/>
          <a:p>
            <a:pPr indent="0" marL="0">
              <a:buNone/>
            </a:pPr>
            <a:r>
              <a:rPr lang="en-US" sz="1050" i="1" dirty="0">
                <a:solidFill>
                  <a:srgbClr val="9AA3BD"/>
                </a:solidFill>
                <a:latin typeface="Calibri" pitchFamily="34" charset="0"/>
                <a:ea typeface="Calibri" pitchFamily="34" charset="-122"/>
                <a:cs typeface="Calibri" pitchFamily="34" charset="-120"/>
              </a:rPr>
              <a:t>animation/mantiq_pipeline.mp4 (41 s): the MantiQ Factor pipeline animated with the real numbers of this case, built with matplotlib.</a:t>
            </a:r>
            <a:endParaRPr lang="en-US" sz="10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492240" y="1417320"/>
          <a:ext cx="5303520" cy="914400"/>
        </p:xfrm>
        <a:graphic>
          <a:graphicData uri="http://schemas.openxmlformats.org/drawingml/2006/table">
            <a:tbl>
              <a:tblPr/>
              <a:tblGrid>
                <a:gridCol w="1920240"/>
                <a:gridCol w="3383280"/>
              </a:tblGrid>
              <a:tr h="420624">
                <a:tc>
                  <a:txBody>
                    <a:bodyPr/>
                    <a:lstStyle/>
                    <a:p>
                      <a:pPr indent="0" marL="0">
                        <a:buNone/>
                      </a:pPr>
                      <a:r>
                        <a:rPr lang="en-US" sz="1200" b="1" dirty="0">
                          <a:solidFill>
                            <a:srgbClr val="F2B632"/>
                          </a:solidFill>
                          <a:latin typeface="Calibri" pitchFamily="34" charset="0"/>
                          <a:ea typeface="Calibri" pitchFamily="34" charset="-122"/>
                          <a:cs typeface="Calibri" pitchFamily="34" charset="-120"/>
                        </a:rPr>
                        <a:t>artifact</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131A3D"/>
                    </a:solidFill>
                  </a:tcPr>
                </a:tc>
                <a:tc>
                  <a:txBody>
                    <a:bodyPr/>
                    <a:lstStyle/>
                    <a:p>
                      <a:pPr indent="0" marL="0">
                        <a:buNone/>
                      </a:pPr>
                      <a:r>
                        <a:rPr lang="en-US" sz="1200" b="1" dirty="0">
                          <a:solidFill>
                            <a:srgbClr val="F2B632"/>
                          </a:solidFill>
                          <a:latin typeface="Calibri" pitchFamily="34" charset="0"/>
                          <a:ea typeface="Calibri" pitchFamily="34" charset="-122"/>
                          <a:cs typeface="Calibri" pitchFamily="34" charset="-120"/>
                        </a:rPr>
                        <a:t>where</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131A3D"/>
                    </a:solidFill>
                  </a:tcPr>
                </a:tc>
              </a:tr>
              <a:tr h="420624">
                <a:tc>
                  <a:txBody>
                    <a:bodyPr/>
                    <a:lstStyle/>
                    <a:p>
                      <a:pPr indent="0" marL="0">
                        <a:buNone/>
                      </a:pPr>
                      <a:r>
                        <a:rPr lang="en-US" sz="1200" dirty="0">
                          <a:solidFill>
                            <a:srgbClr val="F4F6FB"/>
                          </a:solidFill>
                          <a:latin typeface="Calibri" pitchFamily="34" charset="0"/>
                          <a:ea typeface="Calibri" pitchFamily="34" charset="-122"/>
                          <a:cs typeface="Calibri" pitchFamily="34" charset="-120"/>
                        </a:rPr>
                        <a:t>Concluded solution (MIT)</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c>
                  <a:txBody>
                    <a:bodyPr/>
                    <a:lstStyle/>
                    <a:p>
                      <a:pPr indent="0" marL="0">
                        <a:buNone/>
                      </a:pPr>
                      <a:r>
                        <a:rPr lang="en-US" sz="1200" dirty="0">
                          <a:solidFill>
                            <a:srgbClr val="2FD4D4"/>
                          </a:solidFill>
                          <a:latin typeface="Calibri" pitchFamily="34" charset="0"/>
                          <a:ea typeface="Calibri" pitchFamily="34" charset="-122"/>
                          <a:cs typeface="Calibri" pitchFamily="34" charset="-120"/>
                        </a:rPr>
                        <a:t>github.com/zuwasi/mantiq-factor-antenna-tilt</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r>
              <a:tr h="420624">
                <a:tc>
                  <a:txBody>
                    <a:bodyPr/>
                    <a:lstStyle/>
                    <a:p>
                      <a:pPr indent="0" marL="0">
                        <a:buNone/>
                      </a:pPr>
                      <a:r>
                        <a:rPr lang="en-US" sz="1200" dirty="0">
                          <a:solidFill>
                            <a:srgbClr val="F4F6FB"/>
                          </a:solidFill>
                          <a:latin typeface="Calibri" pitchFamily="34" charset="0"/>
                          <a:ea typeface="Calibri" pitchFamily="34" charset="-122"/>
                          <a:cs typeface="Calibri" pitchFamily="34" charset="-120"/>
                        </a:rPr>
                        <a:t>Classiq library demo (PR)</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c>
                  <a:txBody>
                    <a:bodyPr/>
                    <a:lstStyle/>
                    <a:p>
                      <a:pPr indent="0" marL="0">
                        <a:buNone/>
                      </a:pPr>
                      <a:r>
                        <a:rPr lang="en-US" sz="1200" dirty="0">
                          <a:solidFill>
                            <a:srgbClr val="2FD4D4"/>
                          </a:solidFill>
                          <a:latin typeface="Calibri" pitchFamily="34" charset="0"/>
                          <a:ea typeface="Calibri" pitchFamily="34" charset="-122"/>
                          <a:cs typeface="Calibri" pitchFamily="34" charset="-120"/>
                        </a:rPr>
                        <a:t>applications/telecom/antenna_tilt_optimization in Classiq/classiq-library</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r>
              <a:tr h="420624">
                <a:tc>
                  <a:txBody>
                    <a:bodyPr/>
                    <a:lstStyle/>
                    <a:p>
                      <a:pPr indent="0" marL="0">
                        <a:buNone/>
                      </a:pPr>
                      <a:r>
                        <a:rPr lang="en-US" sz="1200" dirty="0">
                          <a:solidFill>
                            <a:srgbClr val="F4F6FB"/>
                          </a:solidFill>
                          <a:latin typeface="Calibri" pitchFamily="34" charset="0"/>
                          <a:ea typeface="Calibri" pitchFamily="34" charset="-122"/>
                          <a:cs typeface="Calibri" pitchFamily="34" charset="-120"/>
                        </a:rPr>
                        <a:t>Hackathon repo and 5-min video</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c>
                  <a:txBody>
                    <a:bodyPr/>
                    <a:lstStyle/>
                    <a:p>
                      <a:pPr indent="0" marL="0">
                        <a:buNone/>
                      </a:pPr>
                      <a:r>
                        <a:rPr lang="en-US" sz="1200" dirty="0">
                          <a:solidFill>
                            <a:srgbClr val="2FD4D4"/>
                          </a:solidFill>
                          <a:latin typeface="Calibri" pitchFamily="34" charset="0"/>
                          <a:ea typeface="Calibri" pitchFamily="34" charset="-122"/>
                          <a:cs typeface="Calibri" pitchFamily="34" charset="-120"/>
                        </a:rPr>
                        <a:t>github.com/zuwasi/quantum-headache-antenna-tilt, youtu.be/OSEtTWnRQhc</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r>
              <a:tr h="420624">
                <a:tc>
                  <a:txBody>
                    <a:bodyPr/>
                    <a:lstStyle/>
                    <a:p>
                      <a:pPr indent="0" marL="0">
                        <a:buNone/>
                      </a:pPr>
                      <a:r>
                        <a:rPr lang="en-US" sz="1200" dirty="0">
                          <a:solidFill>
                            <a:srgbClr val="F4F6FB"/>
                          </a:solidFill>
                          <a:latin typeface="Calibri" pitchFamily="34" charset="0"/>
                          <a:ea typeface="Calibri" pitchFamily="34" charset="-122"/>
                          <a:cs typeface="Calibri" pitchFamily="34" charset="-120"/>
                        </a:rPr>
                        <a:t>Data</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c>
                  <a:txBody>
                    <a:bodyPr/>
                    <a:lstStyle/>
                    <a:p>
                      <a:pPr indent="0" marL="0">
                        <a:buNone/>
                      </a:pPr>
                      <a:r>
                        <a:rPr lang="en-US" sz="1200" dirty="0">
                          <a:solidFill>
                            <a:srgbClr val="F4F6FB"/>
                          </a:solidFill>
                          <a:latin typeface="Calibri" pitchFamily="34" charset="0"/>
                          <a:ea typeface="Calibri" pitchFamily="34" charset="-122"/>
                          <a:cs typeface="Calibri" pitchFamily="34" charset="-120"/>
                        </a:rPr>
                        <a:t>data/opencellid_il2*.csv (OpenCelliD, CC BY-SA 4.0)</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r>
              <a:tr h="420624">
                <a:tc>
                  <a:txBody>
                    <a:bodyPr/>
                    <a:lstStyle/>
                    <a:p>
                      <a:pPr indent="0" marL="0">
                        <a:buNone/>
                      </a:pPr>
                      <a:r>
                        <a:rPr lang="en-US" sz="1200" dirty="0">
                          <a:solidFill>
                            <a:srgbClr val="F4F6FB"/>
                          </a:solidFill>
                          <a:latin typeface="Calibri" pitchFamily="34" charset="0"/>
                          <a:ea typeface="Calibri" pitchFamily="34" charset="-122"/>
                          <a:cs typeface="Calibri" pitchFamily="34" charset="-120"/>
                        </a:rPr>
                        <a:t>Wolfram</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c>
                  <a:txBody>
                    <a:bodyPr/>
                    <a:lstStyle/>
                    <a:p>
                      <a:pPr indent="0" marL="0">
                        <a:buNone/>
                      </a:pPr>
                      <a:r>
                        <a:rPr lang="en-US" sz="1200" dirty="0">
                          <a:solidFill>
                            <a:srgbClr val="F4F6FB"/>
                          </a:solidFill>
                          <a:latin typeface="Calibri" pitchFamily="34" charset="0"/>
                          <a:ea typeface="Calibri" pitchFamily="34" charset="-122"/>
                          <a:cs typeface="Calibri" pitchFamily="34" charset="-120"/>
                        </a:rPr>
                        <a:t>wolfram/*.wl, .nb, .pdf, .json (angles, probabilities)</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r>
              <a:tr h="420624">
                <a:tc>
                  <a:txBody>
                    <a:bodyPr/>
                    <a:lstStyle/>
                    <a:p>
                      <a:pPr indent="0" marL="0">
                        <a:buNone/>
                      </a:pPr>
                      <a:r>
                        <a:rPr lang="en-US" sz="1200" dirty="0">
                          <a:solidFill>
                            <a:srgbClr val="F4F6FB"/>
                          </a:solidFill>
                          <a:latin typeface="Calibri" pitchFamily="34" charset="0"/>
                          <a:ea typeface="Calibri" pitchFamily="34" charset="-122"/>
                          <a:cs typeface="Calibri" pitchFamily="34" charset="-120"/>
                        </a:rPr>
                        <a:t>Lean 4</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c>
                  <a:txBody>
                    <a:bodyPr/>
                    <a:lstStyle/>
                    <a:p>
                      <a:pPr indent="0" marL="0">
                        <a:buNone/>
                      </a:pPr>
                      <a:r>
                        <a:rPr lang="en-US" sz="1200" dirty="0">
                          <a:solidFill>
                            <a:srgbClr val="F4F6FB"/>
                          </a:solidFill>
                          <a:latin typeface="Calibri" pitchFamily="34" charset="0"/>
                          <a:ea typeface="Calibri" pitchFamily="34" charset="-122"/>
                          <a:cs typeface="Calibri" pitchFamily="34" charset="-120"/>
                        </a:rPr>
                        <a:t>lean/TiltQAOA.lean + build log</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r>
              <a:tr h="420624">
                <a:tc>
                  <a:txBody>
                    <a:bodyPr/>
                    <a:lstStyle/>
                    <a:p>
                      <a:pPr indent="0" marL="0">
                        <a:buNone/>
                      </a:pPr>
                      <a:r>
                        <a:rPr lang="en-US" sz="1200" dirty="0">
                          <a:solidFill>
                            <a:srgbClr val="F4F6FB"/>
                          </a:solidFill>
                          <a:latin typeface="Calibri" pitchFamily="34" charset="0"/>
                          <a:ea typeface="Calibri" pitchFamily="34" charset="-122"/>
                          <a:cs typeface="Calibri" pitchFamily="34" charset="-120"/>
                        </a:rPr>
                        <a:t>Classiq</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c>
                  <a:txBody>
                    <a:bodyPr/>
                    <a:lstStyle/>
                    <a:p>
                      <a:pPr indent="0" marL="0">
                        <a:buNone/>
                      </a:pPr>
                      <a:r>
                        <a:rPr lang="en-US" sz="1200" dirty="0">
                          <a:solidFill>
                            <a:srgbClr val="F4F6FB"/>
                          </a:solidFill>
                          <a:latin typeface="Calibri" pitchFamily="34" charset="0"/>
                          <a:ea typeface="Calibri" pitchFamily="34" charset="-122"/>
                          <a:cs typeface="Calibri" pitchFamily="34" charset="-120"/>
                        </a:rPr>
                        <a:t>notebook/*.ipynb, .qmod; classiq/results/*.json, *.qasm</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r>
              <a:tr h="420624">
                <a:tc>
                  <a:txBody>
                    <a:bodyPr/>
                    <a:lstStyle/>
                    <a:p>
                      <a:pPr indent="0" marL="0">
                        <a:buNone/>
                      </a:pPr>
                      <a:r>
                        <a:rPr lang="en-US" sz="1200" dirty="0">
                          <a:solidFill>
                            <a:srgbClr val="F4F6FB"/>
                          </a:solidFill>
                          <a:latin typeface="Calibri" pitchFamily="34" charset="0"/>
                          <a:ea typeface="Calibri" pitchFamily="34" charset="-122"/>
                          <a:cs typeface="Calibri" pitchFamily="34" charset="-120"/>
                        </a:rPr>
                        <a:t>This deck</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c>
                  <a:txBody>
                    <a:bodyPr/>
                    <a:lstStyle/>
                    <a:p>
                      <a:pPr indent="0" marL="0">
                        <a:buNone/>
                      </a:pPr>
                      <a:r>
                        <a:rPr lang="en-US" sz="1200" dirty="0">
                          <a:solidFill>
                            <a:srgbClr val="F4F6FB"/>
                          </a:solidFill>
                          <a:latin typeface="Calibri" pitchFamily="34" charset="0"/>
                          <a:ea typeface="Calibri" pitchFamily="34" charset="-122"/>
                          <a:cs typeface="Calibri" pitchFamily="34" charset="-120"/>
                        </a:rPr>
                        <a:t>presentation/build_deck.js (pptxgenjs) and the PPTX/PDF it builds</a:t>
                      </a:r>
                      <a:endParaRPr lang="en-US" sz="1200" dirty="0">
                        <a:latin typeface="Calibri" charset="0"/>
                        <a:ea typeface="Calibri" charset="0"/>
                        <a:cs typeface="Calibri" charset="0"/>
                      </a:endParaRPr>
                    </a:p>
                  </a:txBody>
                  <a:tcPr marL="91440" marR="91440" marT="45720" marB="45720">
                    <a:lnL w="12700" cap="flat" cmpd="sng" algn="ctr">
                      <a:solidFill>
                        <a:srgbClr val="070B1C"/>
                      </a:solidFill>
                      <a:prstDash val="solid"/>
                      <a:round/>
                      <a:headEnd type="none" w="med" len="med"/>
                      <a:tailEnd type="none" w="med" len="med"/>
                    </a:lnL>
                    <a:lnR w="12700" cap="flat" cmpd="sng" algn="ctr">
                      <a:solidFill>
                        <a:srgbClr val="070B1C"/>
                      </a:solidFill>
                      <a:prstDash val="solid"/>
                      <a:round/>
                      <a:headEnd type="none" w="med" len="med"/>
                      <a:tailEnd type="none" w="med" len="med"/>
                    </a:lnR>
                    <a:lnT w="12700" cap="flat" cmpd="sng" algn="ctr">
                      <a:solidFill>
                        <a:srgbClr val="070B1C"/>
                      </a:solidFill>
                      <a:prstDash val="solid"/>
                      <a:round/>
                      <a:headEnd type="none" w="med" len="med"/>
                      <a:tailEnd type="none" w="med" len="med"/>
                    </a:lnT>
                    <a:lnB w="12700" cap="flat" cmpd="sng" algn="ctr">
                      <a:solidFill>
                        <a:srgbClr val="070B1C"/>
                      </a:solidFill>
                      <a:prstDash val="solid"/>
                      <a:round/>
                      <a:headEnd type="none" w="med" len="med"/>
                      <a:tailEnd type="none" w="med" len="med"/>
                    </a:lnB>
                    <a:solidFill>
                      <a:srgbClr val="0D1330"/>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70B1C"/>
        </a:solidFill>
      </p:bgPr>
    </p:bg>
    <p:spTree>
      <p:nvGrpSpPr>
        <p:cNvPr id="1" name=""/>
        <p:cNvGrpSpPr/>
        <p:nvPr/>
      </p:nvGrpSpPr>
      <p:grpSpPr>
        <a:xfrm>
          <a:off x="0" y="0"/>
          <a:ext cx="0" cy="0"/>
          <a:chOff x="0" y="0"/>
          <a:chExt cx="0" cy="0"/>
        </a:xfrm>
      </p:grpSpPr>
      <p:sp>
        <p:nvSpPr>
          <p:cNvPr id="2" name="Shape 0"/>
          <p:cNvSpPr/>
          <p:nvPr/>
        </p:nvSpPr>
        <p:spPr>
          <a:xfrm>
            <a:off x="10378440" y="6035040"/>
            <a:ext cx="1600200" cy="640080"/>
          </a:xfrm>
          <a:prstGeom prst="roundRect">
            <a:avLst>
              <a:gd name="adj" fmla="val 14286"/>
            </a:avLst>
          </a:prstGeom>
          <a:solidFill>
            <a:srgbClr val="F2B632"/>
          </a:solidFill>
          <a:ln w="12700">
            <a:solidFill>
              <a:srgbClr val="F2B632"/>
            </a:solidFill>
            <a:prstDash val="solid"/>
          </a:ln>
        </p:spPr>
      </p:sp>
      <p:sp>
        <p:nvSpPr>
          <p:cNvPr id="3" name="Text 1"/>
          <p:cNvSpPr/>
          <p:nvPr/>
        </p:nvSpPr>
        <p:spPr>
          <a:xfrm>
            <a:off x="10378440" y="6035040"/>
            <a:ext cx="1600200" cy="640080"/>
          </a:xfrm>
          <a:prstGeom prst="rect">
            <a:avLst/>
          </a:prstGeom>
          <a:noFill/>
          <a:ln/>
        </p:spPr>
        <p:txBody>
          <a:bodyPr wrap="square" lIns="0" tIns="0" rIns="0" bIns="0" rtlCol="0" anchor="ctr"/>
          <a:lstStyle/>
          <a:p>
            <a:pPr algn="ctr" indent="0" marL="0">
              <a:buNone/>
            </a:pPr>
            <a:r>
              <a:rPr lang="en-US" sz="2800" b="1" dirty="0">
                <a:solidFill>
                  <a:srgbClr val="070B1C"/>
                </a:solidFill>
                <a:latin typeface="Calibri" pitchFamily="34" charset="0"/>
                <a:ea typeface="Calibri" pitchFamily="34" charset="-122"/>
                <a:cs typeface="Calibri" pitchFamily="34" charset="-120"/>
              </a:rPr>
              <a:t>15 / 16</a:t>
            </a:r>
            <a:endParaRPr lang="en-US" sz="2800" dirty="0"/>
          </a:p>
        </p:txBody>
      </p:sp>
      <p:sp>
        <p:nvSpPr>
          <p:cNvPr id="4" name="Shape 2"/>
          <p:cNvSpPr/>
          <p:nvPr/>
        </p:nvSpPr>
        <p:spPr>
          <a:xfrm>
            <a:off x="0" y="0"/>
            <a:ext cx="164592" cy="6858000"/>
          </a:xfrm>
          <a:prstGeom prst="rect">
            <a:avLst/>
          </a:prstGeom>
          <a:solidFill>
            <a:srgbClr val="F2B632"/>
          </a:solidFill>
          <a:ln/>
        </p:spPr>
      </p:sp>
      <p:sp>
        <p:nvSpPr>
          <p:cNvPr id="5" name="Text 3"/>
          <p:cNvSpPr/>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FD4D4"/>
                </a:solidFill>
                <a:latin typeface="Calibri" pitchFamily="34" charset="0"/>
                <a:ea typeface="Calibri" pitchFamily="34" charset="-122"/>
                <a:cs typeface="Calibri" pitchFamily="34" charset="-120"/>
              </a:rPr>
              <a:t>SLIDE 15 / 16   |   LESSONS</a:t>
            </a:r>
            <a:endParaRPr lang="en-US" sz="1100" dirty="0"/>
          </a:p>
        </p:txBody>
      </p:sp>
      <p:sp>
        <p:nvSpPr>
          <p:cNvPr id="6" name="Text 4"/>
          <p:cNvSpPr/>
          <p:nvPr/>
        </p:nvSpPr>
        <p:spPr>
          <a:xfrm>
            <a:off x="548640" y="594360"/>
            <a:ext cx="11064240" cy="685800"/>
          </a:xfrm>
          <a:prstGeom prst="rect">
            <a:avLst/>
          </a:prstGeom>
          <a:noFill/>
          <a:ln/>
        </p:spPr>
        <p:txBody>
          <a:bodyPr wrap="square" lIns="0" tIns="0" rIns="0" bIns="0" rtlCol="0" anchor="ctr"/>
          <a:lstStyle/>
          <a:p>
            <a:pPr indent="0" marL="0">
              <a:buNone/>
            </a:pPr>
            <a:r>
              <a:rPr lang="en-US" sz="3000" b="1" dirty="0">
                <a:solidFill>
                  <a:srgbClr val="F4F6FB"/>
                </a:solidFill>
                <a:latin typeface="Calibri" pitchFamily="34" charset="0"/>
                <a:ea typeface="Calibri" pitchFamily="34" charset="-122"/>
                <a:cs typeface="Calibri" pitchFamily="34" charset="-120"/>
              </a:rPr>
              <a:t>What the MantiQ Factor workflow bought us</a:t>
            </a:r>
            <a:endParaRPr lang="en-US" sz="3000" dirty="0"/>
          </a:p>
        </p:txBody>
      </p:sp>
      <p:sp>
        <p:nvSpPr>
          <p:cNvPr id="7" name="Text 5"/>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9AA3BD"/>
                </a:solidFill>
                <a:latin typeface="Calibri" pitchFamily="34" charset="0"/>
                <a:ea typeface="Calibri" pitchFamily="34" charset="-122"/>
                <a:cs typeface="Calibri" pitchFamily="34" charset="-120"/>
              </a:rPr>
              <a:t>MantiQ Factor  |  Antenna tilt with QAOA  |  QUBIT 2026 case study</a:t>
            </a:r>
            <a:endParaRPr lang="en-US" sz="1000" dirty="0"/>
          </a:p>
        </p:txBody>
      </p:sp>
      <p:sp>
        <p:nvSpPr>
          <p:cNvPr id="8" name="Shape 6"/>
          <p:cNvSpPr/>
          <p:nvPr/>
        </p:nvSpPr>
        <p:spPr>
          <a:xfrm>
            <a:off x="548640" y="1463040"/>
            <a:ext cx="5440680" cy="1371600"/>
          </a:xfrm>
          <a:prstGeom prst="roundRect">
            <a:avLst>
              <a:gd name="adj" fmla="val 5333"/>
            </a:avLst>
          </a:prstGeom>
          <a:solidFill>
            <a:srgbClr val="0D1330"/>
          </a:solidFill>
          <a:ln w="12700">
            <a:solidFill>
              <a:srgbClr val="0D1330"/>
            </a:solidFill>
            <a:prstDash val="solid"/>
          </a:ln>
        </p:spPr>
      </p:sp>
      <p:sp>
        <p:nvSpPr>
          <p:cNvPr id="9" name="Text 7"/>
          <p:cNvSpPr/>
          <p:nvPr/>
        </p:nvSpPr>
        <p:spPr>
          <a:xfrm>
            <a:off x="658368" y="1463040"/>
            <a:ext cx="5212080" cy="1371600"/>
          </a:xfrm>
          <a:prstGeom prst="rect">
            <a:avLst/>
          </a:prstGeom>
          <a:noFill/>
          <a:ln/>
        </p:spPr>
        <p:txBody>
          <a:bodyPr wrap="square" lIns="381" tIns="381" rIns="381" bIns="381" rtlCol="0" anchor="ctr"/>
          <a:lstStyle/>
          <a:p>
            <a:pPr indent="0" marL="0">
              <a:buNone/>
            </a:pPr>
            <a:r>
              <a:rPr lang="en-US" sz="1400" b="1" dirty="0">
                <a:solidFill>
                  <a:srgbClr val="F2B632"/>
                </a:solidFill>
                <a:latin typeface="Calibri" pitchFamily="34" charset="0"/>
                <a:ea typeface="Calibri" pitchFamily="34" charset="-122"/>
                <a:cs typeface="Calibri" pitchFamily="34" charset="-120"/>
              </a:rPr>
              <a:t>Compute before you engineer</a:t>
            </a:r>
            <a:endParaRPr lang="en-US" sz="1400" dirty="0"/>
          </a:p>
          <a:p>
            <a:pPr indent="0" marL="0">
              <a:buNone/>
            </a:pPr>
            <a:r>
              <a:rPr lang="en-US" sz="1250" dirty="0">
                <a:solidFill>
                  <a:srgbClr val="F4F6FB"/>
                </a:solidFill>
                <a:latin typeface="Calibri" pitchFamily="34" charset="0"/>
                <a:ea typeface="Calibri" pitchFamily="34" charset="-122"/>
                <a:cs typeface="Calibri" pitchFamily="34" charset="-120"/>
              </a:rPr>
              <a:t>Wolfram found the angles exactly; the Classiq run confirmed them in one shot and COBYLA had nothing left to do. Blind starts on the simulator got stuck at 35.5 or reached only 7.0 after 20 jobs: shot noise hides the gradient.</a:t>
            </a:r>
            <a:endParaRPr lang="en-US" sz="1400" dirty="0"/>
          </a:p>
        </p:txBody>
      </p:sp>
      <p:sp>
        <p:nvSpPr>
          <p:cNvPr id="10" name="Shape 8"/>
          <p:cNvSpPr/>
          <p:nvPr/>
        </p:nvSpPr>
        <p:spPr>
          <a:xfrm>
            <a:off x="6309360" y="1463040"/>
            <a:ext cx="5440680" cy="1371600"/>
          </a:xfrm>
          <a:prstGeom prst="roundRect">
            <a:avLst>
              <a:gd name="adj" fmla="val 5333"/>
            </a:avLst>
          </a:prstGeom>
          <a:solidFill>
            <a:srgbClr val="0D1330"/>
          </a:solidFill>
          <a:ln w="12700">
            <a:solidFill>
              <a:srgbClr val="0D1330"/>
            </a:solidFill>
            <a:prstDash val="solid"/>
          </a:ln>
        </p:spPr>
      </p:sp>
      <p:sp>
        <p:nvSpPr>
          <p:cNvPr id="11" name="Text 9"/>
          <p:cNvSpPr/>
          <p:nvPr/>
        </p:nvSpPr>
        <p:spPr>
          <a:xfrm>
            <a:off x="6419088" y="1463040"/>
            <a:ext cx="5212080" cy="1371600"/>
          </a:xfrm>
          <a:prstGeom prst="rect">
            <a:avLst/>
          </a:prstGeom>
          <a:noFill/>
          <a:ln/>
        </p:spPr>
        <p:txBody>
          <a:bodyPr wrap="square" lIns="381" tIns="381" rIns="381" bIns="381" rtlCol="0" anchor="ctr"/>
          <a:lstStyle/>
          <a:p>
            <a:pPr indent="0" marL="0">
              <a:buNone/>
            </a:pPr>
            <a:r>
              <a:rPr lang="en-US" sz="1400" b="1" dirty="0">
                <a:solidFill>
                  <a:srgbClr val="F2B632"/>
                </a:solidFill>
                <a:latin typeface="Calibri" pitchFamily="34" charset="0"/>
                <a:ea typeface="Calibri" pitchFamily="34" charset="-122"/>
                <a:cs typeface="Calibri" pitchFamily="34" charset="-120"/>
              </a:rPr>
              <a:t>Prove the parts that fail silently</a:t>
            </a:r>
            <a:endParaRPr lang="en-US" sz="1400" dirty="0"/>
          </a:p>
          <a:p>
            <a:pPr indent="0" marL="0">
              <a:buNone/>
            </a:pPr>
            <a:r>
              <a:rPr lang="en-US" sz="1250" dirty="0">
                <a:solidFill>
                  <a:srgbClr val="F4F6FB"/>
                </a:solidFill>
                <a:latin typeface="Calibri" pitchFamily="34" charset="0"/>
                <a:ea typeface="Calibri" pitchFamily="34" charset="-122"/>
                <a:cs typeface="Calibri" pitchFamily="34" charset="-120"/>
              </a:rPr>
              <a:t>Encoding bijection, the true optimum, and the diagonal phase layer are where a QAOA demo can be wrong while still producing plausible histograms.</a:t>
            </a:r>
            <a:endParaRPr lang="en-US" sz="1400" dirty="0"/>
          </a:p>
        </p:txBody>
      </p:sp>
      <p:sp>
        <p:nvSpPr>
          <p:cNvPr id="12" name="Shape 10"/>
          <p:cNvSpPr/>
          <p:nvPr/>
        </p:nvSpPr>
        <p:spPr>
          <a:xfrm>
            <a:off x="548640" y="3017520"/>
            <a:ext cx="5440680" cy="1371600"/>
          </a:xfrm>
          <a:prstGeom prst="roundRect">
            <a:avLst>
              <a:gd name="adj" fmla="val 5333"/>
            </a:avLst>
          </a:prstGeom>
          <a:solidFill>
            <a:srgbClr val="0D1330"/>
          </a:solidFill>
          <a:ln w="12700">
            <a:solidFill>
              <a:srgbClr val="0D1330"/>
            </a:solidFill>
            <a:prstDash val="solid"/>
          </a:ln>
        </p:spPr>
      </p:sp>
      <p:sp>
        <p:nvSpPr>
          <p:cNvPr id="13" name="Text 11"/>
          <p:cNvSpPr/>
          <p:nvPr/>
        </p:nvSpPr>
        <p:spPr>
          <a:xfrm>
            <a:off x="658368" y="3017520"/>
            <a:ext cx="5212080" cy="1371600"/>
          </a:xfrm>
          <a:prstGeom prst="rect">
            <a:avLst/>
          </a:prstGeom>
          <a:noFill/>
          <a:ln/>
        </p:spPr>
        <p:txBody>
          <a:bodyPr wrap="square" lIns="381" tIns="381" rIns="381" bIns="381" rtlCol="0" anchor="ctr"/>
          <a:lstStyle/>
          <a:p>
            <a:pPr indent="0" marL="0">
              <a:buNone/>
            </a:pPr>
            <a:r>
              <a:rPr lang="en-US" sz="1400" b="1" dirty="0">
                <a:solidFill>
                  <a:srgbClr val="F2B632"/>
                </a:solidFill>
                <a:latin typeface="Calibri" pitchFamily="34" charset="0"/>
                <a:ea typeface="Calibri" pitchFamily="34" charset="-122"/>
                <a:cs typeface="Calibri" pitchFamily="34" charset="-120"/>
              </a:rPr>
              <a:t>Make the model decision explicit</a:t>
            </a:r>
            <a:endParaRPr lang="en-US" sz="1400" dirty="0"/>
          </a:p>
          <a:p>
            <a:pPr indent="0" marL="0">
              <a:buNone/>
            </a:pPr>
            <a:r>
              <a:rPr lang="en-US" sz="1250" dirty="0">
                <a:solidFill>
                  <a:srgbClr val="F4F6FB"/>
                </a:solidFill>
                <a:latin typeface="Calibri" pitchFamily="34" charset="0"/>
                <a:ea typeface="Calibri" pitchFamily="34" charset="-122"/>
                <a:cs typeface="Calibri" pitchFamily="34" charset="-120"/>
              </a:rPr>
              <a:t>The 2-qubit vs 5-qubit choice was argued with numbers (invalid mass, Pauli weight, team gain) and written down before code, so the team could veto it.</a:t>
            </a:r>
            <a:endParaRPr lang="en-US" sz="1400" dirty="0"/>
          </a:p>
        </p:txBody>
      </p:sp>
      <p:sp>
        <p:nvSpPr>
          <p:cNvPr id="14" name="Shape 12"/>
          <p:cNvSpPr/>
          <p:nvPr/>
        </p:nvSpPr>
        <p:spPr>
          <a:xfrm>
            <a:off x="6309360" y="3017520"/>
            <a:ext cx="5440680" cy="1371600"/>
          </a:xfrm>
          <a:prstGeom prst="roundRect">
            <a:avLst>
              <a:gd name="adj" fmla="val 5333"/>
            </a:avLst>
          </a:prstGeom>
          <a:solidFill>
            <a:srgbClr val="0D1330"/>
          </a:solidFill>
          <a:ln w="12700">
            <a:solidFill>
              <a:srgbClr val="0D1330"/>
            </a:solidFill>
            <a:prstDash val="solid"/>
          </a:ln>
        </p:spPr>
      </p:sp>
      <p:sp>
        <p:nvSpPr>
          <p:cNvPr id="15" name="Text 13"/>
          <p:cNvSpPr/>
          <p:nvPr/>
        </p:nvSpPr>
        <p:spPr>
          <a:xfrm>
            <a:off x="6419088" y="3017520"/>
            <a:ext cx="5212080" cy="1371600"/>
          </a:xfrm>
          <a:prstGeom prst="rect">
            <a:avLst/>
          </a:prstGeom>
          <a:noFill/>
          <a:ln/>
        </p:spPr>
        <p:txBody>
          <a:bodyPr wrap="square" lIns="381" tIns="381" rIns="381" bIns="381" rtlCol="0" anchor="ctr"/>
          <a:lstStyle/>
          <a:p>
            <a:pPr indent="0" marL="0">
              <a:buNone/>
            </a:pPr>
            <a:r>
              <a:rPr lang="en-US" sz="1400" b="1" dirty="0">
                <a:solidFill>
                  <a:srgbClr val="F2B632"/>
                </a:solidFill>
                <a:latin typeface="Calibri" pitchFamily="34" charset="0"/>
                <a:ea typeface="Calibri" pitchFamily="34" charset="-122"/>
                <a:cs typeface="Calibri" pitchFamily="34" charset="-120"/>
              </a:rPr>
              <a:t>Files between stages, not memory</a:t>
            </a:r>
            <a:endParaRPr lang="en-US" sz="1400" dirty="0"/>
          </a:p>
          <a:p>
            <a:pPr indent="0" marL="0">
              <a:buNone/>
            </a:pPr>
            <a:r>
              <a:rPr lang="en-US" sz="1250" dirty="0">
                <a:solidFill>
                  <a:srgbClr val="F4F6FB"/>
                </a:solidFill>
                <a:latin typeface="Calibri" pitchFamily="34" charset="0"/>
                <a:ea typeface="Calibri" pitchFamily="34" charset="-122"/>
                <a:cs typeface="Calibri" pitchFamily="34" charset="-120"/>
              </a:rPr>
              <a:t>JSON angles, Markdown Hamiltonian, Lean source and Qmod are the interfaces. Any stage can be rerun alone, and this deck was rebuilt from them.</a:t>
            </a:r>
            <a:endParaRPr lang="en-US" sz="1400" dirty="0"/>
          </a:p>
        </p:txBody>
      </p:sp>
      <p:sp>
        <p:nvSpPr>
          <p:cNvPr id="16" name="Shape 14"/>
          <p:cNvSpPr/>
          <p:nvPr/>
        </p:nvSpPr>
        <p:spPr>
          <a:xfrm>
            <a:off x="548640" y="4572000"/>
            <a:ext cx="5440680" cy="1371600"/>
          </a:xfrm>
          <a:prstGeom prst="roundRect">
            <a:avLst>
              <a:gd name="adj" fmla="val 5333"/>
            </a:avLst>
          </a:prstGeom>
          <a:solidFill>
            <a:srgbClr val="0D1330"/>
          </a:solidFill>
          <a:ln w="12700">
            <a:solidFill>
              <a:srgbClr val="0D1330"/>
            </a:solidFill>
            <a:prstDash val="solid"/>
          </a:ln>
        </p:spPr>
      </p:sp>
      <p:sp>
        <p:nvSpPr>
          <p:cNvPr id="17" name="Text 15"/>
          <p:cNvSpPr/>
          <p:nvPr/>
        </p:nvSpPr>
        <p:spPr>
          <a:xfrm>
            <a:off x="658368" y="4572000"/>
            <a:ext cx="5212080" cy="1371600"/>
          </a:xfrm>
          <a:prstGeom prst="rect">
            <a:avLst/>
          </a:prstGeom>
          <a:noFill/>
          <a:ln/>
        </p:spPr>
        <p:txBody>
          <a:bodyPr wrap="square" lIns="381" tIns="381" rIns="381" bIns="381" rtlCol="0" anchor="ctr"/>
          <a:lstStyle/>
          <a:p>
            <a:pPr indent="0" marL="0">
              <a:buNone/>
            </a:pPr>
            <a:r>
              <a:rPr lang="en-US" sz="1400" b="1" dirty="0">
                <a:solidFill>
                  <a:srgbClr val="F2B632"/>
                </a:solidFill>
                <a:latin typeface="Calibri" pitchFamily="34" charset="0"/>
                <a:ea typeface="Calibri" pitchFamily="34" charset="-122"/>
                <a:cs typeface="Calibri" pitchFamily="34" charset="-120"/>
              </a:rPr>
              <a:t>Real data raises the bar cheaply</a:t>
            </a:r>
            <a:endParaRPr lang="en-US" sz="1400" dirty="0"/>
          </a:p>
          <a:p>
            <a:pPr indent="0" marL="0">
              <a:buNone/>
            </a:pPr>
            <a:r>
              <a:rPr lang="en-US" sz="1250" dirty="0">
                <a:solidFill>
                  <a:srgbClr val="F4F6FB"/>
                </a:solidFill>
                <a:latin typeface="Calibri" pitchFamily="34" charset="0"/>
                <a:ea typeface="Calibri" pitchFamily="34" charset="-122"/>
                <a:cs typeface="Calibri" pitchFamily="34" charset="-120"/>
              </a:rPr>
              <a:t>Six OpenCelliD antennas cost nothing more than a toy grid to model, and the result (only the most overlapping antenna tilts) reads as physics, not as a puzzle.</a:t>
            </a:r>
            <a:endParaRPr lang="en-US" sz="1400" dirty="0"/>
          </a:p>
        </p:txBody>
      </p:sp>
      <p:sp>
        <p:nvSpPr>
          <p:cNvPr id="18" name="Shape 16"/>
          <p:cNvSpPr/>
          <p:nvPr/>
        </p:nvSpPr>
        <p:spPr>
          <a:xfrm>
            <a:off x="6309360" y="4572000"/>
            <a:ext cx="5440680" cy="1371600"/>
          </a:xfrm>
          <a:prstGeom prst="roundRect">
            <a:avLst>
              <a:gd name="adj" fmla="val 5333"/>
            </a:avLst>
          </a:prstGeom>
          <a:solidFill>
            <a:srgbClr val="0D1330"/>
          </a:solidFill>
          <a:ln w="12700">
            <a:solidFill>
              <a:srgbClr val="0D1330"/>
            </a:solidFill>
            <a:prstDash val="solid"/>
          </a:ln>
        </p:spPr>
      </p:sp>
      <p:sp>
        <p:nvSpPr>
          <p:cNvPr id="19" name="Text 17"/>
          <p:cNvSpPr/>
          <p:nvPr/>
        </p:nvSpPr>
        <p:spPr>
          <a:xfrm>
            <a:off x="6419088" y="4572000"/>
            <a:ext cx="5212080" cy="1371600"/>
          </a:xfrm>
          <a:prstGeom prst="rect">
            <a:avLst/>
          </a:prstGeom>
          <a:noFill/>
          <a:ln/>
        </p:spPr>
        <p:txBody>
          <a:bodyPr wrap="square" lIns="381" tIns="381" rIns="381" bIns="381" rtlCol="0" anchor="ctr"/>
          <a:lstStyle/>
          <a:p>
            <a:pPr indent="0" marL="0">
              <a:buNone/>
            </a:pPr>
            <a:r>
              <a:rPr lang="en-US" sz="1400" b="1" dirty="0">
                <a:solidFill>
                  <a:srgbClr val="F2B632"/>
                </a:solidFill>
                <a:latin typeface="Calibri" pitchFamily="34" charset="0"/>
                <a:ea typeface="Calibri" pitchFamily="34" charset="-122"/>
                <a:cs typeface="Calibri" pitchFamily="34" charset="-120"/>
              </a:rPr>
              <a:t>Agentic orchestration is the glue</a:t>
            </a:r>
            <a:endParaRPr lang="en-US" sz="1400" dirty="0"/>
          </a:p>
          <a:p>
            <a:pPr indent="0" marL="0">
              <a:buNone/>
            </a:pPr>
            <a:r>
              <a:rPr lang="en-US" sz="1250" dirty="0">
                <a:solidFill>
                  <a:srgbClr val="F4F6FB"/>
                </a:solidFill>
                <a:latin typeface="Calibri" pitchFamily="34" charset="0"/>
                <a:ea typeface="Calibri" pitchFamily="34" charset="-122"/>
                <a:cs typeface="Calibri" pitchFamily="34" charset="-120"/>
              </a:rPr>
              <a:t>Amp drove the converters, Mathematica kernel, Lean build and Classiq SDK from one thread with skills and knowledge bases; humans read numbers and decided.</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70B1C"/>
        </a:solidFill>
      </p:bgPr>
    </p:bg>
    <p:spTree>
      <p:nvGrpSpPr>
        <p:cNvPr id="1" name=""/>
        <p:cNvGrpSpPr/>
        <p:nvPr/>
      </p:nvGrpSpPr>
      <p:grpSpPr>
        <a:xfrm>
          <a:off x="0" y="0"/>
          <a:ext cx="0" cy="0"/>
          <a:chOff x="0" y="0"/>
          <a:chExt cx="0" cy="0"/>
        </a:xfrm>
      </p:grpSpPr>
      <p:sp>
        <p:nvSpPr>
          <p:cNvPr id="2" name="Shape 0"/>
          <p:cNvSpPr/>
          <p:nvPr/>
        </p:nvSpPr>
        <p:spPr>
          <a:xfrm>
            <a:off x="10378440" y="6035040"/>
            <a:ext cx="1600200" cy="640080"/>
          </a:xfrm>
          <a:prstGeom prst="roundRect">
            <a:avLst>
              <a:gd name="adj" fmla="val 14286"/>
            </a:avLst>
          </a:prstGeom>
          <a:solidFill>
            <a:srgbClr val="F2B632"/>
          </a:solidFill>
          <a:ln w="12700">
            <a:solidFill>
              <a:srgbClr val="F2B632"/>
            </a:solidFill>
            <a:prstDash val="solid"/>
          </a:ln>
        </p:spPr>
      </p:sp>
      <p:sp>
        <p:nvSpPr>
          <p:cNvPr id="3" name="Text 1"/>
          <p:cNvSpPr/>
          <p:nvPr/>
        </p:nvSpPr>
        <p:spPr>
          <a:xfrm>
            <a:off x="10378440" y="6035040"/>
            <a:ext cx="1600200" cy="640080"/>
          </a:xfrm>
          <a:prstGeom prst="rect">
            <a:avLst/>
          </a:prstGeom>
          <a:noFill/>
          <a:ln/>
        </p:spPr>
        <p:txBody>
          <a:bodyPr wrap="square" lIns="0" tIns="0" rIns="0" bIns="0" rtlCol="0" anchor="ctr"/>
          <a:lstStyle/>
          <a:p>
            <a:pPr algn="ctr" indent="0" marL="0">
              <a:buNone/>
            </a:pPr>
            <a:r>
              <a:rPr lang="en-US" sz="2800" b="1" dirty="0">
                <a:solidFill>
                  <a:srgbClr val="070B1C"/>
                </a:solidFill>
                <a:latin typeface="Calibri" pitchFamily="34" charset="0"/>
                <a:ea typeface="Calibri" pitchFamily="34" charset="-122"/>
                <a:cs typeface="Calibri" pitchFamily="34" charset="-120"/>
              </a:rPr>
              <a:t>16 / 16</a:t>
            </a:r>
            <a:endParaRPr lang="en-US" sz="2800" dirty="0"/>
          </a:p>
        </p:txBody>
      </p:sp>
      <p:sp>
        <p:nvSpPr>
          <p:cNvPr id="4" name="Shape 2"/>
          <p:cNvSpPr/>
          <p:nvPr/>
        </p:nvSpPr>
        <p:spPr>
          <a:xfrm>
            <a:off x="0" y="6629400"/>
            <a:ext cx="12188952" cy="228600"/>
          </a:xfrm>
          <a:prstGeom prst="rect">
            <a:avLst/>
          </a:prstGeom>
          <a:solidFill>
            <a:srgbClr val="F2B632"/>
          </a:solidFill>
          <a:ln/>
        </p:spPr>
      </p:sp>
      <p:sp>
        <p:nvSpPr>
          <p:cNvPr id="5" name="Text 3"/>
          <p:cNvSpPr/>
          <p:nvPr/>
        </p:nvSpPr>
        <p:spPr>
          <a:xfrm>
            <a:off x="731520" y="1463040"/>
            <a:ext cx="10515600" cy="1097280"/>
          </a:xfrm>
          <a:prstGeom prst="rect">
            <a:avLst/>
          </a:prstGeom>
          <a:noFill/>
          <a:ln/>
        </p:spPr>
        <p:txBody>
          <a:bodyPr wrap="square" lIns="0" tIns="0" rIns="0" bIns="0" rtlCol="0" anchor="ctr"/>
          <a:lstStyle/>
          <a:p>
            <a:pPr indent="0" marL="0">
              <a:buNone/>
            </a:pPr>
            <a:r>
              <a:rPr lang="en-US" sz="5400" b="1" dirty="0">
                <a:solidFill>
                  <a:srgbClr val="F4F6FB"/>
                </a:solidFill>
                <a:latin typeface="Calibri" pitchFamily="34" charset="0"/>
                <a:ea typeface="Calibri" pitchFamily="34" charset="-122"/>
                <a:cs typeface="Calibri" pitchFamily="34" charset="-120"/>
              </a:rPr>
              <a:t>Thank you</a:t>
            </a:r>
            <a:endParaRPr lang="en-US" sz="5400" dirty="0"/>
          </a:p>
        </p:txBody>
      </p:sp>
      <p:sp>
        <p:nvSpPr>
          <p:cNvPr id="6" name="Text 4"/>
          <p:cNvSpPr/>
          <p:nvPr/>
        </p:nvSpPr>
        <p:spPr>
          <a:xfrm>
            <a:off x="731520" y="2560320"/>
            <a:ext cx="10515600" cy="548640"/>
          </a:xfrm>
          <a:prstGeom prst="rect">
            <a:avLst/>
          </a:prstGeom>
          <a:noFill/>
          <a:ln/>
        </p:spPr>
        <p:txBody>
          <a:bodyPr wrap="square" lIns="0" tIns="0" rIns="0" bIns="0" rtlCol="0" anchor="ctr"/>
          <a:lstStyle/>
          <a:p>
            <a:pPr indent="0" marL="0">
              <a:buNone/>
            </a:pPr>
            <a:r>
              <a:rPr lang="en-US" sz="2000" dirty="0">
                <a:solidFill>
                  <a:srgbClr val="9AA3BD"/>
                </a:solidFill>
                <a:latin typeface="Calibri" pitchFamily="34" charset="0"/>
                <a:ea typeface="Calibri" pitchFamily="34" charset="-122"/>
                <a:cs typeface="Calibri" pitchFamily="34" charset="-120"/>
              </a:rPr>
              <a:t>MantiQ Factor: input, conversion, understand, compute, verify, engineer, output</a:t>
            </a:r>
            <a:endParaRPr lang="en-US" sz="2000" dirty="0"/>
          </a:p>
        </p:txBody>
      </p:sp>
      <p:sp>
        <p:nvSpPr>
          <p:cNvPr id="7" name="Text 5"/>
          <p:cNvSpPr/>
          <p:nvPr/>
        </p:nvSpPr>
        <p:spPr>
          <a:xfrm>
            <a:off x="731520" y="3383280"/>
            <a:ext cx="10515600" cy="2103120"/>
          </a:xfrm>
          <a:prstGeom prst="rect">
            <a:avLst/>
          </a:prstGeom>
          <a:noFill/>
          <a:ln/>
        </p:spPr>
        <p:txBody>
          <a:bodyPr wrap="square" lIns="0" tIns="0" rIns="0" bIns="0" rtlCol="0" anchor="t"/>
          <a:lstStyle/>
          <a:p>
            <a:pPr indent="0" marL="0">
              <a:buNone/>
            </a:pPr>
            <a:r>
              <a:rPr lang="en-US" sz="1700" dirty="0">
                <a:solidFill>
                  <a:srgbClr val="9AA3BD"/>
                </a:solidFill>
                <a:latin typeface="Calibri" pitchFamily="34" charset="0"/>
                <a:ea typeface="Calibri" pitchFamily="34" charset="-122"/>
                <a:cs typeface="Calibri" pitchFamily="34" charset="-120"/>
              </a:rPr>
              <a:t>Repository (MIT)   </a:t>
            </a:r>
            <a:pPr indent="0" marL="0">
              <a:buNone/>
            </a:pPr>
            <a:r>
              <a:rPr lang="en-US" sz="1700" dirty="0">
                <a:solidFill>
                  <a:srgbClr val="2FD4D4"/>
                </a:solidFill>
                <a:latin typeface="Calibri" pitchFamily="34" charset="0"/>
                <a:ea typeface="Calibri" pitchFamily="34" charset="-122"/>
                <a:cs typeface="Calibri" pitchFamily="34" charset="-120"/>
              </a:rPr>
              <a:t>github.com/zuwasi/mantiq-factor-antenna-tilt</a:t>
            </a:r>
            <a:endParaRPr lang="en-US" sz="1700" dirty="0"/>
          </a:p>
          <a:p>
            <a:pPr indent="0" marL="0">
              <a:buNone/>
            </a:pPr>
            <a:r>
              <a:rPr lang="en-US" sz="1700" dirty="0">
                <a:solidFill>
                  <a:srgbClr val="9AA3BD"/>
                </a:solidFill>
                <a:latin typeface="Calibri" pitchFamily="34" charset="0"/>
                <a:ea typeface="Calibri" pitchFamily="34" charset="-122"/>
                <a:cs typeface="Calibri" pitchFamily="34" charset="-120"/>
              </a:rPr>
              <a:t>Classiq library demo   </a:t>
            </a:r>
            <a:pPr indent="0" marL="0">
              <a:buNone/>
            </a:pPr>
            <a:r>
              <a:rPr lang="en-US" sz="1700" dirty="0">
                <a:solidFill>
                  <a:srgbClr val="2FD4D4"/>
                </a:solidFill>
                <a:latin typeface="Calibri" pitchFamily="34" charset="0"/>
                <a:ea typeface="Calibri" pitchFamily="34" charset="-122"/>
                <a:cs typeface="Calibri" pitchFamily="34" charset="-120"/>
              </a:rPr>
              <a:t>applications/telecom/antenna_tilt_optimization</a:t>
            </a:r>
            <a:endParaRPr lang="en-US" sz="1700" dirty="0"/>
          </a:p>
          <a:p>
            <a:pPr indent="0" marL="0">
              <a:buNone/>
            </a:pPr>
            <a:r>
              <a:rPr lang="en-US" sz="1700" dirty="0">
                <a:solidFill>
                  <a:srgbClr val="9AA3BD"/>
                </a:solidFill>
                <a:latin typeface="Calibri" pitchFamily="34" charset="0"/>
                <a:ea typeface="Calibri" pitchFamily="34" charset="-122"/>
                <a:cs typeface="Calibri" pitchFamily="34" charset="-120"/>
              </a:rPr>
              <a:t>Hackathon repo   </a:t>
            </a:r>
            <a:pPr indent="0" marL="0">
              <a:buNone/>
            </a:pPr>
            <a:r>
              <a:rPr lang="en-US" sz="1700" dirty="0">
                <a:solidFill>
                  <a:srgbClr val="2FD4D4"/>
                </a:solidFill>
                <a:latin typeface="Calibri" pitchFamily="34" charset="0"/>
                <a:ea typeface="Calibri" pitchFamily="34" charset="-122"/>
                <a:cs typeface="Calibri" pitchFamily="34" charset="-120"/>
              </a:rPr>
              <a:t>github.com/zuwasi/quantum-headache-antenna-tilt</a:t>
            </a:r>
            <a:endParaRPr lang="en-US" sz="1700" dirty="0"/>
          </a:p>
          <a:p>
            <a:pPr indent="0" marL="0">
              <a:buNone/>
            </a:pPr>
            <a:r>
              <a:rPr lang="en-US" sz="1700" dirty="0">
                <a:solidFill>
                  <a:srgbClr val="9AA3BD"/>
                </a:solidFill>
                <a:latin typeface="Calibri" pitchFamily="34" charset="0"/>
                <a:ea typeface="Calibri" pitchFamily="34" charset="-122"/>
                <a:cs typeface="Calibri" pitchFamily="34" charset="-120"/>
              </a:rPr>
              <a:t>Video   </a:t>
            </a:r>
            <a:pPr indent="0" marL="0">
              <a:buNone/>
            </a:pPr>
            <a:r>
              <a:rPr lang="en-US" sz="1700" dirty="0">
                <a:solidFill>
                  <a:srgbClr val="2FD4D4"/>
                </a:solidFill>
                <a:latin typeface="Calibri" pitchFamily="34" charset="0"/>
                <a:ea typeface="Calibri" pitchFamily="34" charset="-122"/>
                <a:cs typeface="Calibri" pitchFamily="34" charset="-120"/>
              </a:rPr>
              <a:t>youtu.be/OSEtTWnRQhc</a:t>
            </a:r>
            <a:endParaRPr lang="en-US" sz="1700" dirty="0"/>
          </a:p>
          <a:p>
            <a:pPr indent="0" marL="0">
              <a:buNone/>
            </a:pPr>
            <a:r>
              <a:rPr lang="en-US" sz="1700" dirty="0">
                <a:solidFill>
                  <a:srgbClr val="9AA3BD"/>
                </a:solidFill>
                <a:latin typeface="Calibri" pitchFamily="34" charset="0"/>
                <a:ea typeface="Calibri" pitchFamily="34" charset="-122"/>
                <a:cs typeface="Calibri" pitchFamily="34" charset="-120"/>
              </a:rPr>
              <a:t>Data   </a:t>
            </a:r>
            <a:pPr indent="0" marL="0">
              <a:buNone/>
            </a:pPr>
            <a:r>
              <a:rPr lang="en-US" sz="1700" dirty="0">
                <a:solidFill>
                  <a:srgbClr val="F4F6FB"/>
                </a:solidFill>
                <a:latin typeface="Calibri" pitchFamily="34" charset="0"/>
                <a:ea typeface="Calibri" pitchFamily="34" charset="-122"/>
                <a:cs typeface="Calibri" pitchFamily="34" charset="-120"/>
              </a:rPr>
              <a:t>OpenCelliD, CC BY-SA 4.0</a:t>
            </a:r>
            <a:endParaRPr lang="en-US" sz="1700" dirty="0"/>
          </a:p>
        </p:txBody>
      </p:sp>
      <p:sp>
        <p:nvSpPr>
          <p:cNvPr id="8" name="Text 6"/>
          <p:cNvSpPr/>
          <p:nvPr/>
        </p:nvSpPr>
        <p:spPr>
          <a:xfrm>
            <a:off x="731520" y="5760720"/>
            <a:ext cx="8229600" cy="457200"/>
          </a:xfrm>
          <a:prstGeom prst="rect">
            <a:avLst/>
          </a:prstGeom>
          <a:noFill/>
          <a:ln/>
        </p:spPr>
        <p:txBody>
          <a:bodyPr wrap="square" lIns="0" tIns="0" rIns="0" bIns="0" rtlCol="0" anchor="ctr"/>
          <a:lstStyle/>
          <a:p>
            <a:pPr indent="0" marL="0">
              <a:buNone/>
            </a:pPr>
            <a:r>
              <a:rPr lang="en-US" sz="1500" dirty="0">
                <a:solidFill>
                  <a:srgbClr val="9AA3BD"/>
                </a:solidFill>
                <a:latin typeface="Calibri" pitchFamily="34" charset="0"/>
                <a:ea typeface="Calibri" pitchFamily="34" charset="-122"/>
                <a:cs typeface="Calibri" pitchFamily="34" charset="-120"/>
              </a:rPr>
              <a:t>Daniel Liezrowice  |  Team Quantum Headache  |  QUBIT 2026</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MantiQ Factor: antenna tilt with QAOA</dc:title>
  <dc:subject>PptxGenJS Presentation</dc:subject>
  <dc:creator>Daniel Liezrowice</dc:creator>
  <cp:lastModifiedBy>Daniel Liezrowice</cp:lastModifiedBy>
  <cp:revision>1</cp:revision>
  <dcterms:created xsi:type="dcterms:W3CDTF">2026-09-12T17:31:09Z</dcterms:created>
  <dcterms:modified xsi:type="dcterms:W3CDTF">2026-09-12T17:31:09Z</dcterms:modified>
</cp:coreProperties>
</file>